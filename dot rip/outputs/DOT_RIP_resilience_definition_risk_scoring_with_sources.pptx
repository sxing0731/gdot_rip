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1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1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2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image" Target="../media/image2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image" Target="../media/image2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image" Target="../media/image2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2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image" Target="../media/image3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image" Target="../media/image3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image" Target="../media/image3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image" Target="../media/image3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image" Target="../media/image3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image" Target="../media/image4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BFC"/>
        </a:solidFill>
        <a:effectLst/>
      </p:bgPr>
    </p:bg>
    <p:spTree>
      <p:nvGrpSpPr>
        <p:cNvPr id="1" name=""/>
        <p:cNvGrpSpPr/>
        <p:nvPr/>
      </p:nvGrpSpPr>
      <p:grpSpPr/>
      <p:sp>
        <p:nvSpPr>
          <p:cNvPr id="2" name="TextBox 1"/>
          <p:cNvSpPr txBox="1"/>
          <p:nvPr/>
        </p:nvSpPr>
        <p:spPr>
          <a:xfrm>
            <a:off x="548640" y="502920"/>
            <a:ext cx="9875520" cy="731520"/>
          </a:xfrm>
          <a:prstGeom prst="rect">
            <a:avLst/>
          </a:prstGeom>
          <a:noFill/>
        </p:spPr>
        <p:txBody>
          <a:bodyPr wrap="square">
            <a:normAutofit/>
          </a:bodyPr>
          <a:lstStyle/>
          <a:p>
            <a:r>
              <a:rPr sz="3000" b="1">
                <a:solidFill>
                  <a:srgbClr val="12202F"/>
                </a:solidFill>
                <a:latin typeface="Aptos"/>
              </a:rPr>
              <a:t>State DOT Resilience Improvement Plans</a:t>
            </a:r>
          </a:p>
        </p:txBody>
      </p:sp>
      <p:sp>
        <p:nvSpPr>
          <p:cNvPr id="3" name="TextBox 2"/>
          <p:cNvSpPr txBox="1"/>
          <p:nvPr/>
        </p:nvSpPr>
        <p:spPr>
          <a:xfrm>
            <a:off x="566928" y="1234440"/>
            <a:ext cx="10241280" cy="475488"/>
          </a:xfrm>
          <a:prstGeom prst="rect">
            <a:avLst/>
          </a:prstGeom>
          <a:noFill/>
        </p:spPr>
        <p:txBody>
          <a:bodyPr wrap="square">
            <a:normAutofit/>
          </a:bodyPr>
          <a:lstStyle/>
          <a:p>
            <a:r>
              <a:rPr sz="1600" b="0">
                <a:solidFill>
                  <a:srgbClr val="414C5A"/>
                </a:solidFill>
                <a:latin typeface="Aptos"/>
              </a:rPr>
              <a:t>How each plan defines resilience and scores risk, with original-source screenshots</a:t>
            </a:r>
          </a:p>
        </p:txBody>
      </p:sp>
      <p:sp>
        <p:nvSpPr>
          <p:cNvPr id="4" name="TextBox 3"/>
          <p:cNvSpPr txBox="1"/>
          <p:nvPr/>
        </p:nvSpPr>
        <p:spPr>
          <a:xfrm>
            <a:off x="566928" y="6126480"/>
            <a:ext cx="9509760" cy="228600"/>
          </a:xfrm>
          <a:prstGeom prst="rect">
            <a:avLst/>
          </a:prstGeom>
          <a:noFill/>
        </p:spPr>
        <p:txBody>
          <a:bodyPr wrap="square">
            <a:normAutofit/>
          </a:bodyPr>
          <a:lstStyle/>
          <a:p>
            <a:r>
              <a:rPr sz="800" b="0">
                <a:solidFill>
                  <a:srgbClr val="55606E"/>
                </a:solidFill>
                <a:latin typeface="Aptos"/>
              </a:rPr>
              <a:t>Source set: 20 publicly downloaded PDF plans in C:\Users\xings\Desktop\dot rip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28600"/>
            <a:ext cx="8961120" cy="411480"/>
          </a:xfrm>
          <a:prstGeom prst="rect">
            <a:avLst/>
          </a:prstGeom>
          <a:noFill/>
        </p:spPr>
        <p:txBody>
          <a:bodyPr wrap="square">
            <a:normAutofit/>
          </a:bodyPr>
          <a:lstStyle/>
          <a:p>
            <a:r>
              <a:rPr sz="2200" b="1">
                <a:solidFill>
                  <a:srgbClr val="12202F"/>
                </a:solidFill>
                <a:latin typeface="Aptos"/>
              </a:rPr>
              <a:t>Reading Guide</a:t>
            </a:r>
          </a:p>
        </p:txBody>
      </p:sp>
      <p:sp>
        <p:nvSpPr>
          <p:cNvPr id="3" name="TextBox 2"/>
          <p:cNvSpPr txBox="1"/>
          <p:nvPr/>
        </p:nvSpPr>
        <p:spPr>
          <a:xfrm>
            <a:off x="438912" y="667512"/>
            <a:ext cx="10881360" cy="256032"/>
          </a:xfrm>
          <a:prstGeom prst="rect">
            <a:avLst/>
          </a:prstGeom>
          <a:noFill/>
        </p:spPr>
        <p:txBody>
          <a:bodyPr wrap="square">
            <a:normAutofit/>
          </a:bodyPr>
          <a:lstStyle/>
          <a:p>
            <a:r>
              <a:rPr sz="800" b="0">
                <a:solidFill>
                  <a:srgbClr val="55606E"/>
                </a:solidFill>
                <a:latin typeface="Aptos"/>
              </a:rPr>
              <a:t>Each state page pairs an interpretation with the exact source excerpt used for that interpretation.</a:t>
            </a:r>
          </a:p>
        </p:txBody>
      </p:sp>
      <p:sp>
        <p:nvSpPr>
          <p:cNvPr id="4" name="Rectangle 3"/>
          <p:cNvSpPr/>
          <p:nvPr/>
        </p:nvSpPr>
        <p:spPr>
          <a:xfrm>
            <a:off x="411480" y="969264"/>
            <a:ext cx="11384280" cy="18288"/>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325880"/>
            <a:ext cx="10789920" cy="822960"/>
          </a:xfrm>
          <a:prstGeom prst="roundRect">
            <a:avLst/>
          </a:prstGeom>
          <a:solidFill>
            <a:srgbClr val="FFFFFF"/>
          </a:solidFill>
          <a:ln w="9525">
            <a:solidFill>
              <a:srgbClr val="D2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444752"/>
            <a:ext cx="1828800" cy="320040"/>
          </a:xfrm>
          <a:prstGeom prst="rect">
            <a:avLst/>
          </a:prstGeom>
          <a:noFill/>
        </p:spPr>
        <p:txBody>
          <a:bodyPr wrap="square">
            <a:normAutofit/>
          </a:bodyPr>
          <a:lstStyle/>
          <a:p>
            <a:r>
              <a:rPr sz="1600" b="1">
                <a:solidFill>
                  <a:srgbClr val="1F6FEB"/>
                </a:solidFill>
                <a:latin typeface="Aptos"/>
              </a:rPr>
              <a:t>Definition</a:t>
            </a:r>
          </a:p>
        </p:txBody>
      </p:sp>
      <p:sp>
        <p:nvSpPr>
          <p:cNvPr id="7" name="TextBox 6"/>
          <p:cNvSpPr txBox="1"/>
          <p:nvPr/>
        </p:nvSpPr>
        <p:spPr>
          <a:xfrm>
            <a:off x="2514600" y="1417320"/>
            <a:ext cx="8138160" cy="411480"/>
          </a:xfrm>
          <a:prstGeom prst="rect">
            <a:avLst/>
          </a:prstGeom>
          <a:noFill/>
        </p:spPr>
        <p:txBody>
          <a:bodyPr wrap="square">
            <a:normAutofit/>
          </a:bodyPr>
          <a:lstStyle/>
          <a:p>
            <a:r>
              <a:rPr sz="1300" b="0">
                <a:solidFill>
                  <a:srgbClr val="232B37"/>
                </a:solidFill>
                <a:latin typeface="Aptos"/>
              </a:rPr>
              <a:t>What the DOT/FHWA text says resilience means: usually ability to anticipate, prepare, withstand, respond, adapt, and recover.</a:t>
            </a:r>
          </a:p>
        </p:txBody>
      </p:sp>
      <p:sp>
        <p:nvSpPr>
          <p:cNvPr id="8" name="Rounded Rectangle 7"/>
          <p:cNvSpPr/>
          <p:nvPr/>
        </p:nvSpPr>
        <p:spPr>
          <a:xfrm>
            <a:off x="640080" y="2468880"/>
            <a:ext cx="10789920" cy="822960"/>
          </a:xfrm>
          <a:prstGeom prst="roundRect">
            <a:avLst/>
          </a:prstGeom>
          <a:solidFill>
            <a:srgbClr val="FFFFFF"/>
          </a:solidFill>
          <a:ln w="9525">
            <a:solidFill>
              <a:srgbClr val="D2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587752"/>
            <a:ext cx="1828800" cy="320040"/>
          </a:xfrm>
          <a:prstGeom prst="rect">
            <a:avLst/>
          </a:prstGeom>
          <a:noFill/>
        </p:spPr>
        <p:txBody>
          <a:bodyPr wrap="square">
            <a:normAutofit/>
          </a:bodyPr>
          <a:lstStyle/>
          <a:p>
            <a:r>
              <a:rPr sz="1600" b="1">
                <a:solidFill>
                  <a:srgbClr val="1F6FEB"/>
                </a:solidFill>
                <a:latin typeface="Aptos"/>
              </a:rPr>
              <a:t>Risk scoring</a:t>
            </a:r>
          </a:p>
        </p:txBody>
      </p:sp>
      <p:sp>
        <p:nvSpPr>
          <p:cNvPr id="10" name="TextBox 9"/>
          <p:cNvSpPr txBox="1"/>
          <p:nvPr/>
        </p:nvSpPr>
        <p:spPr>
          <a:xfrm>
            <a:off x="2514600" y="2560320"/>
            <a:ext cx="8138160" cy="411480"/>
          </a:xfrm>
          <a:prstGeom prst="rect">
            <a:avLst/>
          </a:prstGeom>
          <a:noFill/>
        </p:spPr>
        <p:txBody>
          <a:bodyPr wrap="square">
            <a:normAutofit/>
          </a:bodyPr>
          <a:lstStyle/>
          <a:p>
            <a:r>
              <a:rPr sz="1300" b="0">
                <a:solidFill>
                  <a:srgbClr val="232B37"/>
                </a:solidFill>
                <a:latin typeface="Aptos"/>
              </a:rPr>
              <a:t>How the plan turns hazards into priorities: matrix, index, score/rating, or qualitative risk-based vulnerability assessment.</a:t>
            </a:r>
          </a:p>
        </p:txBody>
      </p:sp>
      <p:sp>
        <p:nvSpPr>
          <p:cNvPr id="11" name="Rounded Rectangle 10"/>
          <p:cNvSpPr/>
          <p:nvPr/>
        </p:nvSpPr>
        <p:spPr>
          <a:xfrm>
            <a:off x="640080" y="3611880"/>
            <a:ext cx="10789920" cy="822960"/>
          </a:xfrm>
          <a:prstGeom prst="roundRect">
            <a:avLst/>
          </a:prstGeom>
          <a:solidFill>
            <a:srgbClr val="FFFFFF"/>
          </a:solidFill>
          <a:ln w="9525">
            <a:solidFill>
              <a:srgbClr val="D2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3730752"/>
            <a:ext cx="1828800" cy="320040"/>
          </a:xfrm>
          <a:prstGeom prst="rect">
            <a:avLst/>
          </a:prstGeom>
          <a:noFill/>
        </p:spPr>
        <p:txBody>
          <a:bodyPr wrap="square">
            <a:normAutofit/>
          </a:bodyPr>
          <a:lstStyle/>
          <a:p>
            <a:r>
              <a:rPr sz="1600" b="1">
                <a:solidFill>
                  <a:srgbClr val="1F6FEB"/>
                </a:solidFill>
                <a:latin typeface="Aptos"/>
              </a:rPr>
              <a:t>Source evidence</a:t>
            </a:r>
          </a:p>
        </p:txBody>
      </p:sp>
      <p:sp>
        <p:nvSpPr>
          <p:cNvPr id="13" name="TextBox 12"/>
          <p:cNvSpPr txBox="1"/>
          <p:nvPr/>
        </p:nvSpPr>
        <p:spPr>
          <a:xfrm>
            <a:off x="2514600" y="3703320"/>
            <a:ext cx="8138160" cy="411480"/>
          </a:xfrm>
          <a:prstGeom prst="rect">
            <a:avLst/>
          </a:prstGeom>
          <a:noFill/>
        </p:spPr>
        <p:txBody>
          <a:bodyPr wrap="square">
            <a:normAutofit/>
          </a:bodyPr>
          <a:lstStyle/>
          <a:p>
            <a:r>
              <a:rPr sz="1300" b="0">
                <a:solidFill>
                  <a:srgbClr val="232B37"/>
                </a:solidFill>
                <a:latin typeface="Aptos"/>
              </a:rPr>
              <a:t>Screenshots are cropped directly from the downloaded PDF. Footer lists filename, page number, and URL.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28600"/>
            <a:ext cx="8961120" cy="411480"/>
          </a:xfrm>
          <a:prstGeom prst="rect">
            <a:avLst/>
          </a:prstGeom>
          <a:noFill/>
        </p:spPr>
        <p:txBody>
          <a:bodyPr wrap="square">
            <a:normAutofit/>
          </a:bodyPr>
          <a:lstStyle/>
          <a:p>
            <a:r>
              <a:rPr sz="2200" b="1">
                <a:solidFill>
                  <a:srgbClr val="12202F"/>
                </a:solidFill>
                <a:latin typeface="Aptos"/>
              </a:rPr>
              <a:t>Cross-State Summary</a:t>
            </a:r>
          </a:p>
        </p:txBody>
      </p:sp>
      <p:sp>
        <p:nvSpPr>
          <p:cNvPr id="3" name="TextBox 2"/>
          <p:cNvSpPr txBox="1"/>
          <p:nvPr/>
        </p:nvSpPr>
        <p:spPr>
          <a:xfrm>
            <a:off x="438912" y="667512"/>
            <a:ext cx="10881360" cy="256032"/>
          </a:xfrm>
          <a:prstGeom prst="rect">
            <a:avLst/>
          </a:prstGeom>
          <a:noFill/>
        </p:spPr>
        <p:txBody>
          <a:bodyPr wrap="square">
            <a:normAutofit/>
          </a:bodyPr>
          <a:lstStyle/>
          <a:p>
            <a:r>
              <a:rPr sz="800" b="0">
                <a:solidFill>
                  <a:srgbClr val="55606E"/>
                </a:solidFill>
                <a:latin typeface="Aptos"/>
              </a:rPr>
              <a:t>Rows 1-10; concise interpretation from located source excerpts.</a:t>
            </a:r>
          </a:p>
        </p:txBody>
      </p:sp>
      <p:sp>
        <p:nvSpPr>
          <p:cNvPr id="4" name="Rectangle 3"/>
          <p:cNvSpPr/>
          <p:nvPr/>
        </p:nvSpPr>
        <p:spPr>
          <a:xfrm>
            <a:off x="411480" y="969264"/>
            <a:ext cx="11384280" cy="18288"/>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1234440" cy="164592"/>
          </a:xfrm>
          <a:prstGeom prst="rect">
            <a:avLst/>
          </a:prstGeom>
          <a:noFill/>
        </p:spPr>
        <p:txBody>
          <a:bodyPr wrap="square">
            <a:normAutofit/>
          </a:bodyPr>
          <a:lstStyle/>
          <a:p>
            <a:r>
              <a:rPr sz="900" b="1">
                <a:solidFill>
                  <a:srgbClr val="1F6FEB"/>
                </a:solidFill>
                <a:latin typeface="Aptos"/>
              </a:rPr>
              <a:t>CA</a:t>
            </a:r>
          </a:p>
        </p:txBody>
      </p:sp>
      <p:sp>
        <p:nvSpPr>
          <p:cNvPr id="6" name="TextBox 5"/>
          <p:cNvSpPr txBox="1"/>
          <p:nvPr/>
        </p:nvSpPr>
        <p:spPr>
          <a:xfrm>
            <a:off x="1143000" y="1143000"/>
            <a:ext cx="1920240" cy="164592"/>
          </a:xfrm>
          <a:prstGeom prst="rect">
            <a:avLst/>
          </a:prstGeom>
          <a:noFill/>
        </p:spPr>
        <p:txBody>
          <a:bodyPr wrap="square">
            <a:normAutofit/>
          </a:bodyPr>
          <a:lstStyle/>
          <a:p>
            <a:r>
              <a:rPr sz="800" b="1">
                <a:solidFill>
                  <a:srgbClr val="12202F"/>
                </a:solidFill>
                <a:latin typeface="Aptos"/>
              </a:rPr>
              <a:t>California</a:t>
            </a:r>
          </a:p>
        </p:txBody>
      </p:sp>
      <p:sp>
        <p:nvSpPr>
          <p:cNvPr id="7" name="TextBox 6"/>
          <p:cNvSpPr txBox="1"/>
          <p:nvPr/>
        </p:nvSpPr>
        <p:spPr>
          <a:xfrm>
            <a:off x="2971800" y="1143000"/>
            <a:ext cx="3886200" cy="320040"/>
          </a:xfrm>
          <a:prstGeom prst="rect">
            <a:avLst/>
          </a:prstGeom>
          <a:noFill/>
        </p:spPr>
        <p:txBody>
          <a:bodyPr wrap="square">
            <a:normAutofit/>
          </a:bodyPr>
          <a:lstStyle/>
          <a:p>
            <a:r>
              <a:rPr sz="700" b="0">
                <a:solidFill>
                  <a:srgbClr val="232B37"/>
                </a:solidFill>
                <a:latin typeface="Aptos"/>
              </a:rPr>
              <a:t>Divisions of Maintenance, Design, and Planning in leading the Department’s integration of climate adaptation and resilience work in the State Highway Operation and Protection (SHOPP) Pr</a:t>
            </a:r>
          </a:p>
        </p:txBody>
      </p:sp>
      <p:sp>
        <p:nvSpPr>
          <p:cNvPr id="8" name="TextBox 7"/>
          <p:cNvSpPr txBox="1"/>
          <p:nvPr/>
        </p:nvSpPr>
        <p:spPr>
          <a:xfrm>
            <a:off x="7040880" y="1143000"/>
            <a:ext cx="4343400" cy="320040"/>
          </a:xfrm>
          <a:prstGeom prst="rect">
            <a:avLst/>
          </a:prstGeom>
          <a:noFill/>
        </p:spPr>
        <p:txBody>
          <a:bodyPr wrap="square">
            <a:normAutofit/>
          </a:bodyPr>
          <a:lstStyle/>
          <a:p>
            <a:r>
              <a:rPr sz="700" b="0">
                <a:solidFill>
                  <a:srgbClr val="232B37"/>
                </a:solidFill>
                <a:latin typeface="Aptos"/>
              </a:rPr>
              <a:t>score/rating / ??????: ?????? consequence/severity/?????, sensitivity/???, vulnerability/????</a:t>
            </a:r>
          </a:p>
        </p:txBody>
      </p:sp>
      <p:sp>
        <p:nvSpPr>
          <p:cNvPr id="9" name="TextBox 8"/>
          <p:cNvSpPr txBox="1"/>
          <p:nvPr/>
        </p:nvSpPr>
        <p:spPr>
          <a:xfrm>
            <a:off x="502920" y="1655064"/>
            <a:ext cx="1234440" cy="164592"/>
          </a:xfrm>
          <a:prstGeom prst="rect">
            <a:avLst/>
          </a:prstGeom>
          <a:noFill/>
        </p:spPr>
        <p:txBody>
          <a:bodyPr wrap="square">
            <a:normAutofit/>
          </a:bodyPr>
          <a:lstStyle/>
          <a:p>
            <a:r>
              <a:rPr sz="900" b="1">
                <a:solidFill>
                  <a:srgbClr val="1F6FEB"/>
                </a:solidFill>
                <a:latin typeface="Aptos"/>
              </a:rPr>
              <a:t>CO</a:t>
            </a:r>
          </a:p>
        </p:txBody>
      </p:sp>
      <p:sp>
        <p:nvSpPr>
          <p:cNvPr id="10" name="TextBox 9"/>
          <p:cNvSpPr txBox="1"/>
          <p:nvPr/>
        </p:nvSpPr>
        <p:spPr>
          <a:xfrm>
            <a:off x="1143000" y="1655064"/>
            <a:ext cx="1920240" cy="164592"/>
          </a:xfrm>
          <a:prstGeom prst="rect">
            <a:avLst/>
          </a:prstGeom>
          <a:noFill/>
        </p:spPr>
        <p:txBody>
          <a:bodyPr wrap="square">
            <a:normAutofit/>
          </a:bodyPr>
          <a:lstStyle/>
          <a:p>
            <a:r>
              <a:rPr sz="800" b="1">
                <a:solidFill>
                  <a:srgbClr val="12202F"/>
                </a:solidFill>
                <a:latin typeface="Aptos"/>
              </a:rPr>
              <a:t>Colorado</a:t>
            </a:r>
          </a:p>
        </p:txBody>
      </p:sp>
      <p:sp>
        <p:nvSpPr>
          <p:cNvPr id="11" name="TextBox 10"/>
          <p:cNvSpPr txBox="1"/>
          <p:nvPr/>
        </p:nvSpPr>
        <p:spPr>
          <a:xfrm>
            <a:off x="2971800" y="1655064"/>
            <a:ext cx="3886200" cy="320040"/>
          </a:xfrm>
          <a:prstGeom prst="rect">
            <a:avLst/>
          </a:prstGeom>
          <a:noFill/>
        </p:spPr>
        <p:txBody>
          <a:bodyPr wrap="square">
            <a:normAutofit/>
          </a:bodyPr>
          <a:lstStyle/>
          <a:p>
            <a:r>
              <a:rPr sz="700" b="0">
                <a:solidFill>
                  <a:srgbClr val="232B37"/>
                </a:solidFill>
                <a:latin typeface="Aptos"/>
              </a:rPr>
              <a:t>The State of Colorado defines resilience as “the ability of communities to rebound, positively adapt to, or thrive amidst changing conditions or challenges—including human-caused and na</a:t>
            </a:r>
          </a:p>
        </p:txBody>
      </p:sp>
      <p:sp>
        <p:nvSpPr>
          <p:cNvPr id="12" name="TextBox 11"/>
          <p:cNvSpPr txBox="1"/>
          <p:nvPr/>
        </p:nvSpPr>
        <p:spPr>
          <a:xfrm>
            <a:off x="7040880" y="1655064"/>
            <a:ext cx="4343400" cy="320040"/>
          </a:xfrm>
          <a:prstGeom prst="rect">
            <a:avLst/>
          </a:prstGeom>
          <a:noFill/>
        </p:spPr>
        <p:txBody>
          <a:bodyPr wrap="square">
            <a:normAutofit/>
          </a:bodyPr>
          <a:lstStyle/>
          <a:p>
            <a:r>
              <a:rPr sz="700" b="0">
                <a:solidFill>
                  <a:srgbClr val="232B37"/>
                </a:solidFill>
                <a:latin typeface="Aptos"/>
              </a:rPr>
              <a:t>risk-based assessment / ??????: ?????? likelihood/?????, probability/??, consequence/severity/?????, criticality/????</a:t>
            </a:r>
          </a:p>
        </p:txBody>
      </p:sp>
      <p:sp>
        <p:nvSpPr>
          <p:cNvPr id="13" name="TextBox 12"/>
          <p:cNvSpPr txBox="1"/>
          <p:nvPr/>
        </p:nvSpPr>
        <p:spPr>
          <a:xfrm>
            <a:off x="502920" y="2167128"/>
            <a:ext cx="1234440" cy="164592"/>
          </a:xfrm>
          <a:prstGeom prst="rect">
            <a:avLst/>
          </a:prstGeom>
          <a:noFill/>
        </p:spPr>
        <p:txBody>
          <a:bodyPr wrap="square">
            <a:normAutofit/>
          </a:bodyPr>
          <a:lstStyle/>
          <a:p>
            <a:r>
              <a:rPr sz="900" b="1">
                <a:solidFill>
                  <a:srgbClr val="1F6FEB"/>
                </a:solidFill>
                <a:latin typeface="Aptos"/>
              </a:rPr>
              <a:t>CT</a:t>
            </a:r>
          </a:p>
        </p:txBody>
      </p:sp>
      <p:sp>
        <p:nvSpPr>
          <p:cNvPr id="14" name="TextBox 13"/>
          <p:cNvSpPr txBox="1"/>
          <p:nvPr/>
        </p:nvSpPr>
        <p:spPr>
          <a:xfrm>
            <a:off x="1143000" y="2167128"/>
            <a:ext cx="1920240" cy="164592"/>
          </a:xfrm>
          <a:prstGeom prst="rect">
            <a:avLst/>
          </a:prstGeom>
          <a:noFill/>
        </p:spPr>
        <p:txBody>
          <a:bodyPr wrap="square">
            <a:normAutofit/>
          </a:bodyPr>
          <a:lstStyle/>
          <a:p>
            <a:r>
              <a:rPr sz="800" b="1">
                <a:solidFill>
                  <a:srgbClr val="12202F"/>
                </a:solidFill>
                <a:latin typeface="Aptos"/>
              </a:rPr>
              <a:t>Connecticut</a:t>
            </a:r>
          </a:p>
        </p:txBody>
      </p:sp>
      <p:sp>
        <p:nvSpPr>
          <p:cNvPr id="15" name="TextBox 14"/>
          <p:cNvSpPr txBox="1"/>
          <p:nvPr/>
        </p:nvSpPr>
        <p:spPr>
          <a:xfrm>
            <a:off x="2971800" y="2167128"/>
            <a:ext cx="3886200" cy="320040"/>
          </a:xfrm>
          <a:prstGeom prst="rect">
            <a:avLst/>
          </a:prstGeom>
          <a:noFill/>
        </p:spPr>
        <p:txBody>
          <a:bodyPr wrap="square">
            <a:normAutofit/>
          </a:bodyPr>
          <a:lstStyle/>
          <a:p>
            <a:r>
              <a:rPr sz="700" b="0">
                <a:solidFill>
                  <a:srgbClr val="232B37"/>
                </a:solidFill>
                <a:latin typeface="Aptos"/>
              </a:rPr>
              <a:t>Resilience The ability to anticipate, prepare for, and adapt to changing conditions and</a:t>
            </a:r>
          </a:p>
        </p:txBody>
      </p:sp>
      <p:sp>
        <p:nvSpPr>
          <p:cNvPr id="16" name="TextBox 15"/>
          <p:cNvSpPr txBox="1"/>
          <p:nvPr/>
        </p:nvSpPr>
        <p:spPr>
          <a:xfrm>
            <a:off x="7040880" y="2167128"/>
            <a:ext cx="4343400" cy="320040"/>
          </a:xfrm>
          <a:prstGeom prst="rect">
            <a:avLst/>
          </a:prstGeom>
          <a:noFill/>
        </p:spPr>
        <p:txBody>
          <a:bodyPr wrap="square">
            <a:normAutofit/>
          </a:bodyPr>
          <a:lstStyle/>
          <a:p>
            <a:r>
              <a:rPr sz="700" b="0">
                <a:solidFill>
                  <a:srgbClr val="232B37"/>
                </a:solidFill>
                <a:latin typeface="Aptos"/>
              </a:rPr>
              <a:t>score/rating / ??????: ?????? exposure/???, sensitivity/???, adaptive capacity/????, vulnerability/????</a:t>
            </a:r>
          </a:p>
        </p:txBody>
      </p:sp>
      <p:sp>
        <p:nvSpPr>
          <p:cNvPr id="17" name="TextBox 16"/>
          <p:cNvSpPr txBox="1"/>
          <p:nvPr/>
        </p:nvSpPr>
        <p:spPr>
          <a:xfrm>
            <a:off x="502920" y="2679192"/>
            <a:ext cx="1234440" cy="164592"/>
          </a:xfrm>
          <a:prstGeom prst="rect">
            <a:avLst/>
          </a:prstGeom>
          <a:noFill/>
        </p:spPr>
        <p:txBody>
          <a:bodyPr wrap="square">
            <a:normAutofit/>
          </a:bodyPr>
          <a:lstStyle/>
          <a:p>
            <a:r>
              <a:rPr sz="900" b="1">
                <a:solidFill>
                  <a:srgbClr val="1F6FEB"/>
                </a:solidFill>
                <a:latin typeface="Aptos"/>
              </a:rPr>
              <a:t>DE</a:t>
            </a:r>
          </a:p>
        </p:txBody>
      </p:sp>
      <p:sp>
        <p:nvSpPr>
          <p:cNvPr id="18" name="TextBox 17"/>
          <p:cNvSpPr txBox="1"/>
          <p:nvPr/>
        </p:nvSpPr>
        <p:spPr>
          <a:xfrm>
            <a:off x="1143000" y="2679192"/>
            <a:ext cx="1920240" cy="164592"/>
          </a:xfrm>
          <a:prstGeom prst="rect">
            <a:avLst/>
          </a:prstGeom>
          <a:noFill/>
        </p:spPr>
        <p:txBody>
          <a:bodyPr wrap="square">
            <a:normAutofit/>
          </a:bodyPr>
          <a:lstStyle/>
          <a:p>
            <a:r>
              <a:rPr sz="800" b="1">
                <a:solidFill>
                  <a:srgbClr val="12202F"/>
                </a:solidFill>
                <a:latin typeface="Aptos"/>
              </a:rPr>
              <a:t>Delaware</a:t>
            </a:r>
          </a:p>
        </p:txBody>
      </p:sp>
      <p:sp>
        <p:nvSpPr>
          <p:cNvPr id="19" name="TextBox 18"/>
          <p:cNvSpPr txBox="1"/>
          <p:nvPr/>
        </p:nvSpPr>
        <p:spPr>
          <a:xfrm>
            <a:off x="2971800" y="2679192"/>
            <a:ext cx="3886200" cy="320040"/>
          </a:xfrm>
          <a:prstGeom prst="rect">
            <a:avLst/>
          </a:prstGeom>
          <a:noFill/>
        </p:spPr>
        <p:txBody>
          <a:bodyPr wrap="square">
            <a:normAutofit/>
          </a:bodyPr>
          <a:lstStyle/>
          <a:p>
            <a:r>
              <a:rPr sz="700" b="0">
                <a:solidFill>
                  <a:srgbClr val="232B37"/>
                </a:solidFill>
                <a:latin typeface="Aptos"/>
              </a:rPr>
              <a:t>However, sound management of the assets on detour and emergency evacuation routes increases a highway system’s redundancy.” (FHWA, 2013) Resilience “Resilience or resiliency is the abil</a:t>
            </a:r>
          </a:p>
        </p:txBody>
      </p:sp>
      <p:sp>
        <p:nvSpPr>
          <p:cNvPr id="20" name="TextBox 19"/>
          <p:cNvSpPr txBox="1"/>
          <p:nvPr/>
        </p:nvSpPr>
        <p:spPr>
          <a:xfrm>
            <a:off x="7040880" y="2679192"/>
            <a:ext cx="4343400" cy="320040"/>
          </a:xfrm>
          <a:prstGeom prst="rect">
            <a:avLst/>
          </a:prstGeom>
          <a:noFill/>
        </p:spPr>
        <p:txBody>
          <a:bodyPr wrap="square">
            <a:normAutofit/>
          </a:bodyPr>
          <a:lstStyle/>
          <a:p>
            <a:r>
              <a:rPr sz="700" b="0">
                <a:solidFill>
                  <a:srgbClr val="232B37"/>
                </a:solidFill>
                <a:latin typeface="Aptos"/>
              </a:rPr>
              <a:t>risk-based assessment / ??????: ?????? probability/??, consequence/severity/?????, criticality/????</a:t>
            </a:r>
          </a:p>
        </p:txBody>
      </p:sp>
      <p:sp>
        <p:nvSpPr>
          <p:cNvPr id="21" name="TextBox 20"/>
          <p:cNvSpPr txBox="1"/>
          <p:nvPr/>
        </p:nvSpPr>
        <p:spPr>
          <a:xfrm>
            <a:off x="502920" y="3191256"/>
            <a:ext cx="1234440" cy="164592"/>
          </a:xfrm>
          <a:prstGeom prst="rect">
            <a:avLst/>
          </a:prstGeom>
          <a:noFill/>
        </p:spPr>
        <p:txBody>
          <a:bodyPr wrap="square">
            <a:normAutofit/>
          </a:bodyPr>
          <a:lstStyle/>
          <a:p>
            <a:r>
              <a:rPr sz="900" b="1">
                <a:solidFill>
                  <a:srgbClr val="1F6FEB"/>
                </a:solidFill>
                <a:latin typeface="Aptos"/>
              </a:rPr>
              <a:t>FL</a:t>
            </a:r>
          </a:p>
        </p:txBody>
      </p:sp>
      <p:sp>
        <p:nvSpPr>
          <p:cNvPr id="22" name="TextBox 21"/>
          <p:cNvSpPr txBox="1"/>
          <p:nvPr/>
        </p:nvSpPr>
        <p:spPr>
          <a:xfrm>
            <a:off x="1143000" y="3191256"/>
            <a:ext cx="1920240" cy="164592"/>
          </a:xfrm>
          <a:prstGeom prst="rect">
            <a:avLst/>
          </a:prstGeom>
          <a:noFill/>
        </p:spPr>
        <p:txBody>
          <a:bodyPr wrap="square">
            <a:normAutofit/>
          </a:bodyPr>
          <a:lstStyle/>
          <a:p>
            <a:r>
              <a:rPr sz="800" b="1">
                <a:solidFill>
                  <a:srgbClr val="12202F"/>
                </a:solidFill>
                <a:latin typeface="Aptos"/>
              </a:rPr>
              <a:t>Florida</a:t>
            </a:r>
          </a:p>
        </p:txBody>
      </p:sp>
      <p:sp>
        <p:nvSpPr>
          <p:cNvPr id="23" name="TextBox 22"/>
          <p:cNvSpPr txBox="1"/>
          <p:nvPr/>
        </p:nvSpPr>
        <p:spPr>
          <a:xfrm>
            <a:off x="2971800" y="3191256"/>
            <a:ext cx="3886200" cy="320040"/>
          </a:xfrm>
          <a:prstGeom prst="rect">
            <a:avLst/>
          </a:prstGeom>
          <a:noFill/>
        </p:spPr>
        <p:txBody>
          <a:bodyPr wrap="square">
            <a:normAutofit/>
          </a:bodyPr>
          <a:lstStyle/>
          <a:p>
            <a:r>
              <a:rPr sz="700" b="0">
                <a:solidFill>
                  <a:srgbClr val="232B37"/>
                </a:solidFill>
                <a:latin typeface="Aptos"/>
              </a:rPr>
              <a:t>1 RESILIENCE IMPROVEMENT PLAN COMMUNITY ENGAGEMENT PLAN FOR FDOT OPP RESILIENCE ACTIVITIES This Community Engagement Plan (CEP) describes community engagement activities to be conducted</a:t>
            </a:r>
          </a:p>
        </p:txBody>
      </p:sp>
      <p:sp>
        <p:nvSpPr>
          <p:cNvPr id="24" name="TextBox 23"/>
          <p:cNvSpPr txBox="1"/>
          <p:nvPr/>
        </p:nvSpPr>
        <p:spPr>
          <a:xfrm>
            <a:off x="7040880" y="3191256"/>
            <a:ext cx="4343400" cy="320040"/>
          </a:xfrm>
          <a:prstGeom prst="rect">
            <a:avLst/>
          </a:prstGeom>
          <a:noFill/>
        </p:spPr>
        <p:txBody>
          <a:bodyPr wrap="square">
            <a:normAutofit/>
          </a:bodyPr>
          <a:lstStyle/>
          <a:p>
            <a:r>
              <a:rPr sz="700" b="0">
                <a:solidFill>
                  <a:srgbClr val="232B37"/>
                </a:solidFill>
                <a:latin typeface="Aptos"/>
              </a:rPr>
              <a:t>?????????????????????/????????????????</a:t>
            </a:r>
          </a:p>
        </p:txBody>
      </p:sp>
      <p:sp>
        <p:nvSpPr>
          <p:cNvPr id="25" name="TextBox 24"/>
          <p:cNvSpPr txBox="1"/>
          <p:nvPr/>
        </p:nvSpPr>
        <p:spPr>
          <a:xfrm>
            <a:off x="502920" y="3703320"/>
            <a:ext cx="1234440" cy="164592"/>
          </a:xfrm>
          <a:prstGeom prst="rect">
            <a:avLst/>
          </a:prstGeom>
          <a:noFill/>
        </p:spPr>
        <p:txBody>
          <a:bodyPr wrap="square">
            <a:normAutofit/>
          </a:bodyPr>
          <a:lstStyle/>
          <a:p>
            <a:r>
              <a:rPr sz="900" b="1">
                <a:solidFill>
                  <a:srgbClr val="1F6FEB"/>
                </a:solidFill>
                <a:latin typeface="Aptos"/>
              </a:rPr>
              <a:t>IA</a:t>
            </a:r>
          </a:p>
        </p:txBody>
      </p:sp>
      <p:sp>
        <p:nvSpPr>
          <p:cNvPr id="26" name="TextBox 25"/>
          <p:cNvSpPr txBox="1"/>
          <p:nvPr/>
        </p:nvSpPr>
        <p:spPr>
          <a:xfrm>
            <a:off x="1143000" y="3703320"/>
            <a:ext cx="1920240" cy="164592"/>
          </a:xfrm>
          <a:prstGeom prst="rect">
            <a:avLst/>
          </a:prstGeom>
          <a:noFill/>
        </p:spPr>
        <p:txBody>
          <a:bodyPr wrap="square">
            <a:normAutofit/>
          </a:bodyPr>
          <a:lstStyle/>
          <a:p>
            <a:r>
              <a:rPr sz="800" b="1">
                <a:solidFill>
                  <a:srgbClr val="12202F"/>
                </a:solidFill>
                <a:latin typeface="Aptos"/>
              </a:rPr>
              <a:t>Iowa</a:t>
            </a:r>
          </a:p>
        </p:txBody>
      </p:sp>
      <p:sp>
        <p:nvSpPr>
          <p:cNvPr id="27" name="TextBox 26"/>
          <p:cNvSpPr txBox="1"/>
          <p:nvPr/>
        </p:nvSpPr>
        <p:spPr>
          <a:xfrm>
            <a:off x="2971800" y="3703320"/>
            <a:ext cx="3886200" cy="320040"/>
          </a:xfrm>
          <a:prstGeom prst="rect">
            <a:avLst/>
          </a:prstGeom>
          <a:noFill/>
        </p:spPr>
        <p:txBody>
          <a:bodyPr wrap="square">
            <a:normAutofit/>
          </a:bodyPr>
          <a:lstStyle/>
          <a:p>
            <a:r>
              <a:rPr sz="700" b="0">
                <a:solidFill>
                  <a:srgbClr val="232B37"/>
                </a:solidFill>
                <a:latin typeface="Aptos"/>
              </a:rPr>
              <a:t>The Iowa DOT defines resiliency as the ability to anticipate, prepare for, and adapt to changing conditions and withstand, respond to, and quickly recover from disruptions.</a:t>
            </a:r>
          </a:p>
        </p:txBody>
      </p:sp>
      <p:sp>
        <p:nvSpPr>
          <p:cNvPr id="28" name="TextBox 27"/>
          <p:cNvSpPr txBox="1"/>
          <p:nvPr/>
        </p:nvSpPr>
        <p:spPr>
          <a:xfrm>
            <a:off x="7040880" y="3703320"/>
            <a:ext cx="4343400" cy="320040"/>
          </a:xfrm>
          <a:prstGeom prst="rect">
            <a:avLst/>
          </a:prstGeom>
          <a:noFill/>
        </p:spPr>
        <p:txBody>
          <a:bodyPr wrap="square">
            <a:normAutofit/>
          </a:bodyPr>
          <a:lstStyle/>
          <a:p>
            <a:r>
              <a:rPr sz="700" b="0">
                <a:solidFill>
                  <a:srgbClr val="232B37"/>
                </a:solidFill>
                <a:latin typeface="Aptos"/>
              </a:rPr>
              <a:t>risk-based assessment / ??????: ?????? likelihood/?????, probability/??, consequence/severity/?????, vulnerability/????</a:t>
            </a:r>
          </a:p>
        </p:txBody>
      </p:sp>
      <p:sp>
        <p:nvSpPr>
          <p:cNvPr id="29" name="TextBox 28"/>
          <p:cNvSpPr txBox="1"/>
          <p:nvPr/>
        </p:nvSpPr>
        <p:spPr>
          <a:xfrm>
            <a:off x="502920" y="4215384"/>
            <a:ext cx="1234440" cy="164592"/>
          </a:xfrm>
          <a:prstGeom prst="rect">
            <a:avLst/>
          </a:prstGeom>
          <a:noFill/>
        </p:spPr>
        <p:txBody>
          <a:bodyPr wrap="square">
            <a:normAutofit/>
          </a:bodyPr>
          <a:lstStyle/>
          <a:p>
            <a:r>
              <a:rPr sz="900" b="1">
                <a:solidFill>
                  <a:srgbClr val="1F6FEB"/>
                </a:solidFill>
                <a:latin typeface="Aptos"/>
              </a:rPr>
              <a:t>KY</a:t>
            </a:r>
          </a:p>
        </p:txBody>
      </p:sp>
      <p:sp>
        <p:nvSpPr>
          <p:cNvPr id="30" name="TextBox 29"/>
          <p:cNvSpPr txBox="1"/>
          <p:nvPr/>
        </p:nvSpPr>
        <p:spPr>
          <a:xfrm>
            <a:off x="1143000" y="4215384"/>
            <a:ext cx="1920240" cy="164592"/>
          </a:xfrm>
          <a:prstGeom prst="rect">
            <a:avLst/>
          </a:prstGeom>
          <a:noFill/>
        </p:spPr>
        <p:txBody>
          <a:bodyPr wrap="square">
            <a:normAutofit/>
          </a:bodyPr>
          <a:lstStyle/>
          <a:p>
            <a:r>
              <a:rPr sz="800" b="1">
                <a:solidFill>
                  <a:srgbClr val="12202F"/>
                </a:solidFill>
                <a:latin typeface="Aptos"/>
              </a:rPr>
              <a:t>Kentucky</a:t>
            </a:r>
          </a:p>
        </p:txBody>
      </p:sp>
      <p:sp>
        <p:nvSpPr>
          <p:cNvPr id="31" name="TextBox 30"/>
          <p:cNvSpPr txBox="1"/>
          <p:nvPr/>
        </p:nvSpPr>
        <p:spPr>
          <a:xfrm>
            <a:off x="2971800" y="4215384"/>
            <a:ext cx="3886200" cy="320040"/>
          </a:xfrm>
          <a:prstGeom prst="rect">
            <a:avLst/>
          </a:prstGeom>
          <a:noFill/>
        </p:spPr>
        <p:txBody>
          <a:bodyPr wrap="square">
            <a:normAutofit/>
          </a:bodyPr>
          <a:lstStyle/>
          <a:p>
            <a:r>
              <a:rPr sz="700" b="0">
                <a:solidFill>
                  <a:srgbClr val="232B37"/>
                </a:solidFill>
                <a:latin typeface="Aptos"/>
              </a:rPr>
              <a:t>Transportation resilience, defined by the Federal Highway Administration (FHWA) as the ability to anticipate, prepare for, and adapt to changing conditions and withstand, respond to, an</a:t>
            </a:r>
          </a:p>
        </p:txBody>
      </p:sp>
      <p:sp>
        <p:nvSpPr>
          <p:cNvPr id="32" name="TextBox 31"/>
          <p:cNvSpPr txBox="1"/>
          <p:nvPr/>
        </p:nvSpPr>
        <p:spPr>
          <a:xfrm>
            <a:off x="7040880" y="4215384"/>
            <a:ext cx="4343400" cy="320040"/>
          </a:xfrm>
          <a:prstGeom prst="rect">
            <a:avLst/>
          </a:prstGeom>
          <a:noFill/>
        </p:spPr>
        <p:txBody>
          <a:bodyPr wrap="square">
            <a:normAutofit/>
          </a:bodyPr>
          <a:lstStyle/>
          <a:p>
            <a:r>
              <a:rPr sz="700" b="0">
                <a:solidFill>
                  <a:srgbClr val="232B37"/>
                </a:solidFill>
                <a:latin typeface="Aptos"/>
              </a:rPr>
              <a:t>score/rating / ??????: ?????? exposure/???, sensitivity/???, adaptive capacity/????, criticality/???, vulnerability/????</a:t>
            </a:r>
          </a:p>
        </p:txBody>
      </p:sp>
      <p:sp>
        <p:nvSpPr>
          <p:cNvPr id="33" name="TextBox 32"/>
          <p:cNvSpPr txBox="1"/>
          <p:nvPr/>
        </p:nvSpPr>
        <p:spPr>
          <a:xfrm>
            <a:off x="502920" y="4727448"/>
            <a:ext cx="1234440" cy="164592"/>
          </a:xfrm>
          <a:prstGeom prst="rect">
            <a:avLst/>
          </a:prstGeom>
          <a:noFill/>
        </p:spPr>
        <p:txBody>
          <a:bodyPr wrap="square">
            <a:normAutofit/>
          </a:bodyPr>
          <a:lstStyle/>
          <a:p>
            <a:r>
              <a:rPr sz="900" b="1">
                <a:solidFill>
                  <a:srgbClr val="1F6FEB"/>
                </a:solidFill>
                <a:latin typeface="Aptos"/>
              </a:rPr>
              <a:t>MD</a:t>
            </a:r>
          </a:p>
        </p:txBody>
      </p:sp>
      <p:sp>
        <p:nvSpPr>
          <p:cNvPr id="34" name="TextBox 33"/>
          <p:cNvSpPr txBox="1"/>
          <p:nvPr/>
        </p:nvSpPr>
        <p:spPr>
          <a:xfrm>
            <a:off x="1143000" y="4727448"/>
            <a:ext cx="1920240" cy="164592"/>
          </a:xfrm>
          <a:prstGeom prst="rect">
            <a:avLst/>
          </a:prstGeom>
          <a:noFill/>
        </p:spPr>
        <p:txBody>
          <a:bodyPr wrap="square">
            <a:normAutofit/>
          </a:bodyPr>
          <a:lstStyle/>
          <a:p>
            <a:r>
              <a:rPr sz="800" b="1">
                <a:solidFill>
                  <a:srgbClr val="12202F"/>
                </a:solidFill>
                <a:latin typeface="Aptos"/>
              </a:rPr>
              <a:t>Maryland</a:t>
            </a:r>
          </a:p>
        </p:txBody>
      </p:sp>
      <p:sp>
        <p:nvSpPr>
          <p:cNvPr id="35" name="TextBox 34"/>
          <p:cNvSpPr txBox="1"/>
          <p:nvPr/>
        </p:nvSpPr>
        <p:spPr>
          <a:xfrm>
            <a:off x="2971800" y="4727448"/>
            <a:ext cx="3886200" cy="320040"/>
          </a:xfrm>
          <a:prstGeom prst="rect">
            <a:avLst/>
          </a:prstGeom>
          <a:noFill/>
        </p:spPr>
        <p:txBody>
          <a:bodyPr wrap="square">
            <a:normAutofit/>
          </a:bodyPr>
          <a:lstStyle/>
          <a:p>
            <a:r>
              <a:rPr sz="700" b="0">
                <a:solidFill>
                  <a:srgbClr val="232B37"/>
                </a:solidFill>
                <a:latin typeface="Aptos"/>
              </a:rPr>
              <a:t>• Resilience Improvements: Improve the ability of existing surface transportation infrastructure to withstand extreme weather events and other natural hazards to support rapid recovery.</a:t>
            </a:r>
          </a:p>
        </p:txBody>
      </p:sp>
      <p:sp>
        <p:nvSpPr>
          <p:cNvPr id="36" name="TextBox 35"/>
          <p:cNvSpPr txBox="1"/>
          <p:nvPr/>
        </p:nvSpPr>
        <p:spPr>
          <a:xfrm>
            <a:off x="7040880" y="4727448"/>
            <a:ext cx="4343400" cy="320040"/>
          </a:xfrm>
          <a:prstGeom prst="rect">
            <a:avLst/>
          </a:prstGeom>
          <a:noFill/>
        </p:spPr>
        <p:txBody>
          <a:bodyPr wrap="square">
            <a:normAutofit/>
          </a:bodyPr>
          <a:lstStyle/>
          <a:p>
            <a:r>
              <a:rPr sz="700" b="0">
                <a:solidFill>
                  <a:srgbClr val="232B37"/>
                </a:solidFill>
                <a:latin typeface="Aptos"/>
              </a:rPr>
              <a:t>score/rating / ??????: ?????? likelihood/?????, probability/???</a:t>
            </a:r>
          </a:p>
        </p:txBody>
      </p:sp>
      <p:sp>
        <p:nvSpPr>
          <p:cNvPr id="37" name="TextBox 36"/>
          <p:cNvSpPr txBox="1"/>
          <p:nvPr/>
        </p:nvSpPr>
        <p:spPr>
          <a:xfrm>
            <a:off x="502920" y="5239512"/>
            <a:ext cx="1234440" cy="164592"/>
          </a:xfrm>
          <a:prstGeom prst="rect">
            <a:avLst/>
          </a:prstGeom>
          <a:noFill/>
        </p:spPr>
        <p:txBody>
          <a:bodyPr wrap="square">
            <a:normAutofit/>
          </a:bodyPr>
          <a:lstStyle/>
          <a:p>
            <a:r>
              <a:rPr sz="900" b="1">
                <a:solidFill>
                  <a:srgbClr val="1F6FEB"/>
                </a:solidFill>
                <a:latin typeface="Aptos"/>
              </a:rPr>
              <a:t>MI</a:t>
            </a:r>
          </a:p>
        </p:txBody>
      </p:sp>
      <p:sp>
        <p:nvSpPr>
          <p:cNvPr id="38" name="TextBox 37"/>
          <p:cNvSpPr txBox="1"/>
          <p:nvPr/>
        </p:nvSpPr>
        <p:spPr>
          <a:xfrm>
            <a:off x="1143000" y="5239512"/>
            <a:ext cx="1920240" cy="164592"/>
          </a:xfrm>
          <a:prstGeom prst="rect">
            <a:avLst/>
          </a:prstGeom>
          <a:noFill/>
        </p:spPr>
        <p:txBody>
          <a:bodyPr wrap="square">
            <a:normAutofit/>
          </a:bodyPr>
          <a:lstStyle/>
          <a:p>
            <a:r>
              <a:rPr sz="800" b="1">
                <a:solidFill>
                  <a:srgbClr val="12202F"/>
                </a:solidFill>
                <a:latin typeface="Aptos"/>
              </a:rPr>
              <a:t>Michigan</a:t>
            </a:r>
          </a:p>
        </p:txBody>
      </p:sp>
      <p:sp>
        <p:nvSpPr>
          <p:cNvPr id="39" name="TextBox 38"/>
          <p:cNvSpPr txBox="1"/>
          <p:nvPr/>
        </p:nvSpPr>
        <p:spPr>
          <a:xfrm>
            <a:off x="2971800" y="5239512"/>
            <a:ext cx="3886200" cy="320040"/>
          </a:xfrm>
          <a:prstGeom prst="rect">
            <a:avLst/>
          </a:prstGeom>
          <a:noFill/>
        </p:spPr>
        <p:txBody>
          <a:bodyPr wrap="square">
            <a:normAutofit/>
          </a:bodyPr>
          <a:lstStyle/>
          <a:p>
            <a:r>
              <a:rPr sz="700" b="0">
                <a:solidFill>
                  <a:srgbClr val="232B37"/>
                </a:solidFill>
                <a:latin typeface="Aptos"/>
              </a:rPr>
              <a:t>MDOT analyzed the risk associated with riverine/coastal flooding, stormwater flooding, coastal erosion, and extreme heat on transportation assets across the state and identified initiat</a:t>
            </a:r>
          </a:p>
        </p:txBody>
      </p:sp>
      <p:sp>
        <p:nvSpPr>
          <p:cNvPr id="40" name="TextBox 39"/>
          <p:cNvSpPr txBox="1"/>
          <p:nvPr/>
        </p:nvSpPr>
        <p:spPr>
          <a:xfrm>
            <a:off x="7040880" y="5239512"/>
            <a:ext cx="4343400" cy="320040"/>
          </a:xfrm>
          <a:prstGeom prst="rect">
            <a:avLst/>
          </a:prstGeom>
          <a:noFill/>
        </p:spPr>
        <p:txBody>
          <a:bodyPr wrap="square">
            <a:normAutofit/>
          </a:bodyPr>
          <a:lstStyle/>
          <a:p>
            <a:r>
              <a:rPr sz="700" b="0">
                <a:solidFill>
                  <a:srgbClr val="232B37"/>
                </a:solidFill>
                <a:latin typeface="Aptos"/>
              </a:rPr>
              <a:t>risk-based assessment / ??????: ?????? likelihood/?????, consequence/severity/?????, exposure/???, sensitivity/???, criticality/???, vulnerability/????</a:t>
            </a:r>
          </a:p>
        </p:txBody>
      </p:sp>
      <p:sp>
        <p:nvSpPr>
          <p:cNvPr id="41" name="TextBox 40"/>
          <p:cNvSpPr txBox="1"/>
          <p:nvPr/>
        </p:nvSpPr>
        <p:spPr>
          <a:xfrm>
            <a:off x="502920" y="5751576"/>
            <a:ext cx="1234440" cy="164592"/>
          </a:xfrm>
          <a:prstGeom prst="rect">
            <a:avLst/>
          </a:prstGeom>
          <a:noFill/>
        </p:spPr>
        <p:txBody>
          <a:bodyPr wrap="square">
            <a:normAutofit/>
          </a:bodyPr>
          <a:lstStyle/>
          <a:p>
            <a:r>
              <a:rPr sz="900" b="1">
                <a:solidFill>
                  <a:srgbClr val="1F6FEB"/>
                </a:solidFill>
                <a:latin typeface="Aptos"/>
              </a:rPr>
              <a:t>MN</a:t>
            </a:r>
          </a:p>
        </p:txBody>
      </p:sp>
      <p:sp>
        <p:nvSpPr>
          <p:cNvPr id="42" name="TextBox 41"/>
          <p:cNvSpPr txBox="1"/>
          <p:nvPr/>
        </p:nvSpPr>
        <p:spPr>
          <a:xfrm>
            <a:off x="1143000" y="5751576"/>
            <a:ext cx="1920240" cy="164592"/>
          </a:xfrm>
          <a:prstGeom prst="rect">
            <a:avLst/>
          </a:prstGeom>
          <a:noFill/>
        </p:spPr>
        <p:txBody>
          <a:bodyPr wrap="square">
            <a:normAutofit/>
          </a:bodyPr>
          <a:lstStyle/>
          <a:p>
            <a:r>
              <a:rPr sz="800" b="1">
                <a:solidFill>
                  <a:srgbClr val="12202F"/>
                </a:solidFill>
                <a:latin typeface="Aptos"/>
              </a:rPr>
              <a:t>Minnesota</a:t>
            </a:r>
          </a:p>
        </p:txBody>
      </p:sp>
      <p:sp>
        <p:nvSpPr>
          <p:cNvPr id="43" name="TextBox 42"/>
          <p:cNvSpPr txBox="1"/>
          <p:nvPr/>
        </p:nvSpPr>
        <p:spPr>
          <a:xfrm>
            <a:off x="2971800" y="5751576"/>
            <a:ext cx="3886200" cy="320040"/>
          </a:xfrm>
          <a:prstGeom prst="rect">
            <a:avLst/>
          </a:prstGeom>
          <a:noFill/>
        </p:spPr>
        <p:txBody>
          <a:bodyPr wrap="square">
            <a:normAutofit/>
          </a:bodyPr>
          <a:lstStyle/>
          <a:p>
            <a:r>
              <a:rPr sz="700" b="0">
                <a:solidFill>
                  <a:srgbClr val="232B37"/>
                </a:solidFill>
                <a:latin typeface="Aptos"/>
              </a:rPr>
              <a:t>APRIL 2024 RESILIENCE IMPROVEMENT PLAN 2024</a:t>
            </a:r>
          </a:p>
        </p:txBody>
      </p:sp>
      <p:sp>
        <p:nvSpPr>
          <p:cNvPr id="44" name="TextBox 43"/>
          <p:cNvSpPr txBox="1"/>
          <p:nvPr/>
        </p:nvSpPr>
        <p:spPr>
          <a:xfrm>
            <a:off x="7040880" y="5751576"/>
            <a:ext cx="4343400" cy="320040"/>
          </a:xfrm>
          <a:prstGeom prst="rect">
            <a:avLst/>
          </a:prstGeom>
          <a:noFill/>
        </p:spPr>
        <p:txBody>
          <a:bodyPr wrap="square">
            <a:normAutofit/>
          </a:bodyPr>
          <a:lstStyle/>
          <a:p>
            <a:r>
              <a:rPr sz="700" b="0">
                <a:solidFill>
                  <a:srgbClr val="232B37"/>
                </a:solidFill>
                <a:latin typeface="Aptos"/>
              </a:rPr>
              <a:t>score/rating / ??????: ?????? likelihood/?????, consequence/severity/?????, vulnerability/????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28600"/>
            <a:ext cx="8961120" cy="411480"/>
          </a:xfrm>
          <a:prstGeom prst="rect">
            <a:avLst/>
          </a:prstGeom>
          <a:noFill/>
        </p:spPr>
        <p:txBody>
          <a:bodyPr wrap="square">
            <a:normAutofit/>
          </a:bodyPr>
          <a:lstStyle/>
          <a:p>
            <a:r>
              <a:rPr sz="2200" b="1">
                <a:solidFill>
                  <a:srgbClr val="12202F"/>
                </a:solidFill>
                <a:latin typeface="Aptos"/>
              </a:rPr>
              <a:t>Cross-State Summary</a:t>
            </a:r>
          </a:p>
        </p:txBody>
      </p:sp>
      <p:sp>
        <p:nvSpPr>
          <p:cNvPr id="3" name="TextBox 2"/>
          <p:cNvSpPr txBox="1"/>
          <p:nvPr/>
        </p:nvSpPr>
        <p:spPr>
          <a:xfrm>
            <a:off x="438912" y="667512"/>
            <a:ext cx="10881360" cy="256032"/>
          </a:xfrm>
          <a:prstGeom prst="rect">
            <a:avLst/>
          </a:prstGeom>
          <a:noFill/>
        </p:spPr>
        <p:txBody>
          <a:bodyPr wrap="square">
            <a:normAutofit/>
          </a:bodyPr>
          <a:lstStyle/>
          <a:p>
            <a:r>
              <a:rPr sz="800" b="0">
                <a:solidFill>
                  <a:srgbClr val="55606E"/>
                </a:solidFill>
                <a:latin typeface="Aptos"/>
              </a:rPr>
              <a:t>Rows 11-20; concise interpretation from located source excerpts.</a:t>
            </a:r>
          </a:p>
        </p:txBody>
      </p:sp>
      <p:sp>
        <p:nvSpPr>
          <p:cNvPr id="4" name="Rectangle 3"/>
          <p:cNvSpPr/>
          <p:nvPr/>
        </p:nvSpPr>
        <p:spPr>
          <a:xfrm>
            <a:off x="411480" y="969264"/>
            <a:ext cx="11384280" cy="18288"/>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1234440" cy="164592"/>
          </a:xfrm>
          <a:prstGeom prst="rect">
            <a:avLst/>
          </a:prstGeom>
          <a:noFill/>
        </p:spPr>
        <p:txBody>
          <a:bodyPr wrap="square">
            <a:normAutofit/>
          </a:bodyPr>
          <a:lstStyle/>
          <a:p>
            <a:r>
              <a:rPr sz="900" b="1">
                <a:solidFill>
                  <a:srgbClr val="1F6FEB"/>
                </a:solidFill>
                <a:latin typeface="Aptos"/>
              </a:rPr>
              <a:t>MS</a:t>
            </a:r>
          </a:p>
        </p:txBody>
      </p:sp>
      <p:sp>
        <p:nvSpPr>
          <p:cNvPr id="6" name="TextBox 5"/>
          <p:cNvSpPr txBox="1"/>
          <p:nvPr/>
        </p:nvSpPr>
        <p:spPr>
          <a:xfrm>
            <a:off x="1143000" y="1143000"/>
            <a:ext cx="1920240" cy="164592"/>
          </a:xfrm>
          <a:prstGeom prst="rect">
            <a:avLst/>
          </a:prstGeom>
          <a:noFill/>
        </p:spPr>
        <p:txBody>
          <a:bodyPr wrap="square">
            <a:normAutofit/>
          </a:bodyPr>
          <a:lstStyle/>
          <a:p>
            <a:r>
              <a:rPr sz="800" b="1">
                <a:solidFill>
                  <a:srgbClr val="12202F"/>
                </a:solidFill>
                <a:latin typeface="Aptos"/>
              </a:rPr>
              <a:t>Mississippi</a:t>
            </a:r>
          </a:p>
        </p:txBody>
      </p:sp>
      <p:sp>
        <p:nvSpPr>
          <p:cNvPr id="7" name="TextBox 6"/>
          <p:cNvSpPr txBox="1"/>
          <p:nvPr/>
        </p:nvSpPr>
        <p:spPr>
          <a:xfrm>
            <a:off x="2971800" y="1143000"/>
            <a:ext cx="3886200" cy="320040"/>
          </a:xfrm>
          <a:prstGeom prst="rect">
            <a:avLst/>
          </a:prstGeom>
          <a:noFill/>
        </p:spPr>
        <p:txBody>
          <a:bodyPr wrap="square">
            <a:normAutofit/>
          </a:bodyPr>
          <a:lstStyle/>
          <a:p>
            <a:r>
              <a:rPr sz="700" b="0">
                <a:solidFill>
                  <a:srgbClr val="232B37"/>
                </a:solidFill>
                <a:latin typeface="Aptos"/>
              </a:rPr>
              <a:t>• Prepare for anticipated natural hazards • Adapt to changing conditions • Withstand and recover rapidly from disruptions</a:t>
            </a:r>
          </a:p>
        </p:txBody>
      </p:sp>
      <p:sp>
        <p:nvSpPr>
          <p:cNvPr id="8" name="TextBox 7"/>
          <p:cNvSpPr txBox="1"/>
          <p:nvPr/>
        </p:nvSpPr>
        <p:spPr>
          <a:xfrm>
            <a:off x="7040880" y="1143000"/>
            <a:ext cx="4343400" cy="320040"/>
          </a:xfrm>
          <a:prstGeom prst="rect">
            <a:avLst/>
          </a:prstGeom>
          <a:noFill/>
        </p:spPr>
        <p:txBody>
          <a:bodyPr wrap="square">
            <a:normAutofit/>
          </a:bodyPr>
          <a:lstStyle/>
          <a:p>
            <a:r>
              <a:rPr sz="700" b="0">
                <a:solidFill>
                  <a:srgbClr val="232B37"/>
                </a:solidFill>
                <a:latin typeface="Aptos"/>
              </a:rPr>
              <a:t>score/rating / ??????: ?????? exposure/???, sensitivity/???, adaptive capacity/????, criticality/???, vulnerability/????</a:t>
            </a:r>
          </a:p>
        </p:txBody>
      </p:sp>
      <p:sp>
        <p:nvSpPr>
          <p:cNvPr id="9" name="TextBox 8"/>
          <p:cNvSpPr txBox="1"/>
          <p:nvPr/>
        </p:nvSpPr>
        <p:spPr>
          <a:xfrm>
            <a:off x="502920" y="1655064"/>
            <a:ext cx="1234440" cy="164592"/>
          </a:xfrm>
          <a:prstGeom prst="rect">
            <a:avLst/>
          </a:prstGeom>
          <a:noFill/>
        </p:spPr>
        <p:txBody>
          <a:bodyPr wrap="square">
            <a:normAutofit/>
          </a:bodyPr>
          <a:lstStyle/>
          <a:p>
            <a:r>
              <a:rPr sz="900" b="1">
                <a:solidFill>
                  <a:srgbClr val="1F6FEB"/>
                </a:solidFill>
                <a:latin typeface="Aptos"/>
              </a:rPr>
              <a:t>NC</a:t>
            </a:r>
          </a:p>
        </p:txBody>
      </p:sp>
      <p:sp>
        <p:nvSpPr>
          <p:cNvPr id="10" name="TextBox 9"/>
          <p:cNvSpPr txBox="1"/>
          <p:nvPr/>
        </p:nvSpPr>
        <p:spPr>
          <a:xfrm>
            <a:off x="1143000" y="1655064"/>
            <a:ext cx="1920240" cy="164592"/>
          </a:xfrm>
          <a:prstGeom prst="rect">
            <a:avLst/>
          </a:prstGeom>
          <a:noFill/>
        </p:spPr>
        <p:txBody>
          <a:bodyPr wrap="square">
            <a:normAutofit/>
          </a:bodyPr>
          <a:lstStyle/>
          <a:p>
            <a:r>
              <a:rPr sz="800" b="1">
                <a:solidFill>
                  <a:srgbClr val="12202F"/>
                </a:solidFill>
                <a:latin typeface="Aptos"/>
              </a:rPr>
              <a:t>North Carolina</a:t>
            </a:r>
          </a:p>
        </p:txBody>
      </p:sp>
      <p:sp>
        <p:nvSpPr>
          <p:cNvPr id="11" name="TextBox 10"/>
          <p:cNvSpPr txBox="1"/>
          <p:nvPr/>
        </p:nvSpPr>
        <p:spPr>
          <a:xfrm>
            <a:off x="2971800" y="1655064"/>
            <a:ext cx="3886200" cy="320040"/>
          </a:xfrm>
          <a:prstGeom prst="rect">
            <a:avLst/>
          </a:prstGeom>
          <a:noFill/>
        </p:spPr>
        <p:txBody>
          <a:bodyPr wrap="square">
            <a:normAutofit/>
          </a:bodyPr>
          <a:lstStyle/>
          <a:p>
            <a:r>
              <a:rPr sz="700" b="0">
                <a:solidFill>
                  <a:srgbClr val="232B37"/>
                </a:solidFill>
                <a:latin typeface="Aptos"/>
              </a:rPr>
              <a:t>As defined by the NCDOT Resilience Policy, resiliency is “the ability to anticipate, prepare for, and adapt to changing conditions and withstand, respond to, and recover rapidly from di</a:t>
            </a:r>
          </a:p>
        </p:txBody>
      </p:sp>
      <p:sp>
        <p:nvSpPr>
          <p:cNvPr id="12" name="TextBox 11"/>
          <p:cNvSpPr txBox="1"/>
          <p:nvPr/>
        </p:nvSpPr>
        <p:spPr>
          <a:xfrm>
            <a:off x="7040880" y="1655064"/>
            <a:ext cx="4343400" cy="320040"/>
          </a:xfrm>
          <a:prstGeom prst="rect">
            <a:avLst/>
          </a:prstGeom>
          <a:noFill/>
        </p:spPr>
        <p:txBody>
          <a:bodyPr wrap="square">
            <a:normAutofit/>
          </a:bodyPr>
          <a:lstStyle/>
          <a:p>
            <a:r>
              <a:rPr sz="700" b="0">
                <a:solidFill>
                  <a:srgbClr val="232B37"/>
                </a:solidFill>
                <a:latin typeface="Aptos"/>
              </a:rPr>
              <a:t>score/rating / ??????: ?????? likelihood/?????, probability/??, exposure/???, sensitivity/???, vulnerability/????</a:t>
            </a:r>
          </a:p>
        </p:txBody>
      </p:sp>
      <p:sp>
        <p:nvSpPr>
          <p:cNvPr id="13" name="TextBox 12"/>
          <p:cNvSpPr txBox="1"/>
          <p:nvPr/>
        </p:nvSpPr>
        <p:spPr>
          <a:xfrm>
            <a:off x="502920" y="2167128"/>
            <a:ext cx="1234440" cy="164592"/>
          </a:xfrm>
          <a:prstGeom prst="rect">
            <a:avLst/>
          </a:prstGeom>
          <a:noFill/>
        </p:spPr>
        <p:txBody>
          <a:bodyPr wrap="square">
            <a:normAutofit/>
          </a:bodyPr>
          <a:lstStyle/>
          <a:p>
            <a:r>
              <a:rPr sz="900" b="1">
                <a:solidFill>
                  <a:srgbClr val="1F6FEB"/>
                </a:solidFill>
                <a:latin typeface="Aptos"/>
              </a:rPr>
              <a:t>NM</a:t>
            </a:r>
          </a:p>
        </p:txBody>
      </p:sp>
      <p:sp>
        <p:nvSpPr>
          <p:cNvPr id="14" name="TextBox 13"/>
          <p:cNvSpPr txBox="1"/>
          <p:nvPr/>
        </p:nvSpPr>
        <p:spPr>
          <a:xfrm>
            <a:off x="1143000" y="2167128"/>
            <a:ext cx="1920240" cy="164592"/>
          </a:xfrm>
          <a:prstGeom prst="rect">
            <a:avLst/>
          </a:prstGeom>
          <a:noFill/>
        </p:spPr>
        <p:txBody>
          <a:bodyPr wrap="square">
            <a:normAutofit/>
          </a:bodyPr>
          <a:lstStyle/>
          <a:p>
            <a:r>
              <a:rPr sz="800" b="1">
                <a:solidFill>
                  <a:srgbClr val="12202F"/>
                </a:solidFill>
                <a:latin typeface="Aptos"/>
              </a:rPr>
              <a:t>New Mexico</a:t>
            </a:r>
          </a:p>
        </p:txBody>
      </p:sp>
      <p:sp>
        <p:nvSpPr>
          <p:cNvPr id="15" name="TextBox 14"/>
          <p:cNvSpPr txBox="1"/>
          <p:nvPr/>
        </p:nvSpPr>
        <p:spPr>
          <a:xfrm>
            <a:off x="2971800" y="2167128"/>
            <a:ext cx="3886200" cy="320040"/>
          </a:xfrm>
          <a:prstGeom prst="rect">
            <a:avLst/>
          </a:prstGeom>
          <a:noFill/>
        </p:spPr>
        <p:txBody>
          <a:bodyPr wrap="square">
            <a:normAutofit/>
          </a:bodyPr>
          <a:lstStyle/>
          <a:p>
            <a:r>
              <a:rPr sz="700" b="0">
                <a:solidFill>
                  <a:srgbClr val="232B37"/>
                </a:solidFill>
                <a:latin typeface="Aptos"/>
              </a:rPr>
              <a:t>N M D O T R E S I L I E N C E I M P R O V E M E N T P L A N New Mexico Department of Transportation Resilience Improvement Plan March 2024 Approved by FHWA July 26, 2024</a:t>
            </a:r>
          </a:p>
        </p:txBody>
      </p:sp>
      <p:sp>
        <p:nvSpPr>
          <p:cNvPr id="16" name="TextBox 15"/>
          <p:cNvSpPr txBox="1"/>
          <p:nvPr/>
        </p:nvSpPr>
        <p:spPr>
          <a:xfrm>
            <a:off x="7040880" y="2167128"/>
            <a:ext cx="4343400" cy="320040"/>
          </a:xfrm>
          <a:prstGeom prst="rect">
            <a:avLst/>
          </a:prstGeom>
          <a:noFill/>
        </p:spPr>
        <p:txBody>
          <a:bodyPr wrap="square">
            <a:normAutofit/>
          </a:bodyPr>
          <a:lstStyle/>
          <a:p>
            <a:r>
              <a:rPr sz="700" b="0">
                <a:solidFill>
                  <a:srgbClr val="232B37"/>
                </a:solidFill>
                <a:latin typeface="Aptos"/>
              </a:rPr>
              <a:t>score/rating / ??????: ?????? likelihood/?????, probability/??, consequence/severity/?????, exposure/???, sensitivity/???, criticality/???, vulnerability/????</a:t>
            </a:r>
          </a:p>
        </p:txBody>
      </p:sp>
      <p:sp>
        <p:nvSpPr>
          <p:cNvPr id="17" name="TextBox 16"/>
          <p:cNvSpPr txBox="1"/>
          <p:nvPr/>
        </p:nvSpPr>
        <p:spPr>
          <a:xfrm>
            <a:off x="502920" y="2679192"/>
            <a:ext cx="1234440" cy="164592"/>
          </a:xfrm>
          <a:prstGeom prst="rect">
            <a:avLst/>
          </a:prstGeom>
          <a:noFill/>
        </p:spPr>
        <p:txBody>
          <a:bodyPr wrap="square">
            <a:normAutofit/>
          </a:bodyPr>
          <a:lstStyle/>
          <a:p>
            <a:r>
              <a:rPr sz="900" b="1">
                <a:solidFill>
                  <a:srgbClr val="1F6FEB"/>
                </a:solidFill>
                <a:latin typeface="Aptos"/>
              </a:rPr>
              <a:t>OH</a:t>
            </a:r>
          </a:p>
        </p:txBody>
      </p:sp>
      <p:sp>
        <p:nvSpPr>
          <p:cNvPr id="18" name="TextBox 17"/>
          <p:cNvSpPr txBox="1"/>
          <p:nvPr/>
        </p:nvSpPr>
        <p:spPr>
          <a:xfrm>
            <a:off x="1143000" y="2679192"/>
            <a:ext cx="1920240" cy="164592"/>
          </a:xfrm>
          <a:prstGeom prst="rect">
            <a:avLst/>
          </a:prstGeom>
          <a:noFill/>
        </p:spPr>
        <p:txBody>
          <a:bodyPr wrap="square">
            <a:normAutofit/>
          </a:bodyPr>
          <a:lstStyle/>
          <a:p>
            <a:r>
              <a:rPr sz="800" b="1">
                <a:solidFill>
                  <a:srgbClr val="12202F"/>
                </a:solidFill>
                <a:latin typeface="Aptos"/>
              </a:rPr>
              <a:t>Ohio</a:t>
            </a:r>
          </a:p>
        </p:txBody>
      </p:sp>
      <p:sp>
        <p:nvSpPr>
          <p:cNvPr id="19" name="TextBox 18"/>
          <p:cNvSpPr txBox="1"/>
          <p:nvPr/>
        </p:nvSpPr>
        <p:spPr>
          <a:xfrm>
            <a:off x="2971800" y="2679192"/>
            <a:ext cx="3886200" cy="320040"/>
          </a:xfrm>
          <a:prstGeom prst="rect">
            <a:avLst/>
          </a:prstGeom>
          <a:noFill/>
        </p:spPr>
        <p:txBody>
          <a:bodyPr wrap="square">
            <a:normAutofit/>
          </a:bodyPr>
          <a:lstStyle/>
          <a:p>
            <a:r>
              <a:rPr sz="700" b="0">
                <a:solidFill>
                  <a:srgbClr val="232B37"/>
                </a:solidFill>
                <a:latin typeface="Aptos"/>
              </a:rPr>
              <a:t>A safe transportation system is one that can withstand extreme weather events and natural disasters.</a:t>
            </a:r>
          </a:p>
        </p:txBody>
      </p:sp>
      <p:sp>
        <p:nvSpPr>
          <p:cNvPr id="20" name="TextBox 19"/>
          <p:cNvSpPr txBox="1"/>
          <p:nvPr/>
        </p:nvSpPr>
        <p:spPr>
          <a:xfrm>
            <a:off x="7040880" y="2679192"/>
            <a:ext cx="4343400" cy="320040"/>
          </a:xfrm>
          <a:prstGeom prst="rect">
            <a:avLst/>
          </a:prstGeom>
          <a:noFill/>
        </p:spPr>
        <p:txBody>
          <a:bodyPr wrap="square">
            <a:normAutofit/>
          </a:bodyPr>
          <a:lstStyle/>
          <a:p>
            <a:r>
              <a:rPr sz="700" b="0">
                <a:solidFill>
                  <a:srgbClr val="232B37"/>
                </a:solidFill>
                <a:latin typeface="Aptos"/>
              </a:rPr>
              <a:t>risk-based assessment / ??????: ?????? vulnerability/????</a:t>
            </a:r>
          </a:p>
        </p:txBody>
      </p:sp>
      <p:sp>
        <p:nvSpPr>
          <p:cNvPr id="21" name="TextBox 20"/>
          <p:cNvSpPr txBox="1"/>
          <p:nvPr/>
        </p:nvSpPr>
        <p:spPr>
          <a:xfrm>
            <a:off x="502920" y="3191256"/>
            <a:ext cx="1234440" cy="164592"/>
          </a:xfrm>
          <a:prstGeom prst="rect">
            <a:avLst/>
          </a:prstGeom>
          <a:noFill/>
        </p:spPr>
        <p:txBody>
          <a:bodyPr wrap="square">
            <a:normAutofit/>
          </a:bodyPr>
          <a:lstStyle/>
          <a:p>
            <a:r>
              <a:rPr sz="900" b="1">
                <a:solidFill>
                  <a:srgbClr val="1F6FEB"/>
                </a:solidFill>
                <a:latin typeface="Aptos"/>
              </a:rPr>
              <a:t>OR</a:t>
            </a:r>
          </a:p>
        </p:txBody>
      </p:sp>
      <p:sp>
        <p:nvSpPr>
          <p:cNvPr id="22" name="TextBox 21"/>
          <p:cNvSpPr txBox="1"/>
          <p:nvPr/>
        </p:nvSpPr>
        <p:spPr>
          <a:xfrm>
            <a:off x="1143000" y="3191256"/>
            <a:ext cx="1920240" cy="164592"/>
          </a:xfrm>
          <a:prstGeom prst="rect">
            <a:avLst/>
          </a:prstGeom>
          <a:noFill/>
        </p:spPr>
        <p:txBody>
          <a:bodyPr wrap="square">
            <a:normAutofit/>
          </a:bodyPr>
          <a:lstStyle/>
          <a:p>
            <a:r>
              <a:rPr sz="800" b="1">
                <a:solidFill>
                  <a:srgbClr val="12202F"/>
                </a:solidFill>
                <a:latin typeface="Aptos"/>
              </a:rPr>
              <a:t>Oregon</a:t>
            </a:r>
          </a:p>
        </p:txBody>
      </p:sp>
      <p:sp>
        <p:nvSpPr>
          <p:cNvPr id="23" name="TextBox 22"/>
          <p:cNvSpPr txBox="1"/>
          <p:nvPr/>
        </p:nvSpPr>
        <p:spPr>
          <a:xfrm>
            <a:off x="2971800" y="3191256"/>
            <a:ext cx="3886200" cy="320040"/>
          </a:xfrm>
          <a:prstGeom prst="rect">
            <a:avLst/>
          </a:prstGeom>
          <a:noFill/>
        </p:spPr>
        <p:txBody>
          <a:bodyPr wrap="square">
            <a:normAutofit/>
          </a:bodyPr>
          <a:lstStyle/>
          <a:p>
            <a:r>
              <a:rPr sz="700" b="0">
                <a:solidFill>
                  <a:srgbClr val="232B37"/>
                </a:solidFill>
                <a:latin typeface="Aptos"/>
              </a:rPr>
              <a:t>RESILIENCE – The ability to anticipate, prepare for, and adapt to changing conditions and withstand, respond to, and recover rapidly from disruptions.</a:t>
            </a:r>
          </a:p>
        </p:txBody>
      </p:sp>
      <p:sp>
        <p:nvSpPr>
          <p:cNvPr id="24" name="TextBox 23"/>
          <p:cNvSpPr txBox="1"/>
          <p:nvPr/>
        </p:nvSpPr>
        <p:spPr>
          <a:xfrm>
            <a:off x="7040880" y="3191256"/>
            <a:ext cx="4343400" cy="320040"/>
          </a:xfrm>
          <a:prstGeom prst="rect">
            <a:avLst/>
          </a:prstGeom>
          <a:noFill/>
        </p:spPr>
        <p:txBody>
          <a:bodyPr wrap="square">
            <a:normAutofit/>
          </a:bodyPr>
          <a:lstStyle/>
          <a:p>
            <a:r>
              <a:rPr sz="700" b="0">
                <a:solidFill>
                  <a:srgbClr val="232B37"/>
                </a:solidFill>
                <a:latin typeface="Aptos"/>
              </a:rPr>
              <a:t>score/rating / ??????: ?????? consequence/severity/?????, exposure/????</a:t>
            </a:r>
          </a:p>
        </p:txBody>
      </p:sp>
      <p:sp>
        <p:nvSpPr>
          <p:cNvPr id="25" name="TextBox 24"/>
          <p:cNvSpPr txBox="1"/>
          <p:nvPr/>
        </p:nvSpPr>
        <p:spPr>
          <a:xfrm>
            <a:off x="502920" y="3703320"/>
            <a:ext cx="1234440" cy="164592"/>
          </a:xfrm>
          <a:prstGeom prst="rect">
            <a:avLst/>
          </a:prstGeom>
          <a:noFill/>
        </p:spPr>
        <p:txBody>
          <a:bodyPr wrap="square">
            <a:normAutofit/>
          </a:bodyPr>
          <a:lstStyle/>
          <a:p>
            <a:r>
              <a:rPr sz="900" b="1">
                <a:solidFill>
                  <a:srgbClr val="1F6FEB"/>
                </a:solidFill>
                <a:latin typeface="Aptos"/>
              </a:rPr>
              <a:t>RI</a:t>
            </a:r>
          </a:p>
        </p:txBody>
      </p:sp>
      <p:sp>
        <p:nvSpPr>
          <p:cNvPr id="26" name="TextBox 25"/>
          <p:cNvSpPr txBox="1"/>
          <p:nvPr/>
        </p:nvSpPr>
        <p:spPr>
          <a:xfrm>
            <a:off x="1143000" y="3703320"/>
            <a:ext cx="1920240" cy="164592"/>
          </a:xfrm>
          <a:prstGeom prst="rect">
            <a:avLst/>
          </a:prstGeom>
          <a:noFill/>
        </p:spPr>
        <p:txBody>
          <a:bodyPr wrap="square">
            <a:normAutofit/>
          </a:bodyPr>
          <a:lstStyle/>
          <a:p>
            <a:r>
              <a:rPr sz="800" b="1">
                <a:solidFill>
                  <a:srgbClr val="12202F"/>
                </a:solidFill>
                <a:latin typeface="Aptos"/>
              </a:rPr>
              <a:t>Rhode Island</a:t>
            </a:r>
          </a:p>
        </p:txBody>
      </p:sp>
      <p:sp>
        <p:nvSpPr>
          <p:cNvPr id="27" name="TextBox 26"/>
          <p:cNvSpPr txBox="1"/>
          <p:nvPr/>
        </p:nvSpPr>
        <p:spPr>
          <a:xfrm>
            <a:off x="2971800" y="3703320"/>
            <a:ext cx="3886200" cy="320040"/>
          </a:xfrm>
          <a:prstGeom prst="rect">
            <a:avLst/>
          </a:prstGeom>
          <a:noFill/>
        </p:spPr>
        <p:txBody>
          <a:bodyPr wrap="square">
            <a:normAutofit/>
          </a:bodyPr>
          <a:lstStyle/>
          <a:p>
            <a:r>
              <a:rPr sz="700" b="0">
                <a:solidFill>
                  <a:srgbClr val="232B37"/>
                </a:solidFill>
                <a:latin typeface="Aptos"/>
              </a:rPr>
              <a:t>Resilience is defined by RIDOT as the ability of the Rhode Island transportation system to anticipate, prepare for, and adapt to changing conditions; and withstand, respond to, and reco</a:t>
            </a:r>
          </a:p>
        </p:txBody>
      </p:sp>
      <p:sp>
        <p:nvSpPr>
          <p:cNvPr id="28" name="TextBox 27"/>
          <p:cNvSpPr txBox="1"/>
          <p:nvPr/>
        </p:nvSpPr>
        <p:spPr>
          <a:xfrm>
            <a:off x="7040880" y="3703320"/>
            <a:ext cx="4343400" cy="320040"/>
          </a:xfrm>
          <a:prstGeom prst="rect">
            <a:avLst/>
          </a:prstGeom>
          <a:noFill/>
        </p:spPr>
        <p:txBody>
          <a:bodyPr wrap="square">
            <a:normAutofit/>
          </a:bodyPr>
          <a:lstStyle/>
          <a:p>
            <a:r>
              <a:rPr sz="700" b="0">
                <a:solidFill>
                  <a:srgbClr val="232B37"/>
                </a:solidFill>
                <a:latin typeface="Aptos"/>
              </a:rPr>
              <a:t>risk-based assessment / ??????: ?????? exposure/???, sensitivity/???, adaptive capacity/????, vulnerability/????</a:t>
            </a:r>
          </a:p>
        </p:txBody>
      </p:sp>
      <p:sp>
        <p:nvSpPr>
          <p:cNvPr id="29" name="TextBox 28"/>
          <p:cNvSpPr txBox="1"/>
          <p:nvPr/>
        </p:nvSpPr>
        <p:spPr>
          <a:xfrm>
            <a:off x="502920" y="4215384"/>
            <a:ext cx="1234440" cy="164592"/>
          </a:xfrm>
          <a:prstGeom prst="rect">
            <a:avLst/>
          </a:prstGeom>
          <a:noFill/>
        </p:spPr>
        <p:txBody>
          <a:bodyPr wrap="square">
            <a:normAutofit/>
          </a:bodyPr>
          <a:lstStyle/>
          <a:p>
            <a:r>
              <a:rPr sz="900" b="1">
                <a:solidFill>
                  <a:srgbClr val="1F6FEB"/>
                </a:solidFill>
                <a:latin typeface="Aptos"/>
              </a:rPr>
              <a:t>TX</a:t>
            </a:r>
          </a:p>
        </p:txBody>
      </p:sp>
      <p:sp>
        <p:nvSpPr>
          <p:cNvPr id="30" name="TextBox 29"/>
          <p:cNvSpPr txBox="1"/>
          <p:nvPr/>
        </p:nvSpPr>
        <p:spPr>
          <a:xfrm>
            <a:off x="1143000" y="4215384"/>
            <a:ext cx="1920240" cy="164592"/>
          </a:xfrm>
          <a:prstGeom prst="rect">
            <a:avLst/>
          </a:prstGeom>
          <a:noFill/>
        </p:spPr>
        <p:txBody>
          <a:bodyPr wrap="square">
            <a:normAutofit/>
          </a:bodyPr>
          <a:lstStyle/>
          <a:p>
            <a:r>
              <a:rPr sz="800" b="1">
                <a:solidFill>
                  <a:srgbClr val="12202F"/>
                </a:solidFill>
                <a:latin typeface="Aptos"/>
              </a:rPr>
              <a:t>Texas</a:t>
            </a:r>
          </a:p>
        </p:txBody>
      </p:sp>
      <p:sp>
        <p:nvSpPr>
          <p:cNvPr id="31" name="TextBox 30"/>
          <p:cNvSpPr txBox="1"/>
          <p:nvPr/>
        </p:nvSpPr>
        <p:spPr>
          <a:xfrm>
            <a:off x="2971800" y="4215384"/>
            <a:ext cx="3886200" cy="320040"/>
          </a:xfrm>
          <a:prstGeom prst="rect">
            <a:avLst/>
          </a:prstGeom>
          <a:noFill/>
        </p:spPr>
        <p:txBody>
          <a:bodyPr wrap="square">
            <a:normAutofit/>
          </a:bodyPr>
          <a:lstStyle/>
          <a:p>
            <a:r>
              <a:rPr sz="700" b="0">
                <a:solidFill>
                  <a:srgbClr val="232B37"/>
                </a:solidFill>
                <a:latin typeface="Aptos"/>
              </a:rPr>
              <a:t>Resilience is the ability to support and maintain a multimodal transportation system that can safely move people, goods, and services during adverse conditions, and to be able to antici</a:t>
            </a:r>
          </a:p>
        </p:txBody>
      </p:sp>
      <p:sp>
        <p:nvSpPr>
          <p:cNvPr id="32" name="TextBox 31"/>
          <p:cNvSpPr txBox="1"/>
          <p:nvPr/>
        </p:nvSpPr>
        <p:spPr>
          <a:xfrm>
            <a:off x="7040880" y="4215384"/>
            <a:ext cx="4343400" cy="320040"/>
          </a:xfrm>
          <a:prstGeom prst="rect">
            <a:avLst/>
          </a:prstGeom>
          <a:noFill/>
        </p:spPr>
        <p:txBody>
          <a:bodyPr wrap="square">
            <a:normAutofit/>
          </a:bodyPr>
          <a:lstStyle/>
          <a:p>
            <a:r>
              <a:rPr sz="700" b="0">
                <a:solidFill>
                  <a:srgbClr val="232B37"/>
                </a:solidFill>
                <a:latin typeface="Aptos"/>
              </a:rPr>
              <a:t>risk-based assessment / ??????: ?????? exposure/???, sensitivity/???, vulnerability/????</a:t>
            </a:r>
          </a:p>
        </p:txBody>
      </p:sp>
      <p:sp>
        <p:nvSpPr>
          <p:cNvPr id="33" name="TextBox 32"/>
          <p:cNvSpPr txBox="1"/>
          <p:nvPr/>
        </p:nvSpPr>
        <p:spPr>
          <a:xfrm>
            <a:off x="502920" y="4727448"/>
            <a:ext cx="1234440" cy="164592"/>
          </a:xfrm>
          <a:prstGeom prst="rect">
            <a:avLst/>
          </a:prstGeom>
          <a:noFill/>
        </p:spPr>
        <p:txBody>
          <a:bodyPr wrap="square">
            <a:normAutofit/>
          </a:bodyPr>
          <a:lstStyle/>
          <a:p>
            <a:r>
              <a:rPr sz="900" b="1">
                <a:solidFill>
                  <a:srgbClr val="1F6FEB"/>
                </a:solidFill>
                <a:latin typeface="Aptos"/>
              </a:rPr>
              <a:t>UT</a:t>
            </a:r>
          </a:p>
        </p:txBody>
      </p:sp>
      <p:sp>
        <p:nvSpPr>
          <p:cNvPr id="34" name="TextBox 33"/>
          <p:cNvSpPr txBox="1"/>
          <p:nvPr/>
        </p:nvSpPr>
        <p:spPr>
          <a:xfrm>
            <a:off x="1143000" y="4727448"/>
            <a:ext cx="1920240" cy="164592"/>
          </a:xfrm>
          <a:prstGeom prst="rect">
            <a:avLst/>
          </a:prstGeom>
          <a:noFill/>
        </p:spPr>
        <p:txBody>
          <a:bodyPr wrap="square">
            <a:normAutofit/>
          </a:bodyPr>
          <a:lstStyle/>
          <a:p>
            <a:r>
              <a:rPr sz="800" b="1">
                <a:solidFill>
                  <a:srgbClr val="12202F"/>
                </a:solidFill>
                <a:latin typeface="Aptos"/>
              </a:rPr>
              <a:t>Utah</a:t>
            </a:r>
          </a:p>
        </p:txBody>
      </p:sp>
      <p:sp>
        <p:nvSpPr>
          <p:cNvPr id="35" name="TextBox 34"/>
          <p:cNvSpPr txBox="1"/>
          <p:nvPr/>
        </p:nvSpPr>
        <p:spPr>
          <a:xfrm>
            <a:off x="2971800" y="4727448"/>
            <a:ext cx="3886200" cy="320040"/>
          </a:xfrm>
          <a:prstGeom prst="rect">
            <a:avLst/>
          </a:prstGeom>
          <a:noFill/>
        </p:spPr>
        <p:txBody>
          <a:bodyPr wrap="square">
            <a:normAutofit/>
          </a:bodyPr>
          <a:lstStyle/>
          <a:p>
            <a:r>
              <a:rPr sz="700" b="0">
                <a:solidFill>
                  <a:srgbClr val="232B37"/>
                </a:solidFill>
                <a:latin typeface="Aptos"/>
              </a:rPr>
              <a:t>FHWA defines resilience as the ability to anticipate, prepare for, or adapt to conditions or withstand, respond to, or recover rapidly from disruptions.</a:t>
            </a:r>
          </a:p>
        </p:txBody>
      </p:sp>
      <p:sp>
        <p:nvSpPr>
          <p:cNvPr id="36" name="TextBox 35"/>
          <p:cNvSpPr txBox="1"/>
          <p:nvPr/>
        </p:nvSpPr>
        <p:spPr>
          <a:xfrm>
            <a:off x="7040880" y="4727448"/>
            <a:ext cx="4343400" cy="320040"/>
          </a:xfrm>
          <a:prstGeom prst="rect">
            <a:avLst/>
          </a:prstGeom>
          <a:noFill/>
        </p:spPr>
        <p:txBody>
          <a:bodyPr wrap="square">
            <a:normAutofit/>
          </a:bodyPr>
          <a:lstStyle/>
          <a:p>
            <a:r>
              <a:rPr sz="700" b="0">
                <a:solidFill>
                  <a:srgbClr val="232B37"/>
                </a:solidFill>
                <a:latin typeface="Aptos"/>
              </a:rPr>
              <a:t>score/rating / ??????: ?????? exposure/???, criticality/????</a:t>
            </a:r>
          </a:p>
        </p:txBody>
      </p:sp>
      <p:sp>
        <p:nvSpPr>
          <p:cNvPr id="37" name="TextBox 36"/>
          <p:cNvSpPr txBox="1"/>
          <p:nvPr/>
        </p:nvSpPr>
        <p:spPr>
          <a:xfrm>
            <a:off x="502920" y="5239512"/>
            <a:ext cx="1234440" cy="164592"/>
          </a:xfrm>
          <a:prstGeom prst="rect">
            <a:avLst/>
          </a:prstGeom>
          <a:noFill/>
        </p:spPr>
        <p:txBody>
          <a:bodyPr wrap="square">
            <a:normAutofit/>
          </a:bodyPr>
          <a:lstStyle/>
          <a:p>
            <a:r>
              <a:rPr sz="900" b="1">
                <a:solidFill>
                  <a:srgbClr val="1F6FEB"/>
                </a:solidFill>
                <a:latin typeface="Aptos"/>
              </a:rPr>
              <a:t>VA</a:t>
            </a:r>
          </a:p>
        </p:txBody>
      </p:sp>
      <p:sp>
        <p:nvSpPr>
          <p:cNvPr id="38" name="TextBox 37"/>
          <p:cNvSpPr txBox="1"/>
          <p:nvPr/>
        </p:nvSpPr>
        <p:spPr>
          <a:xfrm>
            <a:off x="1143000" y="5239512"/>
            <a:ext cx="1920240" cy="164592"/>
          </a:xfrm>
          <a:prstGeom prst="rect">
            <a:avLst/>
          </a:prstGeom>
          <a:noFill/>
        </p:spPr>
        <p:txBody>
          <a:bodyPr wrap="square">
            <a:normAutofit/>
          </a:bodyPr>
          <a:lstStyle/>
          <a:p>
            <a:r>
              <a:rPr sz="800" b="1">
                <a:solidFill>
                  <a:srgbClr val="12202F"/>
                </a:solidFill>
                <a:latin typeface="Aptos"/>
              </a:rPr>
              <a:t>Virginia</a:t>
            </a:r>
          </a:p>
        </p:txBody>
      </p:sp>
      <p:sp>
        <p:nvSpPr>
          <p:cNvPr id="39" name="TextBox 38"/>
          <p:cNvSpPr txBox="1"/>
          <p:nvPr/>
        </p:nvSpPr>
        <p:spPr>
          <a:xfrm>
            <a:off x="2971800" y="5239512"/>
            <a:ext cx="3886200" cy="320040"/>
          </a:xfrm>
          <a:prstGeom prst="rect">
            <a:avLst/>
          </a:prstGeom>
          <a:noFill/>
        </p:spPr>
        <p:txBody>
          <a:bodyPr wrap="square">
            <a:normAutofit/>
          </a:bodyPr>
          <a:lstStyle/>
          <a:p>
            <a:r>
              <a:rPr sz="700" b="0">
                <a:solidFill>
                  <a:srgbClr val="232B37"/>
                </a:solidFill>
                <a:latin typeface="Aptos"/>
              </a:rPr>
              <a:t>TABLE OF CONTENTS Resilience Plan Roadmap towards a resilient transportation system RESILIENCE PLAN November 2022 Version 1.0</a:t>
            </a:r>
          </a:p>
        </p:txBody>
      </p:sp>
      <p:sp>
        <p:nvSpPr>
          <p:cNvPr id="40" name="TextBox 39"/>
          <p:cNvSpPr txBox="1"/>
          <p:nvPr/>
        </p:nvSpPr>
        <p:spPr>
          <a:xfrm>
            <a:off x="7040880" y="5239512"/>
            <a:ext cx="4343400" cy="320040"/>
          </a:xfrm>
          <a:prstGeom prst="rect">
            <a:avLst/>
          </a:prstGeom>
          <a:noFill/>
        </p:spPr>
        <p:txBody>
          <a:bodyPr wrap="square">
            <a:normAutofit/>
          </a:bodyPr>
          <a:lstStyle/>
          <a:p>
            <a:r>
              <a:rPr sz="700" b="0">
                <a:solidFill>
                  <a:srgbClr val="232B37"/>
                </a:solidFill>
                <a:latin typeface="Aptos"/>
              </a:rPr>
              <a:t>risk-based assessment / ??????: ?????? exposure/???, sensitivity/???, adaptive capacity/????, criticality/???, vulnerability/????</a:t>
            </a:r>
          </a:p>
        </p:txBody>
      </p:sp>
      <p:sp>
        <p:nvSpPr>
          <p:cNvPr id="41" name="TextBox 40"/>
          <p:cNvSpPr txBox="1"/>
          <p:nvPr/>
        </p:nvSpPr>
        <p:spPr>
          <a:xfrm>
            <a:off x="502920" y="5751576"/>
            <a:ext cx="1234440" cy="164592"/>
          </a:xfrm>
          <a:prstGeom prst="rect">
            <a:avLst/>
          </a:prstGeom>
          <a:noFill/>
        </p:spPr>
        <p:txBody>
          <a:bodyPr wrap="square">
            <a:normAutofit/>
          </a:bodyPr>
          <a:lstStyle/>
          <a:p>
            <a:r>
              <a:rPr sz="900" b="1">
                <a:solidFill>
                  <a:srgbClr val="1F6FEB"/>
                </a:solidFill>
                <a:latin typeface="Aptos"/>
              </a:rPr>
              <a:t>VT</a:t>
            </a:r>
          </a:p>
        </p:txBody>
      </p:sp>
      <p:sp>
        <p:nvSpPr>
          <p:cNvPr id="42" name="TextBox 41"/>
          <p:cNvSpPr txBox="1"/>
          <p:nvPr/>
        </p:nvSpPr>
        <p:spPr>
          <a:xfrm>
            <a:off x="1143000" y="5751576"/>
            <a:ext cx="1920240" cy="164592"/>
          </a:xfrm>
          <a:prstGeom prst="rect">
            <a:avLst/>
          </a:prstGeom>
          <a:noFill/>
        </p:spPr>
        <p:txBody>
          <a:bodyPr wrap="square">
            <a:normAutofit/>
          </a:bodyPr>
          <a:lstStyle/>
          <a:p>
            <a:r>
              <a:rPr sz="800" b="1">
                <a:solidFill>
                  <a:srgbClr val="12202F"/>
                </a:solidFill>
                <a:latin typeface="Aptos"/>
              </a:rPr>
              <a:t>Vermont</a:t>
            </a:r>
          </a:p>
        </p:txBody>
      </p:sp>
      <p:sp>
        <p:nvSpPr>
          <p:cNvPr id="43" name="TextBox 42"/>
          <p:cNvSpPr txBox="1"/>
          <p:nvPr/>
        </p:nvSpPr>
        <p:spPr>
          <a:xfrm>
            <a:off x="2971800" y="5751576"/>
            <a:ext cx="3886200" cy="320040"/>
          </a:xfrm>
          <a:prstGeom prst="rect">
            <a:avLst/>
          </a:prstGeom>
          <a:noFill/>
        </p:spPr>
        <p:txBody>
          <a:bodyPr wrap="square">
            <a:normAutofit/>
          </a:bodyPr>
          <a:lstStyle/>
          <a:p>
            <a:r>
              <a:rPr sz="700" b="0">
                <a:solidFill>
                  <a:srgbClr val="232B37"/>
                </a:solidFill>
                <a:latin typeface="Aptos"/>
              </a:rPr>
              <a:t>Resilience Improvement Plan Draft Process Underway February 6, 2023</a:t>
            </a:r>
          </a:p>
        </p:txBody>
      </p:sp>
      <p:sp>
        <p:nvSpPr>
          <p:cNvPr id="44" name="TextBox 43"/>
          <p:cNvSpPr txBox="1"/>
          <p:nvPr/>
        </p:nvSpPr>
        <p:spPr>
          <a:xfrm>
            <a:off x="7040880" y="5751576"/>
            <a:ext cx="4343400" cy="320040"/>
          </a:xfrm>
          <a:prstGeom prst="rect">
            <a:avLst/>
          </a:prstGeom>
          <a:noFill/>
        </p:spPr>
        <p:txBody>
          <a:bodyPr wrap="square">
            <a:normAutofit/>
          </a:bodyPr>
          <a:lstStyle/>
          <a:p>
            <a:r>
              <a:rPr sz="700" b="0">
                <a:solidFill>
                  <a:srgbClr val="232B37"/>
                </a:solidFill>
                <a:latin typeface="Aptos"/>
              </a:rP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28600"/>
            <a:ext cx="8961120" cy="411480"/>
          </a:xfrm>
          <a:prstGeom prst="rect">
            <a:avLst/>
          </a:prstGeom>
          <a:noFill/>
        </p:spPr>
        <p:txBody>
          <a:bodyPr wrap="square">
            <a:normAutofit/>
          </a:bodyPr>
          <a:lstStyle/>
          <a:p>
            <a:r>
              <a:rPr sz="2200" b="1">
                <a:solidFill>
                  <a:srgbClr val="12202F"/>
                </a:solidFill>
                <a:latin typeface="Aptos"/>
              </a:rPr>
              <a:t>California / Caltrans: definition and risk scoring</a:t>
            </a:r>
          </a:p>
        </p:txBody>
      </p:sp>
      <p:sp>
        <p:nvSpPr>
          <p:cNvPr id="3" name="TextBox 2"/>
          <p:cNvSpPr txBox="1"/>
          <p:nvPr/>
        </p:nvSpPr>
        <p:spPr>
          <a:xfrm>
            <a:off x="438912" y="667512"/>
            <a:ext cx="10881360" cy="256032"/>
          </a:xfrm>
          <a:prstGeom prst="rect">
            <a:avLst/>
          </a:prstGeom>
          <a:noFill/>
        </p:spPr>
        <p:txBody>
          <a:bodyPr wrap="square">
            <a:normAutofit/>
          </a:bodyPr>
          <a:lstStyle/>
          <a:p>
            <a:r>
              <a:rPr sz="800" b="0">
                <a:solidFill>
                  <a:srgbClr val="55606E"/>
                </a:solidFill>
                <a:latin typeface="Aptos"/>
              </a:rPr>
              <a:t>1/20 | CA_Caltrans_SCRIPT_RIP_2023_Amendment1.pdf</a:t>
            </a:r>
          </a:p>
        </p:txBody>
      </p:sp>
      <p:sp>
        <p:nvSpPr>
          <p:cNvPr id="4" name="Rectangle 3"/>
          <p:cNvSpPr/>
          <p:nvPr/>
        </p:nvSpPr>
        <p:spPr>
          <a:xfrm>
            <a:off x="411480" y="969264"/>
            <a:ext cx="11384280" cy="18288"/>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11480" y="1170432"/>
            <a:ext cx="3337560" cy="2057400"/>
          </a:xfrm>
          <a:prstGeom prst="roundRect">
            <a:avLst/>
          </a:prstGeom>
          <a:solidFill>
            <a:srgbClr val="FAFBFC"/>
          </a:solidFill>
          <a:ln w="9525">
            <a:solidFill>
              <a:srgbClr val="D2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2648" y="1325880"/>
            <a:ext cx="2926080" cy="228600"/>
          </a:xfrm>
          <a:prstGeom prst="rect">
            <a:avLst/>
          </a:prstGeom>
          <a:noFill/>
        </p:spPr>
        <p:txBody>
          <a:bodyPr wrap="square">
            <a:normAutofit/>
          </a:bodyPr>
          <a:lstStyle/>
          <a:p>
            <a:r>
              <a:rPr sz="1100" b="1">
                <a:solidFill>
                  <a:srgbClr val="1F6FEB"/>
                </a:solidFill>
                <a:latin typeface="Aptos"/>
              </a:rPr>
              <a:t>Resilience definition - summary</a:t>
            </a:r>
          </a:p>
        </p:txBody>
      </p:sp>
      <p:sp>
        <p:nvSpPr>
          <p:cNvPr id="7" name="TextBox 6"/>
          <p:cNvSpPr txBox="1"/>
          <p:nvPr/>
        </p:nvSpPr>
        <p:spPr>
          <a:xfrm>
            <a:off x="612648" y="1627632"/>
            <a:ext cx="2880360" cy="1234440"/>
          </a:xfrm>
          <a:prstGeom prst="rect">
            <a:avLst/>
          </a:prstGeom>
          <a:noFill/>
        </p:spPr>
        <p:txBody>
          <a:bodyPr wrap="square">
            <a:normAutofit/>
          </a:bodyPr>
          <a:lstStyle/>
          <a:p>
            <a:r>
              <a:rPr sz="1000" b="0">
                <a:solidFill>
                  <a:srgbClr val="232B37"/>
                </a:solidFill>
                <a:latin typeface="Aptos"/>
              </a:rPr>
              <a:t>Divisions of Maintenance, Design, and Planning in leading the Department’s integration of climate adaptation and resilience work in the State Highway Operation and Protection (SHOPP) Program through the SHS Management Plan (SHSMP).</a:t>
            </a:r>
          </a:p>
        </p:txBody>
      </p:sp>
      <p:sp>
        <p:nvSpPr>
          <p:cNvPr id="8" name="TextBox 7"/>
          <p:cNvSpPr txBox="1"/>
          <p:nvPr/>
        </p:nvSpPr>
        <p:spPr>
          <a:xfrm>
            <a:off x="612648" y="3017520"/>
            <a:ext cx="2880360" cy="228600"/>
          </a:xfrm>
          <a:prstGeom prst="rect">
            <a:avLst/>
          </a:prstGeom>
          <a:noFill/>
        </p:spPr>
        <p:txBody>
          <a:bodyPr wrap="square">
            <a:normAutofit/>
          </a:bodyPr>
          <a:lstStyle/>
          <a:p>
            <a:r>
              <a:rPr sz="800" b="0">
                <a:solidFill>
                  <a:srgbClr val="55606E"/>
                </a:solidFill>
                <a:latin typeface="Aptos"/>
              </a:rPr>
              <a:t>Source page: p. 27</a:t>
            </a:r>
          </a:p>
        </p:txBody>
      </p:sp>
      <p:sp>
        <p:nvSpPr>
          <p:cNvPr id="9" name="Rounded Rectangle 8"/>
          <p:cNvSpPr/>
          <p:nvPr/>
        </p:nvSpPr>
        <p:spPr>
          <a:xfrm>
            <a:off x="411480" y="3520440"/>
            <a:ext cx="3337560" cy="2240280"/>
          </a:xfrm>
          <a:prstGeom prst="roundRect">
            <a:avLst/>
          </a:prstGeom>
          <a:solidFill>
            <a:srgbClr val="FAFBFC"/>
          </a:solidFill>
          <a:ln w="9525">
            <a:solidFill>
              <a:srgbClr val="D2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2648" y="3675887"/>
            <a:ext cx="2926080" cy="228600"/>
          </a:xfrm>
          <a:prstGeom prst="rect">
            <a:avLst/>
          </a:prstGeom>
          <a:noFill/>
        </p:spPr>
        <p:txBody>
          <a:bodyPr wrap="square">
            <a:normAutofit/>
          </a:bodyPr>
          <a:lstStyle/>
          <a:p>
            <a:r>
              <a:rPr sz="1100" b="1">
                <a:solidFill>
                  <a:srgbClr val="1F6FEB"/>
                </a:solidFill>
                <a:latin typeface="Aptos"/>
              </a:rPr>
              <a:t>Risk scoring - summary</a:t>
            </a:r>
          </a:p>
        </p:txBody>
      </p:sp>
      <p:sp>
        <p:nvSpPr>
          <p:cNvPr id="11" name="TextBox 10"/>
          <p:cNvSpPr txBox="1"/>
          <p:nvPr/>
        </p:nvSpPr>
        <p:spPr>
          <a:xfrm>
            <a:off x="612648" y="3977639"/>
            <a:ext cx="2880360" cy="1143000"/>
          </a:xfrm>
          <a:prstGeom prst="rect">
            <a:avLst/>
          </a:prstGeom>
          <a:noFill/>
        </p:spPr>
        <p:txBody>
          <a:bodyPr wrap="square">
            <a:normAutofit/>
          </a:bodyPr>
          <a:lstStyle/>
          <a:p>
            <a:r>
              <a:rPr sz="1000" b="0">
                <a:solidFill>
                  <a:srgbClr val="232B37"/>
                </a:solidFill>
                <a:latin typeface="Aptos"/>
              </a:rPr>
              <a:t>score/rating / ??????: ?????? consequence/severity/?????, sensitivity/???, vulnerability/????</a:t>
            </a:r>
          </a:p>
        </p:txBody>
      </p:sp>
      <p:sp>
        <p:nvSpPr>
          <p:cNvPr id="12" name="TextBox 11"/>
          <p:cNvSpPr txBox="1"/>
          <p:nvPr/>
        </p:nvSpPr>
        <p:spPr>
          <a:xfrm>
            <a:off x="612648" y="5340096"/>
            <a:ext cx="2880360" cy="228600"/>
          </a:xfrm>
          <a:prstGeom prst="rect">
            <a:avLst/>
          </a:prstGeom>
          <a:noFill/>
        </p:spPr>
        <p:txBody>
          <a:bodyPr wrap="square">
            <a:normAutofit/>
          </a:bodyPr>
          <a:lstStyle/>
          <a:p>
            <a:r>
              <a:rPr sz="800" b="0">
                <a:solidFill>
                  <a:srgbClr val="55606E"/>
                </a:solidFill>
                <a:latin typeface="Aptos"/>
              </a:rPr>
              <a:t>Source page: p. 29</a:t>
            </a:r>
          </a:p>
        </p:txBody>
      </p:sp>
      <p:sp>
        <p:nvSpPr>
          <p:cNvPr id="13" name="TextBox 12"/>
          <p:cNvSpPr txBox="1"/>
          <p:nvPr/>
        </p:nvSpPr>
        <p:spPr>
          <a:xfrm>
            <a:off x="3977639" y="1115568"/>
            <a:ext cx="3383280" cy="201168"/>
          </a:xfrm>
          <a:prstGeom prst="rect">
            <a:avLst/>
          </a:prstGeom>
          <a:noFill/>
        </p:spPr>
        <p:txBody>
          <a:bodyPr wrap="square">
            <a:normAutofit/>
          </a:bodyPr>
          <a:lstStyle/>
          <a:p>
            <a:r>
              <a:rPr sz="900" b="1">
                <a:solidFill>
                  <a:srgbClr val="12202F"/>
                </a:solidFill>
                <a:latin typeface="Aptos"/>
              </a:rPr>
              <a:t>Original excerpt: definition</a:t>
            </a:r>
          </a:p>
        </p:txBody>
      </p:sp>
      <p:pic>
        <p:nvPicPr>
          <p:cNvPr id="14" name="Picture 13" descr="CA_Caltrans_SCRIPT_RIP_2023_Amendment1_definition.png"/>
          <p:cNvPicPr>
            <a:picLocks noChangeAspect="1"/>
          </p:cNvPicPr>
          <p:nvPr/>
        </p:nvPicPr>
        <p:blipFill>
          <a:blip r:embed="rId2"/>
          <a:stretch>
            <a:fillRect/>
          </a:stretch>
        </p:blipFill>
        <p:spPr>
          <a:xfrm>
            <a:off x="6875968" y="1353312"/>
            <a:ext cx="1930023" cy="1965960"/>
          </a:xfrm>
          <a:prstGeom prst="rect">
            <a:avLst/>
          </a:prstGeom>
        </p:spPr>
      </p:pic>
      <p:sp>
        <p:nvSpPr>
          <p:cNvPr id="15" name="TextBox 14"/>
          <p:cNvSpPr txBox="1"/>
          <p:nvPr/>
        </p:nvSpPr>
        <p:spPr>
          <a:xfrm>
            <a:off x="3977639" y="3456432"/>
            <a:ext cx="3383280" cy="201168"/>
          </a:xfrm>
          <a:prstGeom prst="rect">
            <a:avLst/>
          </a:prstGeom>
          <a:noFill/>
        </p:spPr>
        <p:txBody>
          <a:bodyPr wrap="square">
            <a:normAutofit/>
          </a:bodyPr>
          <a:lstStyle/>
          <a:p>
            <a:r>
              <a:rPr sz="900" b="1">
                <a:solidFill>
                  <a:srgbClr val="12202F"/>
                </a:solidFill>
                <a:latin typeface="Aptos"/>
              </a:rPr>
              <a:t>Original excerpt: risk scoring / assessment</a:t>
            </a:r>
          </a:p>
        </p:txBody>
      </p:sp>
      <p:pic>
        <p:nvPicPr>
          <p:cNvPr id="16" name="Picture 15" descr="CA_Caltrans_SCRIPT_RIP_2023_Amendment1_risk.png"/>
          <p:cNvPicPr>
            <a:picLocks noChangeAspect="1"/>
          </p:cNvPicPr>
          <p:nvPr/>
        </p:nvPicPr>
        <p:blipFill>
          <a:blip r:embed="rId3"/>
          <a:stretch>
            <a:fillRect/>
          </a:stretch>
        </p:blipFill>
        <p:spPr>
          <a:xfrm>
            <a:off x="7086619" y="3703320"/>
            <a:ext cx="1508721" cy="1965960"/>
          </a:xfrm>
          <a:prstGeom prst="rect">
            <a:avLst/>
          </a:prstGeom>
        </p:spPr>
      </p:pic>
      <p:sp>
        <p:nvSpPr>
          <p:cNvPr id="17" name="TextBox 16"/>
          <p:cNvSpPr txBox="1"/>
          <p:nvPr/>
        </p:nvSpPr>
        <p:spPr>
          <a:xfrm>
            <a:off x="411480" y="6327648"/>
            <a:ext cx="11201400" cy="228600"/>
          </a:xfrm>
          <a:prstGeom prst="rect">
            <a:avLst/>
          </a:prstGeom>
          <a:noFill/>
        </p:spPr>
        <p:txBody>
          <a:bodyPr wrap="square">
            <a:normAutofit/>
          </a:bodyPr>
          <a:lstStyle/>
          <a:p>
            <a:r>
              <a:rPr sz="600" b="0">
                <a:solidFill>
                  <a:srgbClr val="55606E"/>
                </a:solidFill>
                <a:latin typeface="Aptos"/>
              </a:rPr>
              <a:t>Source: CA_Caltrans_SCRIPT_RIP_2023_Amendment1.pdf; definition p.27, risk p.29; URL: https://dot.ca.gov/-/media/dot-media/programs/transportation-planning/documents/office-of-smart-mobility-and-climate-change/2023-script-amendment-1-with-letters-a11y.pdf</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28600"/>
            <a:ext cx="8961120" cy="411480"/>
          </a:xfrm>
          <a:prstGeom prst="rect">
            <a:avLst/>
          </a:prstGeom>
          <a:noFill/>
        </p:spPr>
        <p:txBody>
          <a:bodyPr wrap="square">
            <a:normAutofit/>
          </a:bodyPr>
          <a:lstStyle/>
          <a:p>
            <a:r>
              <a:rPr sz="2200" b="1">
                <a:solidFill>
                  <a:srgbClr val="12202F"/>
                </a:solidFill>
                <a:latin typeface="Aptos"/>
              </a:rPr>
              <a:t>Colorado / CDOT: definition and risk scoring</a:t>
            </a:r>
          </a:p>
        </p:txBody>
      </p:sp>
      <p:sp>
        <p:nvSpPr>
          <p:cNvPr id="3" name="TextBox 2"/>
          <p:cNvSpPr txBox="1"/>
          <p:nvPr/>
        </p:nvSpPr>
        <p:spPr>
          <a:xfrm>
            <a:off x="438912" y="667512"/>
            <a:ext cx="10881360" cy="256032"/>
          </a:xfrm>
          <a:prstGeom prst="rect">
            <a:avLst/>
          </a:prstGeom>
          <a:noFill/>
        </p:spPr>
        <p:txBody>
          <a:bodyPr wrap="square">
            <a:normAutofit/>
          </a:bodyPr>
          <a:lstStyle/>
          <a:p>
            <a:r>
              <a:rPr sz="800" b="0">
                <a:solidFill>
                  <a:srgbClr val="55606E"/>
                </a:solidFill>
                <a:latin typeface="Aptos"/>
              </a:rPr>
              <a:t>2/20 | CO_CDOT_Resilience_Improvement_Plan.pdf</a:t>
            </a:r>
          </a:p>
        </p:txBody>
      </p:sp>
      <p:sp>
        <p:nvSpPr>
          <p:cNvPr id="4" name="Rectangle 3"/>
          <p:cNvSpPr/>
          <p:nvPr/>
        </p:nvSpPr>
        <p:spPr>
          <a:xfrm>
            <a:off x="411480" y="969264"/>
            <a:ext cx="11384280" cy="18288"/>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11480" y="1170432"/>
            <a:ext cx="3337560" cy="2057400"/>
          </a:xfrm>
          <a:prstGeom prst="roundRect">
            <a:avLst/>
          </a:prstGeom>
          <a:solidFill>
            <a:srgbClr val="FAFBFC"/>
          </a:solidFill>
          <a:ln w="9525">
            <a:solidFill>
              <a:srgbClr val="D2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2648" y="1325880"/>
            <a:ext cx="2926080" cy="228600"/>
          </a:xfrm>
          <a:prstGeom prst="rect">
            <a:avLst/>
          </a:prstGeom>
          <a:noFill/>
        </p:spPr>
        <p:txBody>
          <a:bodyPr wrap="square">
            <a:normAutofit/>
          </a:bodyPr>
          <a:lstStyle/>
          <a:p>
            <a:r>
              <a:rPr sz="1100" b="1">
                <a:solidFill>
                  <a:srgbClr val="1F6FEB"/>
                </a:solidFill>
                <a:latin typeface="Aptos"/>
              </a:rPr>
              <a:t>Resilience definition - summary</a:t>
            </a:r>
          </a:p>
        </p:txBody>
      </p:sp>
      <p:sp>
        <p:nvSpPr>
          <p:cNvPr id="7" name="TextBox 6"/>
          <p:cNvSpPr txBox="1"/>
          <p:nvPr/>
        </p:nvSpPr>
        <p:spPr>
          <a:xfrm>
            <a:off x="612648" y="1627632"/>
            <a:ext cx="2880360" cy="1234440"/>
          </a:xfrm>
          <a:prstGeom prst="rect">
            <a:avLst/>
          </a:prstGeom>
          <a:noFill/>
        </p:spPr>
        <p:txBody>
          <a:bodyPr wrap="square">
            <a:normAutofit/>
          </a:bodyPr>
          <a:lstStyle/>
          <a:p>
            <a:r>
              <a:rPr sz="1000" b="0">
                <a:solidFill>
                  <a:srgbClr val="232B37"/>
                </a:solidFill>
                <a:latin typeface="Aptos"/>
              </a:rPr>
              <a:t>The State of Colorado defines resilience as “the ability of communities to rebound, positively adapt to, or thrive amidst changing conditions or challenges—including human-caused and natural disasters—and to maintain quality of life, healthy growth, durable systems, economic vitality, and conservation of resources for present and future g</a:t>
            </a:r>
          </a:p>
        </p:txBody>
      </p:sp>
      <p:sp>
        <p:nvSpPr>
          <p:cNvPr id="8" name="TextBox 7"/>
          <p:cNvSpPr txBox="1"/>
          <p:nvPr/>
        </p:nvSpPr>
        <p:spPr>
          <a:xfrm>
            <a:off x="612648" y="3017520"/>
            <a:ext cx="2880360" cy="228600"/>
          </a:xfrm>
          <a:prstGeom prst="rect">
            <a:avLst/>
          </a:prstGeom>
          <a:noFill/>
        </p:spPr>
        <p:txBody>
          <a:bodyPr wrap="square">
            <a:normAutofit/>
          </a:bodyPr>
          <a:lstStyle/>
          <a:p>
            <a:r>
              <a:rPr sz="800" b="0">
                <a:solidFill>
                  <a:srgbClr val="55606E"/>
                </a:solidFill>
                <a:latin typeface="Aptos"/>
              </a:rPr>
              <a:t>Source page: p. 6</a:t>
            </a:r>
          </a:p>
        </p:txBody>
      </p:sp>
      <p:sp>
        <p:nvSpPr>
          <p:cNvPr id="9" name="Rounded Rectangle 8"/>
          <p:cNvSpPr/>
          <p:nvPr/>
        </p:nvSpPr>
        <p:spPr>
          <a:xfrm>
            <a:off x="411480" y="3520440"/>
            <a:ext cx="3337560" cy="2240280"/>
          </a:xfrm>
          <a:prstGeom prst="roundRect">
            <a:avLst/>
          </a:prstGeom>
          <a:solidFill>
            <a:srgbClr val="FAFBFC"/>
          </a:solidFill>
          <a:ln w="9525">
            <a:solidFill>
              <a:srgbClr val="D2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2648" y="3675887"/>
            <a:ext cx="2926080" cy="228600"/>
          </a:xfrm>
          <a:prstGeom prst="rect">
            <a:avLst/>
          </a:prstGeom>
          <a:noFill/>
        </p:spPr>
        <p:txBody>
          <a:bodyPr wrap="square">
            <a:normAutofit/>
          </a:bodyPr>
          <a:lstStyle/>
          <a:p>
            <a:r>
              <a:rPr sz="1100" b="1">
                <a:solidFill>
                  <a:srgbClr val="1F6FEB"/>
                </a:solidFill>
                <a:latin typeface="Aptos"/>
              </a:rPr>
              <a:t>Risk scoring - summary</a:t>
            </a:r>
          </a:p>
        </p:txBody>
      </p:sp>
      <p:sp>
        <p:nvSpPr>
          <p:cNvPr id="11" name="TextBox 10"/>
          <p:cNvSpPr txBox="1"/>
          <p:nvPr/>
        </p:nvSpPr>
        <p:spPr>
          <a:xfrm>
            <a:off x="612648" y="3977639"/>
            <a:ext cx="2880360" cy="1143000"/>
          </a:xfrm>
          <a:prstGeom prst="rect">
            <a:avLst/>
          </a:prstGeom>
          <a:noFill/>
        </p:spPr>
        <p:txBody>
          <a:bodyPr wrap="square">
            <a:normAutofit/>
          </a:bodyPr>
          <a:lstStyle/>
          <a:p>
            <a:r>
              <a:rPr sz="1000" b="0">
                <a:solidFill>
                  <a:srgbClr val="232B37"/>
                </a:solidFill>
                <a:latin typeface="Aptos"/>
              </a:rPr>
              <a:t>risk-based assessment / ??????: ?????? likelihood/?????, probability/??, consequence/severity/?????, criticality/????</a:t>
            </a:r>
          </a:p>
        </p:txBody>
      </p:sp>
      <p:sp>
        <p:nvSpPr>
          <p:cNvPr id="12" name="TextBox 11"/>
          <p:cNvSpPr txBox="1"/>
          <p:nvPr/>
        </p:nvSpPr>
        <p:spPr>
          <a:xfrm>
            <a:off x="612648" y="5340096"/>
            <a:ext cx="2880360" cy="228600"/>
          </a:xfrm>
          <a:prstGeom prst="rect">
            <a:avLst/>
          </a:prstGeom>
          <a:noFill/>
        </p:spPr>
        <p:txBody>
          <a:bodyPr wrap="square">
            <a:normAutofit/>
          </a:bodyPr>
          <a:lstStyle/>
          <a:p>
            <a:r>
              <a:rPr sz="800" b="0">
                <a:solidFill>
                  <a:srgbClr val="55606E"/>
                </a:solidFill>
                <a:latin typeface="Aptos"/>
              </a:rPr>
              <a:t>Source page: p. 14</a:t>
            </a:r>
          </a:p>
        </p:txBody>
      </p:sp>
      <p:sp>
        <p:nvSpPr>
          <p:cNvPr id="13" name="TextBox 12"/>
          <p:cNvSpPr txBox="1"/>
          <p:nvPr/>
        </p:nvSpPr>
        <p:spPr>
          <a:xfrm>
            <a:off x="3977639" y="1115568"/>
            <a:ext cx="3383280" cy="201168"/>
          </a:xfrm>
          <a:prstGeom prst="rect">
            <a:avLst/>
          </a:prstGeom>
          <a:noFill/>
        </p:spPr>
        <p:txBody>
          <a:bodyPr wrap="square">
            <a:normAutofit/>
          </a:bodyPr>
          <a:lstStyle/>
          <a:p>
            <a:r>
              <a:rPr sz="900" b="1">
                <a:solidFill>
                  <a:srgbClr val="12202F"/>
                </a:solidFill>
                <a:latin typeface="Aptos"/>
              </a:rPr>
              <a:t>Original excerpt: definition</a:t>
            </a:r>
          </a:p>
        </p:txBody>
      </p:sp>
      <p:pic>
        <p:nvPicPr>
          <p:cNvPr id="14" name="Picture 13" descr="CO_CDOT_Resilience_Improvement_Plan_definition.png"/>
          <p:cNvPicPr>
            <a:picLocks noChangeAspect="1"/>
          </p:cNvPicPr>
          <p:nvPr/>
        </p:nvPicPr>
        <p:blipFill>
          <a:blip r:embed="rId2"/>
          <a:stretch>
            <a:fillRect/>
          </a:stretch>
        </p:blipFill>
        <p:spPr>
          <a:xfrm>
            <a:off x="7127648" y="1353312"/>
            <a:ext cx="1426662" cy="1965960"/>
          </a:xfrm>
          <a:prstGeom prst="rect">
            <a:avLst/>
          </a:prstGeom>
        </p:spPr>
      </p:pic>
      <p:sp>
        <p:nvSpPr>
          <p:cNvPr id="15" name="TextBox 14"/>
          <p:cNvSpPr txBox="1"/>
          <p:nvPr/>
        </p:nvSpPr>
        <p:spPr>
          <a:xfrm>
            <a:off x="3977639" y="3456432"/>
            <a:ext cx="3383280" cy="201168"/>
          </a:xfrm>
          <a:prstGeom prst="rect">
            <a:avLst/>
          </a:prstGeom>
          <a:noFill/>
        </p:spPr>
        <p:txBody>
          <a:bodyPr wrap="square">
            <a:normAutofit/>
          </a:bodyPr>
          <a:lstStyle/>
          <a:p>
            <a:r>
              <a:rPr sz="900" b="1">
                <a:solidFill>
                  <a:srgbClr val="12202F"/>
                </a:solidFill>
                <a:latin typeface="Aptos"/>
              </a:rPr>
              <a:t>Original excerpt: risk scoring / assessment</a:t>
            </a:r>
          </a:p>
        </p:txBody>
      </p:sp>
      <p:pic>
        <p:nvPicPr>
          <p:cNvPr id="16" name="Picture 15" descr="CO_CDOT_Resilience_Improvement_Plan_risk.png"/>
          <p:cNvPicPr>
            <a:picLocks noChangeAspect="1"/>
          </p:cNvPicPr>
          <p:nvPr/>
        </p:nvPicPr>
        <p:blipFill>
          <a:blip r:embed="rId3"/>
          <a:stretch>
            <a:fillRect/>
          </a:stretch>
        </p:blipFill>
        <p:spPr>
          <a:xfrm>
            <a:off x="6734993" y="3703320"/>
            <a:ext cx="2211972" cy="1965960"/>
          </a:xfrm>
          <a:prstGeom prst="rect">
            <a:avLst/>
          </a:prstGeom>
        </p:spPr>
      </p:pic>
      <p:sp>
        <p:nvSpPr>
          <p:cNvPr id="17" name="TextBox 16"/>
          <p:cNvSpPr txBox="1"/>
          <p:nvPr/>
        </p:nvSpPr>
        <p:spPr>
          <a:xfrm>
            <a:off x="411480" y="6327648"/>
            <a:ext cx="11201400" cy="228600"/>
          </a:xfrm>
          <a:prstGeom prst="rect">
            <a:avLst/>
          </a:prstGeom>
          <a:noFill/>
        </p:spPr>
        <p:txBody>
          <a:bodyPr wrap="square">
            <a:normAutofit/>
          </a:bodyPr>
          <a:lstStyle/>
          <a:p>
            <a:r>
              <a:rPr sz="600" b="0">
                <a:solidFill>
                  <a:srgbClr val="55606E"/>
                </a:solidFill>
                <a:latin typeface="Aptos"/>
              </a:rPr>
              <a:t>Source: CO_CDOT_Resilience_Improvement_Plan.pdf; definition p.6, risk p.14; URL: https://www.tam-portal.com/wp-content/uploads/sites/12/2025/07/cdot-resilience-improvement-plan-final-02-10-2025.pdf</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28600"/>
            <a:ext cx="8961120" cy="411480"/>
          </a:xfrm>
          <a:prstGeom prst="rect">
            <a:avLst/>
          </a:prstGeom>
          <a:noFill/>
        </p:spPr>
        <p:txBody>
          <a:bodyPr wrap="square">
            <a:normAutofit/>
          </a:bodyPr>
          <a:lstStyle/>
          <a:p>
            <a:r>
              <a:rPr sz="2200" b="1">
                <a:solidFill>
                  <a:srgbClr val="12202F"/>
                </a:solidFill>
                <a:latin typeface="Aptos"/>
              </a:rPr>
              <a:t>Connecticut / CTDOT: definition and risk scoring</a:t>
            </a:r>
          </a:p>
        </p:txBody>
      </p:sp>
      <p:sp>
        <p:nvSpPr>
          <p:cNvPr id="3" name="TextBox 2"/>
          <p:cNvSpPr txBox="1"/>
          <p:nvPr/>
        </p:nvSpPr>
        <p:spPr>
          <a:xfrm>
            <a:off x="438912" y="667512"/>
            <a:ext cx="10881360" cy="256032"/>
          </a:xfrm>
          <a:prstGeom prst="rect">
            <a:avLst/>
          </a:prstGeom>
          <a:noFill/>
        </p:spPr>
        <p:txBody>
          <a:bodyPr wrap="square">
            <a:normAutofit/>
          </a:bodyPr>
          <a:lstStyle/>
          <a:p>
            <a:r>
              <a:rPr sz="800" b="0">
                <a:solidFill>
                  <a:srgbClr val="55606E"/>
                </a:solidFill>
                <a:latin typeface="Aptos"/>
              </a:rPr>
              <a:t>3/20 | CT_CTDOT_Resilience_Improvement_Plan.pdf</a:t>
            </a:r>
          </a:p>
        </p:txBody>
      </p:sp>
      <p:sp>
        <p:nvSpPr>
          <p:cNvPr id="4" name="Rectangle 3"/>
          <p:cNvSpPr/>
          <p:nvPr/>
        </p:nvSpPr>
        <p:spPr>
          <a:xfrm>
            <a:off x="411480" y="969264"/>
            <a:ext cx="11384280" cy="18288"/>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11480" y="1170432"/>
            <a:ext cx="3337560" cy="2057400"/>
          </a:xfrm>
          <a:prstGeom prst="roundRect">
            <a:avLst/>
          </a:prstGeom>
          <a:solidFill>
            <a:srgbClr val="FAFBFC"/>
          </a:solidFill>
          <a:ln w="9525">
            <a:solidFill>
              <a:srgbClr val="D2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2648" y="1325880"/>
            <a:ext cx="2926080" cy="228600"/>
          </a:xfrm>
          <a:prstGeom prst="rect">
            <a:avLst/>
          </a:prstGeom>
          <a:noFill/>
        </p:spPr>
        <p:txBody>
          <a:bodyPr wrap="square">
            <a:normAutofit/>
          </a:bodyPr>
          <a:lstStyle/>
          <a:p>
            <a:r>
              <a:rPr sz="1100" b="1">
                <a:solidFill>
                  <a:srgbClr val="1F6FEB"/>
                </a:solidFill>
                <a:latin typeface="Aptos"/>
              </a:rPr>
              <a:t>Resilience definition - summary</a:t>
            </a:r>
          </a:p>
        </p:txBody>
      </p:sp>
      <p:sp>
        <p:nvSpPr>
          <p:cNvPr id="7" name="TextBox 6"/>
          <p:cNvSpPr txBox="1"/>
          <p:nvPr/>
        </p:nvSpPr>
        <p:spPr>
          <a:xfrm>
            <a:off x="612648" y="1627632"/>
            <a:ext cx="2880360" cy="1234440"/>
          </a:xfrm>
          <a:prstGeom prst="rect">
            <a:avLst/>
          </a:prstGeom>
          <a:noFill/>
        </p:spPr>
        <p:txBody>
          <a:bodyPr wrap="square">
            <a:normAutofit/>
          </a:bodyPr>
          <a:lstStyle/>
          <a:p>
            <a:r>
              <a:rPr sz="1000" b="0">
                <a:solidFill>
                  <a:srgbClr val="232B37"/>
                </a:solidFill>
                <a:latin typeface="Aptos"/>
              </a:rPr>
              <a:t>Resilience The ability to anticipate, prepare for, and adapt to changing conditions and</a:t>
            </a:r>
          </a:p>
        </p:txBody>
      </p:sp>
      <p:sp>
        <p:nvSpPr>
          <p:cNvPr id="8" name="TextBox 7"/>
          <p:cNvSpPr txBox="1"/>
          <p:nvPr/>
        </p:nvSpPr>
        <p:spPr>
          <a:xfrm>
            <a:off x="612648" y="3017520"/>
            <a:ext cx="2880360" cy="228600"/>
          </a:xfrm>
          <a:prstGeom prst="rect">
            <a:avLst/>
          </a:prstGeom>
          <a:noFill/>
        </p:spPr>
        <p:txBody>
          <a:bodyPr wrap="square">
            <a:normAutofit/>
          </a:bodyPr>
          <a:lstStyle/>
          <a:p>
            <a:r>
              <a:rPr sz="800" b="0">
                <a:solidFill>
                  <a:srgbClr val="55606E"/>
                </a:solidFill>
                <a:latin typeface="Aptos"/>
              </a:rPr>
              <a:t>Source page: p. 6</a:t>
            </a:r>
          </a:p>
        </p:txBody>
      </p:sp>
      <p:sp>
        <p:nvSpPr>
          <p:cNvPr id="9" name="Rounded Rectangle 8"/>
          <p:cNvSpPr/>
          <p:nvPr/>
        </p:nvSpPr>
        <p:spPr>
          <a:xfrm>
            <a:off x="411480" y="3520440"/>
            <a:ext cx="3337560" cy="2240280"/>
          </a:xfrm>
          <a:prstGeom prst="roundRect">
            <a:avLst/>
          </a:prstGeom>
          <a:solidFill>
            <a:srgbClr val="FAFBFC"/>
          </a:solidFill>
          <a:ln w="9525">
            <a:solidFill>
              <a:srgbClr val="D2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2648" y="3675887"/>
            <a:ext cx="2926080" cy="228600"/>
          </a:xfrm>
          <a:prstGeom prst="rect">
            <a:avLst/>
          </a:prstGeom>
          <a:noFill/>
        </p:spPr>
        <p:txBody>
          <a:bodyPr wrap="square">
            <a:normAutofit/>
          </a:bodyPr>
          <a:lstStyle/>
          <a:p>
            <a:r>
              <a:rPr sz="1100" b="1">
                <a:solidFill>
                  <a:srgbClr val="1F6FEB"/>
                </a:solidFill>
                <a:latin typeface="Aptos"/>
              </a:rPr>
              <a:t>Risk scoring - summary</a:t>
            </a:r>
          </a:p>
        </p:txBody>
      </p:sp>
      <p:sp>
        <p:nvSpPr>
          <p:cNvPr id="11" name="TextBox 10"/>
          <p:cNvSpPr txBox="1"/>
          <p:nvPr/>
        </p:nvSpPr>
        <p:spPr>
          <a:xfrm>
            <a:off x="612648" y="3977639"/>
            <a:ext cx="2880360" cy="1143000"/>
          </a:xfrm>
          <a:prstGeom prst="rect">
            <a:avLst/>
          </a:prstGeom>
          <a:noFill/>
        </p:spPr>
        <p:txBody>
          <a:bodyPr wrap="square">
            <a:normAutofit/>
          </a:bodyPr>
          <a:lstStyle/>
          <a:p>
            <a:r>
              <a:rPr sz="1000" b="0">
                <a:solidFill>
                  <a:srgbClr val="232B37"/>
                </a:solidFill>
                <a:latin typeface="Aptos"/>
              </a:rPr>
              <a:t>score/rating / ??????: ?????? exposure/???, sensitivity/???, adaptive capacity/????, vulnerability/????</a:t>
            </a:r>
          </a:p>
        </p:txBody>
      </p:sp>
      <p:sp>
        <p:nvSpPr>
          <p:cNvPr id="12" name="TextBox 11"/>
          <p:cNvSpPr txBox="1"/>
          <p:nvPr/>
        </p:nvSpPr>
        <p:spPr>
          <a:xfrm>
            <a:off x="612648" y="5340096"/>
            <a:ext cx="2880360" cy="228600"/>
          </a:xfrm>
          <a:prstGeom prst="rect">
            <a:avLst/>
          </a:prstGeom>
          <a:noFill/>
        </p:spPr>
        <p:txBody>
          <a:bodyPr wrap="square">
            <a:normAutofit/>
          </a:bodyPr>
          <a:lstStyle/>
          <a:p>
            <a:r>
              <a:rPr sz="800" b="0">
                <a:solidFill>
                  <a:srgbClr val="55606E"/>
                </a:solidFill>
                <a:latin typeface="Aptos"/>
              </a:rPr>
              <a:t>Source page: p. 59</a:t>
            </a:r>
          </a:p>
        </p:txBody>
      </p:sp>
      <p:sp>
        <p:nvSpPr>
          <p:cNvPr id="13" name="TextBox 12"/>
          <p:cNvSpPr txBox="1"/>
          <p:nvPr/>
        </p:nvSpPr>
        <p:spPr>
          <a:xfrm>
            <a:off x="3977639" y="1115568"/>
            <a:ext cx="3383280" cy="201168"/>
          </a:xfrm>
          <a:prstGeom prst="rect">
            <a:avLst/>
          </a:prstGeom>
          <a:noFill/>
        </p:spPr>
        <p:txBody>
          <a:bodyPr wrap="square">
            <a:normAutofit/>
          </a:bodyPr>
          <a:lstStyle/>
          <a:p>
            <a:r>
              <a:rPr sz="900" b="1">
                <a:solidFill>
                  <a:srgbClr val="12202F"/>
                </a:solidFill>
                <a:latin typeface="Aptos"/>
              </a:rPr>
              <a:t>Original excerpt: definition</a:t>
            </a:r>
          </a:p>
        </p:txBody>
      </p:sp>
      <p:pic>
        <p:nvPicPr>
          <p:cNvPr id="14" name="Picture 13" descr="CT_CTDOT_Resilience_Improvement_Plan_definition.png"/>
          <p:cNvPicPr>
            <a:picLocks noChangeAspect="1"/>
          </p:cNvPicPr>
          <p:nvPr/>
        </p:nvPicPr>
        <p:blipFill>
          <a:blip r:embed="rId2"/>
          <a:stretch>
            <a:fillRect/>
          </a:stretch>
        </p:blipFill>
        <p:spPr>
          <a:xfrm>
            <a:off x="3977639" y="1470072"/>
            <a:ext cx="7726679" cy="1732439"/>
          </a:xfrm>
          <a:prstGeom prst="rect">
            <a:avLst/>
          </a:prstGeom>
        </p:spPr>
      </p:pic>
      <p:sp>
        <p:nvSpPr>
          <p:cNvPr id="15" name="TextBox 14"/>
          <p:cNvSpPr txBox="1"/>
          <p:nvPr/>
        </p:nvSpPr>
        <p:spPr>
          <a:xfrm>
            <a:off x="3977639" y="3456432"/>
            <a:ext cx="3383280" cy="201168"/>
          </a:xfrm>
          <a:prstGeom prst="rect">
            <a:avLst/>
          </a:prstGeom>
          <a:noFill/>
        </p:spPr>
        <p:txBody>
          <a:bodyPr wrap="square">
            <a:normAutofit/>
          </a:bodyPr>
          <a:lstStyle/>
          <a:p>
            <a:r>
              <a:rPr sz="900" b="1">
                <a:solidFill>
                  <a:srgbClr val="12202F"/>
                </a:solidFill>
                <a:latin typeface="Aptos"/>
              </a:rPr>
              <a:t>Original excerpt: risk scoring / assessment</a:t>
            </a:r>
          </a:p>
        </p:txBody>
      </p:sp>
      <p:pic>
        <p:nvPicPr>
          <p:cNvPr id="16" name="Picture 15" descr="CT_CTDOT_Resilience_Improvement_Plan_risk.png"/>
          <p:cNvPicPr>
            <a:picLocks noChangeAspect="1"/>
          </p:cNvPicPr>
          <p:nvPr/>
        </p:nvPicPr>
        <p:blipFill>
          <a:blip r:embed="rId3"/>
          <a:stretch>
            <a:fillRect/>
          </a:stretch>
        </p:blipFill>
        <p:spPr>
          <a:xfrm>
            <a:off x="5035649" y="3703320"/>
            <a:ext cx="5610661" cy="1965960"/>
          </a:xfrm>
          <a:prstGeom prst="rect">
            <a:avLst/>
          </a:prstGeom>
        </p:spPr>
      </p:pic>
      <p:sp>
        <p:nvSpPr>
          <p:cNvPr id="17" name="TextBox 16"/>
          <p:cNvSpPr txBox="1"/>
          <p:nvPr/>
        </p:nvSpPr>
        <p:spPr>
          <a:xfrm>
            <a:off x="411480" y="6327648"/>
            <a:ext cx="11201400" cy="228600"/>
          </a:xfrm>
          <a:prstGeom prst="rect">
            <a:avLst/>
          </a:prstGeom>
          <a:noFill/>
        </p:spPr>
        <p:txBody>
          <a:bodyPr wrap="square">
            <a:normAutofit/>
          </a:bodyPr>
          <a:lstStyle/>
          <a:p>
            <a:r>
              <a:rPr sz="600" b="0">
                <a:solidFill>
                  <a:srgbClr val="55606E"/>
                </a:solidFill>
                <a:latin typeface="Aptos"/>
              </a:rPr>
              <a:t>Source: CT_CTDOT_Resilience_Improvement_Plan.pdf; definition p.6, risk p.59; URL: https://portal.ct.gov/dot/-/media/dot/programs/rip/ctdot-resilience-improvement-plan.pdf</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28600"/>
            <a:ext cx="8961120" cy="411480"/>
          </a:xfrm>
          <a:prstGeom prst="rect">
            <a:avLst/>
          </a:prstGeom>
          <a:noFill/>
        </p:spPr>
        <p:txBody>
          <a:bodyPr wrap="square">
            <a:normAutofit/>
          </a:bodyPr>
          <a:lstStyle/>
          <a:p>
            <a:r>
              <a:rPr sz="2200" b="1">
                <a:solidFill>
                  <a:srgbClr val="12202F"/>
                </a:solidFill>
                <a:latin typeface="Aptos"/>
              </a:rPr>
              <a:t>Delaware / DelDOT: definition and risk scoring</a:t>
            </a:r>
          </a:p>
        </p:txBody>
      </p:sp>
      <p:sp>
        <p:nvSpPr>
          <p:cNvPr id="3" name="TextBox 2"/>
          <p:cNvSpPr txBox="1"/>
          <p:nvPr/>
        </p:nvSpPr>
        <p:spPr>
          <a:xfrm>
            <a:off x="438912" y="667512"/>
            <a:ext cx="10881360" cy="256032"/>
          </a:xfrm>
          <a:prstGeom prst="rect">
            <a:avLst/>
          </a:prstGeom>
          <a:noFill/>
        </p:spPr>
        <p:txBody>
          <a:bodyPr wrap="square">
            <a:normAutofit/>
          </a:bodyPr>
          <a:lstStyle/>
          <a:p>
            <a:r>
              <a:rPr sz="800" b="0">
                <a:solidFill>
                  <a:srgbClr val="55606E"/>
                </a:solidFill>
                <a:latin typeface="Aptos"/>
              </a:rPr>
              <a:t>4/20 | DE_DelDOT_DRIP_FHWA_Approved_2023.pdf</a:t>
            </a:r>
          </a:p>
        </p:txBody>
      </p:sp>
      <p:sp>
        <p:nvSpPr>
          <p:cNvPr id="4" name="Rectangle 3"/>
          <p:cNvSpPr/>
          <p:nvPr/>
        </p:nvSpPr>
        <p:spPr>
          <a:xfrm>
            <a:off x="411480" y="969264"/>
            <a:ext cx="11384280" cy="18288"/>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11480" y="1170432"/>
            <a:ext cx="3337560" cy="2057400"/>
          </a:xfrm>
          <a:prstGeom prst="roundRect">
            <a:avLst/>
          </a:prstGeom>
          <a:solidFill>
            <a:srgbClr val="FAFBFC"/>
          </a:solidFill>
          <a:ln w="9525">
            <a:solidFill>
              <a:srgbClr val="D2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2648" y="1325880"/>
            <a:ext cx="2926080" cy="228600"/>
          </a:xfrm>
          <a:prstGeom prst="rect">
            <a:avLst/>
          </a:prstGeom>
          <a:noFill/>
        </p:spPr>
        <p:txBody>
          <a:bodyPr wrap="square">
            <a:normAutofit/>
          </a:bodyPr>
          <a:lstStyle/>
          <a:p>
            <a:r>
              <a:rPr sz="1100" b="1">
                <a:solidFill>
                  <a:srgbClr val="1F6FEB"/>
                </a:solidFill>
                <a:latin typeface="Aptos"/>
              </a:rPr>
              <a:t>Resilience definition - summary</a:t>
            </a:r>
          </a:p>
        </p:txBody>
      </p:sp>
      <p:sp>
        <p:nvSpPr>
          <p:cNvPr id="7" name="TextBox 6"/>
          <p:cNvSpPr txBox="1"/>
          <p:nvPr/>
        </p:nvSpPr>
        <p:spPr>
          <a:xfrm>
            <a:off x="612648" y="1627632"/>
            <a:ext cx="2880360" cy="1234440"/>
          </a:xfrm>
          <a:prstGeom prst="rect">
            <a:avLst/>
          </a:prstGeom>
          <a:noFill/>
        </p:spPr>
        <p:txBody>
          <a:bodyPr wrap="square">
            <a:normAutofit/>
          </a:bodyPr>
          <a:lstStyle/>
          <a:p>
            <a:r>
              <a:rPr sz="1000" b="0">
                <a:solidFill>
                  <a:srgbClr val="232B37"/>
                </a:solidFill>
                <a:latin typeface="Aptos"/>
              </a:rPr>
              <a:t>However, sound management of the assets on detour and emergency evacuation routes increases a highway system’s redundancy.” (FHWA, 2013) Resilience “Resilience or resiliency is the ability to anticipate, prepare for, and adapt to changing conditions and withstand, respond to, and recover rapidly from disruptions.” (FHWA, 2014)</a:t>
            </a:r>
          </a:p>
        </p:txBody>
      </p:sp>
      <p:sp>
        <p:nvSpPr>
          <p:cNvPr id="8" name="TextBox 7"/>
          <p:cNvSpPr txBox="1"/>
          <p:nvPr/>
        </p:nvSpPr>
        <p:spPr>
          <a:xfrm>
            <a:off x="612648" y="3017520"/>
            <a:ext cx="2880360" cy="228600"/>
          </a:xfrm>
          <a:prstGeom prst="rect">
            <a:avLst/>
          </a:prstGeom>
          <a:noFill/>
        </p:spPr>
        <p:txBody>
          <a:bodyPr wrap="square">
            <a:normAutofit/>
          </a:bodyPr>
          <a:lstStyle/>
          <a:p>
            <a:r>
              <a:rPr sz="800" b="0">
                <a:solidFill>
                  <a:srgbClr val="55606E"/>
                </a:solidFill>
                <a:latin typeface="Aptos"/>
              </a:rPr>
              <a:t>Source page: p. 40</a:t>
            </a:r>
          </a:p>
        </p:txBody>
      </p:sp>
      <p:sp>
        <p:nvSpPr>
          <p:cNvPr id="9" name="Rounded Rectangle 8"/>
          <p:cNvSpPr/>
          <p:nvPr/>
        </p:nvSpPr>
        <p:spPr>
          <a:xfrm>
            <a:off x="411480" y="3520440"/>
            <a:ext cx="3337560" cy="2240280"/>
          </a:xfrm>
          <a:prstGeom prst="roundRect">
            <a:avLst/>
          </a:prstGeom>
          <a:solidFill>
            <a:srgbClr val="FAFBFC"/>
          </a:solidFill>
          <a:ln w="9525">
            <a:solidFill>
              <a:srgbClr val="D2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2648" y="3675887"/>
            <a:ext cx="2926080" cy="228600"/>
          </a:xfrm>
          <a:prstGeom prst="rect">
            <a:avLst/>
          </a:prstGeom>
          <a:noFill/>
        </p:spPr>
        <p:txBody>
          <a:bodyPr wrap="square">
            <a:normAutofit/>
          </a:bodyPr>
          <a:lstStyle/>
          <a:p>
            <a:r>
              <a:rPr sz="1100" b="1">
                <a:solidFill>
                  <a:srgbClr val="1F6FEB"/>
                </a:solidFill>
                <a:latin typeface="Aptos"/>
              </a:rPr>
              <a:t>Risk scoring - summary</a:t>
            </a:r>
          </a:p>
        </p:txBody>
      </p:sp>
      <p:sp>
        <p:nvSpPr>
          <p:cNvPr id="11" name="TextBox 10"/>
          <p:cNvSpPr txBox="1"/>
          <p:nvPr/>
        </p:nvSpPr>
        <p:spPr>
          <a:xfrm>
            <a:off x="612648" y="3977639"/>
            <a:ext cx="2880360" cy="1143000"/>
          </a:xfrm>
          <a:prstGeom prst="rect">
            <a:avLst/>
          </a:prstGeom>
          <a:noFill/>
        </p:spPr>
        <p:txBody>
          <a:bodyPr wrap="square">
            <a:normAutofit/>
          </a:bodyPr>
          <a:lstStyle/>
          <a:p>
            <a:r>
              <a:rPr sz="1000" b="0">
                <a:solidFill>
                  <a:srgbClr val="232B37"/>
                </a:solidFill>
                <a:latin typeface="Aptos"/>
              </a:rPr>
              <a:t>risk-based assessment / ??????: ?????? probability/??, consequence/severity/?????, criticality/????</a:t>
            </a:r>
          </a:p>
        </p:txBody>
      </p:sp>
      <p:sp>
        <p:nvSpPr>
          <p:cNvPr id="12" name="TextBox 11"/>
          <p:cNvSpPr txBox="1"/>
          <p:nvPr/>
        </p:nvSpPr>
        <p:spPr>
          <a:xfrm>
            <a:off x="612648" y="5340096"/>
            <a:ext cx="2880360" cy="228600"/>
          </a:xfrm>
          <a:prstGeom prst="rect">
            <a:avLst/>
          </a:prstGeom>
          <a:noFill/>
        </p:spPr>
        <p:txBody>
          <a:bodyPr wrap="square">
            <a:normAutofit/>
          </a:bodyPr>
          <a:lstStyle/>
          <a:p>
            <a:r>
              <a:rPr sz="800" b="0">
                <a:solidFill>
                  <a:srgbClr val="55606E"/>
                </a:solidFill>
                <a:latin typeface="Aptos"/>
              </a:rPr>
              <a:t>Source page: p. 38</a:t>
            </a:r>
          </a:p>
        </p:txBody>
      </p:sp>
      <p:sp>
        <p:nvSpPr>
          <p:cNvPr id="13" name="TextBox 12"/>
          <p:cNvSpPr txBox="1"/>
          <p:nvPr/>
        </p:nvSpPr>
        <p:spPr>
          <a:xfrm>
            <a:off x="3977639" y="1115568"/>
            <a:ext cx="3383280" cy="201168"/>
          </a:xfrm>
          <a:prstGeom prst="rect">
            <a:avLst/>
          </a:prstGeom>
          <a:noFill/>
        </p:spPr>
        <p:txBody>
          <a:bodyPr wrap="square">
            <a:normAutofit/>
          </a:bodyPr>
          <a:lstStyle/>
          <a:p>
            <a:r>
              <a:rPr sz="900" b="1">
                <a:solidFill>
                  <a:srgbClr val="12202F"/>
                </a:solidFill>
                <a:latin typeface="Aptos"/>
              </a:rPr>
              <a:t>Original excerpt: definition</a:t>
            </a:r>
          </a:p>
        </p:txBody>
      </p:sp>
      <p:pic>
        <p:nvPicPr>
          <p:cNvPr id="14" name="Picture 13" descr="DE_DelDOT_DRIP_FHWA_Approved_2023_definition.png"/>
          <p:cNvPicPr>
            <a:picLocks noChangeAspect="1"/>
          </p:cNvPicPr>
          <p:nvPr/>
        </p:nvPicPr>
        <p:blipFill>
          <a:blip r:embed="rId2"/>
          <a:stretch>
            <a:fillRect/>
          </a:stretch>
        </p:blipFill>
        <p:spPr>
          <a:xfrm>
            <a:off x="7200067" y="1353312"/>
            <a:ext cx="1281825" cy="1965960"/>
          </a:xfrm>
          <a:prstGeom prst="rect">
            <a:avLst/>
          </a:prstGeom>
        </p:spPr>
      </p:pic>
      <p:sp>
        <p:nvSpPr>
          <p:cNvPr id="15" name="TextBox 14"/>
          <p:cNvSpPr txBox="1"/>
          <p:nvPr/>
        </p:nvSpPr>
        <p:spPr>
          <a:xfrm>
            <a:off x="3977639" y="3456432"/>
            <a:ext cx="3383280" cy="201168"/>
          </a:xfrm>
          <a:prstGeom prst="rect">
            <a:avLst/>
          </a:prstGeom>
          <a:noFill/>
        </p:spPr>
        <p:txBody>
          <a:bodyPr wrap="square">
            <a:normAutofit/>
          </a:bodyPr>
          <a:lstStyle/>
          <a:p>
            <a:r>
              <a:rPr sz="900" b="1">
                <a:solidFill>
                  <a:srgbClr val="12202F"/>
                </a:solidFill>
                <a:latin typeface="Aptos"/>
              </a:rPr>
              <a:t>Original excerpt: risk scoring / assessment</a:t>
            </a:r>
          </a:p>
        </p:txBody>
      </p:sp>
      <p:pic>
        <p:nvPicPr>
          <p:cNvPr id="16" name="Picture 15" descr="DE_DelDOT_DRIP_FHWA_Approved_2023_risk.png"/>
          <p:cNvPicPr>
            <a:picLocks noChangeAspect="1"/>
          </p:cNvPicPr>
          <p:nvPr/>
        </p:nvPicPr>
        <p:blipFill>
          <a:blip r:embed="rId3"/>
          <a:stretch>
            <a:fillRect/>
          </a:stretch>
        </p:blipFill>
        <p:spPr>
          <a:xfrm>
            <a:off x="7139720" y="3703320"/>
            <a:ext cx="1402519" cy="1965960"/>
          </a:xfrm>
          <a:prstGeom prst="rect">
            <a:avLst/>
          </a:prstGeom>
        </p:spPr>
      </p:pic>
      <p:sp>
        <p:nvSpPr>
          <p:cNvPr id="17" name="TextBox 16"/>
          <p:cNvSpPr txBox="1"/>
          <p:nvPr/>
        </p:nvSpPr>
        <p:spPr>
          <a:xfrm>
            <a:off x="411480" y="6327648"/>
            <a:ext cx="11201400" cy="228600"/>
          </a:xfrm>
          <a:prstGeom prst="rect">
            <a:avLst/>
          </a:prstGeom>
          <a:noFill/>
        </p:spPr>
        <p:txBody>
          <a:bodyPr wrap="square">
            <a:normAutofit/>
          </a:bodyPr>
          <a:lstStyle/>
          <a:p>
            <a:r>
              <a:rPr sz="600" b="0">
                <a:solidFill>
                  <a:srgbClr val="55606E"/>
                </a:solidFill>
                <a:latin typeface="Aptos"/>
              </a:rPr>
              <a:t>Source: DE_DelDOT_DRIP_FHWA_Approved_2023.pdf; definition p.40, risk p.38; URL: https://www.erm-portal.com/wp-content/uploads/sites/15/wpforms/7075-e1233af55e4247e91b2324b29a729bf8/DelDOT-DRIP-FHWA-Approved-09.07.23-a120b9904b5093d01726203eead2d3af.pdf</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28600"/>
            <a:ext cx="8961120" cy="411480"/>
          </a:xfrm>
          <a:prstGeom prst="rect">
            <a:avLst/>
          </a:prstGeom>
          <a:noFill/>
        </p:spPr>
        <p:txBody>
          <a:bodyPr wrap="square">
            <a:normAutofit/>
          </a:bodyPr>
          <a:lstStyle/>
          <a:p>
            <a:r>
              <a:rPr sz="2200" b="1">
                <a:solidFill>
                  <a:srgbClr val="12202F"/>
                </a:solidFill>
                <a:latin typeface="Aptos"/>
              </a:rPr>
              <a:t>Florida / FDOT: definition and risk scoring</a:t>
            </a:r>
          </a:p>
        </p:txBody>
      </p:sp>
      <p:sp>
        <p:nvSpPr>
          <p:cNvPr id="3" name="TextBox 2"/>
          <p:cNvSpPr txBox="1"/>
          <p:nvPr/>
        </p:nvSpPr>
        <p:spPr>
          <a:xfrm>
            <a:off x="438912" y="667512"/>
            <a:ext cx="10881360" cy="256032"/>
          </a:xfrm>
          <a:prstGeom prst="rect">
            <a:avLst/>
          </a:prstGeom>
          <a:noFill/>
        </p:spPr>
        <p:txBody>
          <a:bodyPr wrap="square">
            <a:normAutofit/>
          </a:bodyPr>
          <a:lstStyle/>
          <a:p>
            <a:r>
              <a:rPr sz="800" b="0">
                <a:solidFill>
                  <a:srgbClr val="55606E"/>
                </a:solidFill>
                <a:latin typeface="Aptos"/>
              </a:rPr>
              <a:t>5/20 | FL_FDOT_RIP_CEP_Final.pdf</a:t>
            </a:r>
          </a:p>
        </p:txBody>
      </p:sp>
      <p:sp>
        <p:nvSpPr>
          <p:cNvPr id="4" name="Rectangle 3"/>
          <p:cNvSpPr/>
          <p:nvPr/>
        </p:nvSpPr>
        <p:spPr>
          <a:xfrm>
            <a:off x="411480" y="969264"/>
            <a:ext cx="11384280" cy="18288"/>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11480" y="1170432"/>
            <a:ext cx="3337560" cy="2057400"/>
          </a:xfrm>
          <a:prstGeom prst="roundRect">
            <a:avLst/>
          </a:prstGeom>
          <a:solidFill>
            <a:srgbClr val="FAFBFC"/>
          </a:solidFill>
          <a:ln w="9525">
            <a:solidFill>
              <a:srgbClr val="D2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2648" y="1325880"/>
            <a:ext cx="2926080" cy="228600"/>
          </a:xfrm>
          <a:prstGeom prst="rect">
            <a:avLst/>
          </a:prstGeom>
          <a:noFill/>
        </p:spPr>
        <p:txBody>
          <a:bodyPr wrap="square">
            <a:normAutofit/>
          </a:bodyPr>
          <a:lstStyle/>
          <a:p>
            <a:r>
              <a:rPr sz="1100" b="1">
                <a:solidFill>
                  <a:srgbClr val="1F6FEB"/>
                </a:solidFill>
                <a:latin typeface="Aptos"/>
              </a:rPr>
              <a:t>Resilience definition - summary</a:t>
            </a:r>
          </a:p>
        </p:txBody>
      </p:sp>
      <p:sp>
        <p:nvSpPr>
          <p:cNvPr id="7" name="TextBox 6"/>
          <p:cNvSpPr txBox="1"/>
          <p:nvPr/>
        </p:nvSpPr>
        <p:spPr>
          <a:xfrm>
            <a:off x="612648" y="1627632"/>
            <a:ext cx="2880360" cy="1234440"/>
          </a:xfrm>
          <a:prstGeom prst="rect">
            <a:avLst/>
          </a:prstGeom>
          <a:noFill/>
        </p:spPr>
        <p:txBody>
          <a:bodyPr wrap="square">
            <a:normAutofit/>
          </a:bodyPr>
          <a:lstStyle/>
          <a:p>
            <a:r>
              <a:rPr sz="1000" b="0">
                <a:solidFill>
                  <a:srgbClr val="232B37"/>
                </a:solidFill>
                <a:latin typeface="Aptos"/>
              </a:rPr>
              <a:t>1 RESILIENCE IMPROVEMENT PLAN COMMUNITY ENGAGEMENT PLAN FOR FDOT OPP RESILIENCE ACTIVITIES This Community Engagement Plan (CEP) describes community engagement activities to be conducted for the development of resilience-related plans, projects, and other activities.</a:t>
            </a:r>
          </a:p>
        </p:txBody>
      </p:sp>
      <p:sp>
        <p:nvSpPr>
          <p:cNvPr id="8" name="TextBox 7"/>
          <p:cNvSpPr txBox="1"/>
          <p:nvPr/>
        </p:nvSpPr>
        <p:spPr>
          <a:xfrm>
            <a:off x="612648" y="3017520"/>
            <a:ext cx="2880360" cy="228600"/>
          </a:xfrm>
          <a:prstGeom prst="rect">
            <a:avLst/>
          </a:prstGeom>
          <a:noFill/>
        </p:spPr>
        <p:txBody>
          <a:bodyPr wrap="square">
            <a:normAutofit/>
          </a:bodyPr>
          <a:lstStyle/>
          <a:p>
            <a:r>
              <a:rPr sz="800" b="0">
                <a:solidFill>
                  <a:srgbClr val="55606E"/>
                </a:solidFill>
                <a:latin typeface="Aptos"/>
              </a:rPr>
              <a:t>Source page: p. 1</a:t>
            </a:r>
          </a:p>
        </p:txBody>
      </p:sp>
      <p:sp>
        <p:nvSpPr>
          <p:cNvPr id="9" name="Rounded Rectangle 8"/>
          <p:cNvSpPr/>
          <p:nvPr/>
        </p:nvSpPr>
        <p:spPr>
          <a:xfrm>
            <a:off x="411480" y="3520440"/>
            <a:ext cx="3337560" cy="2240280"/>
          </a:xfrm>
          <a:prstGeom prst="roundRect">
            <a:avLst/>
          </a:prstGeom>
          <a:solidFill>
            <a:srgbClr val="FAFBFC"/>
          </a:solidFill>
          <a:ln w="9525">
            <a:solidFill>
              <a:srgbClr val="D2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2648" y="3675887"/>
            <a:ext cx="2926080" cy="228600"/>
          </a:xfrm>
          <a:prstGeom prst="rect">
            <a:avLst/>
          </a:prstGeom>
          <a:noFill/>
        </p:spPr>
        <p:txBody>
          <a:bodyPr wrap="square">
            <a:normAutofit/>
          </a:bodyPr>
          <a:lstStyle/>
          <a:p>
            <a:r>
              <a:rPr sz="1100" b="1">
                <a:solidFill>
                  <a:srgbClr val="1F6FEB"/>
                </a:solidFill>
                <a:latin typeface="Aptos"/>
              </a:rPr>
              <a:t>Risk scoring - summary</a:t>
            </a:r>
          </a:p>
        </p:txBody>
      </p:sp>
      <p:sp>
        <p:nvSpPr>
          <p:cNvPr id="11" name="TextBox 10"/>
          <p:cNvSpPr txBox="1"/>
          <p:nvPr/>
        </p:nvSpPr>
        <p:spPr>
          <a:xfrm>
            <a:off x="612648" y="3977639"/>
            <a:ext cx="2880360" cy="1143000"/>
          </a:xfrm>
          <a:prstGeom prst="rect">
            <a:avLst/>
          </a:prstGeom>
          <a:noFill/>
        </p:spPr>
        <p:txBody>
          <a:bodyPr wrap="square">
            <a:normAutofit/>
          </a:bodyPr>
          <a:lstStyle/>
          <a:p>
            <a:r>
              <a:rPr sz="1000" b="0">
                <a:solidFill>
                  <a:srgbClr val="232B37"/>
                </a:solidFill>
                <a:latin typeface="Aptos"/>
              </a:rPr>
              <a:t>?????????????????????/????????????????</a:t>
            </a:r>
          </a:p>
        </p:txBody>
      </p:sp>
      <p:sp>
        <p:nvSpPr>
          <p:cNvPr id="12" name="TextBox 11"/>
          <p:cNvSpPr txBox="1"/>
          <p:nvPr/>
        </p:nvSpPr>
        <p:spPr>
          <a:xfrm>
            <a:off x="612648" y="5340096"/>
            <a:ext cx="2880360" cy="228600"/>
          </a:xfrm>
          <a:prstGeom prst="rect">
            <a:avLst/>
          </a:prstGeom>
          <a:noFill/>
        </p:spPr>
        <p:txBody>
          <a:bodyPr wrap="square">
            <a:normAutofit/>
          </a:bodyPr>
          <a:lstStyle/>
          <a:p>
            <a:r>
              <a:rPr sz="800" b="0">
                <a:solidFill>
                  <a:srgbClr val="55606E"/>
                </a:solidFill>
                <a:latin typeface="Aptos"/>
              </a:rPr>
              <a:t>Source page: p. 3</a:t>
            </a:r>
          </a:p>
        </p:txBody>
      </p:sp>
      <p:sp>
        <p:nvSpPr>
          <p:cNvPr id="13" name="TextBox 12"/>
          <p:cNvSpPr txBox="1"/>
          <p:nvPr/>
        </p:nvSpPr>
        <p:spPr>
          <a:xfrm>
            <a:off x="3977639" y="1115568"/>
            <a:ext cx="3383280" cy="201168"/>
          </a:xfrm>
          <a:prstGeom prst="rect">
            <a:avLst/>
          </a:prstGeom>
          <a:noFill/>
        </p:spPr>
        <p:txBody>
          <a:bodyPr wrap="square">
            <a:normAutofit/>
          </a:bodyPr>
          <a:lstStyle/>
          <a:p>
            <a:r>
              <a:rPr sz="900" b="1">
                <a:solidFill>
                  <a:srgbClr val="12202F"/>
                </a:solidFill>
                <a:latin typeface="Aptos"/>
              </a:rPr>
              <a:t>Original excerpt: definition</a:t>
            </a:r>
          </a:p>
        </p:txBody>
      </p:sp>
      <p:pic>
        <p:nvPicPr>
          <p:cNvPr id="14" name="Picture 13" descr="FL_FDOT_RIP_CEP_Final_definition.png"/>
          <p:cNvPicPr>
            <a:picLocks noChangeAspect="1"/>
          </p:cNvPicPr>
          <p:nvPr/>
        </p:nvPicPr>
        <p:blipFill>
          <a:blip r:embed="rId2"/>
          <a:stretch>
            <a:fillRect/>
          </a:stretch>
        </p:blipFill>
        <p:spPr>
          <a:xfrm>
            <a:off x="7081327" y="1353312"/>
            <a:ext cx="1519304" cy="1965960"/>
          </a:xfrm>
          <a:prstGeom prst="rect">
            <a:avLst/>
          </a:prstGeom>
        </p:spPr>
      </p:pic>
      <p:sp>
        <p:nvSpPr>
          <p:cNvPr id="15" name="TextBox 14"/>
          <p:cNvSpPr txBox="1"/>
          <p:nvPr/>
        </p:nvSpPr>
        <p:spPr>
          <a:xfrm>
            <a:off x="3977639" y="3456432"/>
            <a:ext cx="3383280" cy="201168"/>
          </a:xfrm>
          <a:prstGeom prst="rect">
            <a:avLst/>
          </a:prstGeom>
          <a:noFill/>
        </p:spPr>
        <p:txBody>
          <a:bodyPr wrap="square">
            <a:normAutofit/>
          </a:bodyPr>
          <a:lstStyle/>
          <a:p>
            <a:r>
              <a:rPr sz="900" b="1">
                <a:solidFill>
                  <a:srgbClr val="12202F"/>
                </a:solidFill>
                <a:latin typeface="Aptos"/>
              </a:rPr>
              <a:t>Original excerpt: risk scoring / assessment</a:t>
            </a:r>
          </a:p>
        </p:txBody>
      </p:sp>
      <p:pic>
        <p:nvPicPr>
          <p:cNvPr id="16" name="Picture 15" descr="FL_FDOT_RIP_CEP_Final_risk.png"/>
          <p:cNvPicPr>
            <a:picLocks noChangeAspect="1"/>
          </p:cNvPicPr>
          <p:nvPr/>
        </p:nvPicPr>
        <p:blipFill>
          <a:blip r:embed="rId3"/>
          <a:stretch>
            <a:fillRect/>
          </a:stretch>
        </p:blipFill>
        <p:spPr>
          <a:xfrm>
            <a:off x="3977639" y="3738366"/>
            <a:ext cx="7726679" cy="1895866"/>
          </a:xfrm>
          <a:prstGeom prst="rect">
            <a:avLst/>
          </a:prstGeom>
        </p:spPr>
      </p:pic>
      <p:sp>
        <p:nvSpPr>
          <p:cNvPr id="17" name="TextBox 16"/>
          <p:cNvSpPr txBox="1"/>
          <p:nvPr/>
        </p:nvSpPr>
        <p:spPr>
          <a:xfrm>
            <a:off x="411480" y="6327648"/>
            <a:ext cx="11201400" cy="228600"/>
          </a:xfrm>
          <a:prstGeom prst="rect">
            <a:avLst/>
          </a:prstGeom>
          <a:noFill/>
        </p:spPr>
        <p:txBody>
          <a:bodyPr wrap="square">
            <a:normAutofit/>
          </a:bodyPr>
          <a:lstStyle/>
          <a:p>
            <a:r>
              <a:rPr sz="600" b="0">
                <a:solidFill>
                  <a:srgbClr val="55606E"/>
                </a:solidFill>
                <a:latin typeface="Aptos"/>
              </a:rPr>
              <a:t>Source: FL_FDOT_RIP_CEP_Final.pdf; definition p.1, risk p.3; URL: https://fdotwww.blob.core.windows.net/sitefinity/docs/default-source/planning/resilience-(opp)/resilience-improvement-plan/rip_cep_final.pdf?sfvrsn=b8098df8_1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28600"/>
            <a:ext cx="8961120" cy="411480"/>
          </a:xfrm>
          <a:prstGeom prst="rect">
            <a:avLst/>
          </a:prstGeom>
          <a:noFill/>
        </p:spPr>
        <p:txBody>
          <a:bodyPr wrap="square">
            <a:normAutofit/>
          </a:bodyPr>
          <a:lstStyle/>
          <a:p>
            <a:r>
              <a:rPr sz="2200" b="1">
                <a:solidFill>
                  <a:srgbClr val="12202F"/>
                </a:solidFill>
                <a:latin typeface="Aptos"/>
              </a:rPr>
              <a:t>Iowa / Iowa DOT: definition and risk scoring</a:t>
            </a:r>
          </a:p>
        </p:txBody>
      </p:sp>
      <p:sp>
        <p:nvSpPr>
          <p:cNvPr id="3" name="TextBox 2"/>
          <p:cNvSpPr txBox="1"/>
          <p:nvPr/>
        </p:nvSpPr>
        <p:spPr>
          <a:xfrm>
            <a:off x="438912" y="667512"/>
            <a:ext cx="10881360" cy="256032"/>
          </a:xfrm>
          <a:prstGeom prst="rect">
            <a:avLst/>
          </a:prstGeom>
          <a:noFill/>
        </p:spPr>
        <p:txBody>
          <a:bodyPr wrap="square">
            <a:normAutofit/>
          </a:bodyPr>
          <a:lstStyle/>
          <a:p>
            <a:r>
              <a:rPr sz="800" b="0">
                <a:solidFill>
                  <a:srgbClr val="55606E"/>
                </a:solidFill>
                <a:latin typeface="Aptos"/>
              </a:rPr>
              <a:t>6/20 | IA_IowaDOT_2024_Resilience_Improvement_Plan.pdf</a:t>
            </a:r>
          </a:p>
        </p:txBody>
      </p:sp>
      <p:sp>
        <p:nvSpPr>
          <p:cNvPr id="4" name="Rectangle 3"/>
          <p:cNvSpPr/>
          <p:nvPr/>
        </p:nvSpPr>
        <p:spPr>
          <a:xfrm>
            <a:off x="411480" y="969264"/>
            <a:ext cx="11384280" cy="18288"/>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11480" y="1170432"/>
            <a:ext cx="3337560" cy="2057400"/>
          </a:xfrm>
          <a:prstGeom prst="roundRect">
            <a:avLst/>
          </a:prstGeom>
          <a:solidFill>
            <a:srgbClr val="FAFBFC"/>
          </a:solidFill>
          <a:ln w="9525">
            <a:solidFill>
              <a:srgbClr val="D2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2648" y="1325880"/>
            <a:ext cx="2926080" cy="228600"/>
          </a:xfrm>
          <a:prstGeom prst="rect">
            <a:avLst/>
          </a:prstGeom>
          <a:noFill/>
        </p:spPr>
        <p:txBody>
          <a:bodyPr wrap="square">
            <a:normAutofit/>
          </a:bodyPr>
          <a:lstStyle/>
          <a:p>
            <a:r>
              <a:rPr sz="1100" b="1">
                <a:solidFill>
                  <a:srgbClr val="1F6FEB"/>
                </a:solidFill>
                <a:latin typeface="Aptos"/>
              </a:rPr>
              <a:t>Resilience definition - summary</a:t>
            </a:r>
          </a:p>
        </p:txBody>
      </p:sp>
      <p:sp>
        <p:nvSpPr>
          <p:cNvPr id="7" name="TextBox 6"/>
          <p:cNvSpPr txBox="1"/>
          <p:nvPr/>
        </p:nvSpPr>
        <p:spPr>
          <a:xfrm>
            <a:off x="612648" y="1627632"/>
            <a:ext cx="2880360" cy="1234440"/>
          </a:xfrm>
          <a:prstGeom prst="rect">
            <a:avLst/>
          </a:prstGeom>
          <a:noFill/>
        </p:spPr>
        <p:txBody>
          <a:bodyPr wrap="square">
            <a:normAutofit/>
          </a:bodyPr>
          <a:lstStyle/>
          <a:p>
            <a:r>
              <a:rPr sz="1000" b="0">
                <a:solidFill>
                  <a:srgbClr val="232B37"/>
                </a:solidFill>
                <a:latin typeface="Aptos"/>
              </a:rPr>
              <a:t>The Iowa DOT defines resiliency as the ability to anticipate, prepare for, and adapt to changing conditions and withstand, respond to, and quickly recover from disruptions.</a:t>
            </a:r>
          </a:p>
        </p:txBody>
      </p:sp>
      <p:sp>
        <p:nvSpPr>
          <p:cNvPr id="8" name="TextBox 7"/>
          <p:cNvSpPr txBox="1"/>
          <p:nvPr/>
        </p:nvSpPr>
        <p:spPr>
          <a:xfrm>
            <a:off x="612648" y="3017520"/>
            <a:ext cx="2880360" cy="228600"/>
          </a:xfrm>
          <a:prstGeom prst="rect">
            <a:avLst/>
          </a:prstGeom>
          <a:noFill/>
        </p:spPr>
        <p:txBody>
          <a:bodyPr wrap="square">
            <a:normAutofit/>
          </a:bodyPr>
          <a:lstStyle/>
          <a:p>
            <a:r>
              <a:rPr sz="800" b="0">
                <a:solidFill>
                  <a:srgbClr val="55606E"/>
                </a:solidFill>
                <a:latin typeface="Aptos"/>
              </a:rPr>
              <a:t>Source page: p. 8</a:t>
            </a:r>
          </a:p>
        </p:txBody>
      </p:sp>
      <p:sp>
        <p:nvSpPr>
          <p:cNvPr id="9" name="Rounded Rectangle 8"/>
          <p:cNvSpPr/>
          <p:nvPr/>
        </p:nvSpPr>
        <p:spPr>
          <a:xfrm>
            <a:off x="411480" y="3520440"/>
            <a:ext cx="3337560" cy="2240280"/>
          </a:xfrm>
          <a:prstGeom prst="roundRect">
            <a:avLst/>
          </a:prstGeom>
          <a:solidFill>
            <a:srgbClr val="FAFBFC"/>
          </a:solidFill>
          <a:ln w="9525">
            <a:solidFill>
              <a:srgbClr val="D2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2648" y="3675887"/>
            <a:ext cx="2926080" cy="228600"/>
          </a:xfrm>
          <a:prstGeom prst="rect">
            <a:avLst/>
          </a:prstGeom>
          <a:noFill/>
        </p:spPr>
        <p:txBody>
          <a:bodyPr wrap="square">
            <a:normAutofit/>
          </a:bodyPr>
          <a:lstStyle/>
          <a:p>
            <a:r>
              <a:rPr sz="1100" b="1">
                <a:solidFill>
                  <a:srgbClr val="1F6FEB"/>
                </a:solidFill>
                <a:latin typeface="Aptos"/>
              </a:rPr>
              <a:t>Risk scoring - summary</a:t>
            </a:r>
          </a:p>
        </p:txBody>
      </p:sp>
      <p:sp>
        <p:nvSpPr>
          <p:cNvPr id="11" name="TextBox 10"/>
          <p:cNvSpPr txBox="1"/>
          <p:nvPr/>
        </p:nvSpPr>
        <p:spPr>
          <a:xfrm>
            <a:off x="612648" y="3977639"/>
            <a:ext cx="2880360" cy="1143000"/>
          </a:xfrm>
          <a:prstGeom prst="rect">
            <a:avLst/>
          </a:prstGeom>
          <a:noFill/>
        </p:spPr>
        <p:txBody>
          <a:bodyPr wrap="square">
            <a:normAutofit/>
          </a:bodyPr>
          <a:lstStyle/>
          <a:p>
            <a:r>
              <a:rPr sz="1000" b="0">
                <a:solidFill>
                  <a:srgbClr val="232B37"/>
                </a:solidFill>
                <a:latin typeface="Aptos"/>
              </a:rPr>
              <a:t>risk-based assessment / ??????: ?????? likelihood/?????, probability/??, consequence/severity/?????, vulnerability/????</a:t>
            </a:r>
          </a:p>
        </p:txBody>
      </p:sp>
      <p:sp>
        <p:nvSpPr>
          <p:cNvPr id="12" name="TextBox 11"/>
          <p:cNvSpPr txBox="1"/>
          <p:nvPr/>
        </p:nvSpPr>
        <p:spPr>
          <a:xfrm>
            <a:off x="612648" y="5340096"/>
            <a:ext cx="2880360" cy="228600"/>
          </a:xfrm>
          <a:prstGeom prst="rect">
            <a:avLst/>
          </a:prstGeom>
          <a:noFill/>
        </p:spPr>
        <p:txBody>
          <a:bodyPr wrap="square">
            <a:normAutofit/>
          </a:bodyPr>
          <a:lstStyle/>
          <a:p>
            <a:r>
              <a:rPr sz="800" b="0">
                <a:solidFill>
                  <a:srgbClr val="55606E"/>
                </a:solidFill>
                <a:latin typeface="Aptos"/>
              </a:rPr>
              <a:t>Source page: p. 38</a:t>
            </a:r>
          </a:p>
        </p:txBody>
      </p:sp>
      <p:sp>
        <p:nvSpPr>
          <p:cNvPr id="13" name="TextBox 12"/>
          <p:cNvSpPr txBox="1"/>
          <p:nvPr/>
        </p:nvSpPr>
        <p:spPr>
          <a:xfrm>
            <a:off x="3977639" y="1115568"/>
            <a:ext cx="3383280" cy="201168"/>
          </a:xfrm>
          <a:prstGeom prst="rect">
            <a:avLst/>
          </a:prstGeom>
          <a:noFill/>
        </p:spPr>
        <p:txBody>
          <a:bodyPr wrap="square">
            <a:normAutofit/>
          </a:bodyPr>
          <a:lstStyle/>
          <a:p>
            <a:r>
              <a:rPr sz="900" b="1">
                <a:solidFill>
                  <a:srgbClr val="12202F"/>
                </a:solidFill>
                <a:latin typeface="Aptos"/>
              </a:rPr>
              <a:t>Original excerpt: definition</a:t>
            </a:r>
          </a:p>
        </p:txBody>
      </p:sp>
      <p:pic>
        <p:nvPicPr>
          <p:cNvPr id="14" name="Picture 13" descr="IA_IowaDOT_2024_Resilience_Improvement_Plan_definition.png"/>
          <p:cNvPicPr>
            <a:picLocks noChangeAspect="1"/>
          </p:cNvPicPr>
          <p:nvPr/>
        </p:nvPicPr>
        <p:blipFill>
          <a:blip r:embed="rId2"/>
          <a:stretch>
            <a:fillRect/>
          </a:stretch>
        </p:blipFill>
        <p:spPr>
          <a:xfrm>
            <a:off x="4493052" y="1353312"/>
            <a:ext cx="6695854" cy="1965960"/>
          </a:xfrm>
          <a:prstGeom prst="rect">
            <a:avLst/>
          </a:prstGeom>
        </p:spPr>
      </p:pic>
      <p:sp>
        <p:nvSpPr>
          <p:cNvPr id="15" name="TextBox 14"/>
          <p:cNvSpPr txBox="1"/>
          <p:nvPr/>
        </p:nvSpPr>
        <p:spPr>
          <a:xfrm>
            <a:off x="3977639" y="3456432"/>
            <a:ext cx="3383280" cy="201168"/>
          </a:xfrm>
          <a:prstGeom prst="rect">
            <a:avLst/>
          </a:prstGeom>
          <a:noFill/>
        </p:spPr>
        <p:txBody>
          <a:bodyPr wrap="square">
            <a:normAutofit/>
          </a:bodyPr>
          <a:lstStyle/>
          <a:p>
            <a:r>
              <a:rPr sz="900" b="1">
                <a:solidFill>
                  <a:srgbClr val="12202F"/>
                </a:solidFill>
                <a:latin typeface="Aptos"/>
              </a:rPr>
              <a:t>Original excerpt: risk scoring / assessment</a:t>
            </a:r>
          </a:p>
        </p:txBody>
      </p:sp>
      <p:pic>
        <p:nvPicPr>
          <p:cNvPr id="16" name="Picture 15" descr="IA_IowaDOT_2024_Resilience_Improvement_Plan_risk.png"/>
          <p:cNvPicPr>
            <a:picLocks noChangeAspect="1"/>
          </p:cNvPicPr>
          <p:nvPr/>
        </p:nvPicPr>
        <p:blipFill>
          <a:blip r:embed="rId3"/>
          <a:stretch>
            <a:fillRect/>
          </a:stretch>
        </p:blipFill>
        <p:spPr>
          <a:xfrm>
            <a:off x="6928212" y="3703320"/>
            <a:ext cx="1825534" cy="1965960"/>
          </a:xfrm>
          <a:prstGeom prst="rect">
            <a:avLst/>
          </a:prstGeom>
        </p:spPr>
      </p:pic>
      <p:sp>
        <p:nvSpPr>
          <p:cNvPr id="17" name="TextBox 16"/>
          <p:cNvSpPr txBox="1"/>
          <p:nvPr/>
        </p:nvSpPr>
        <p:spPr>
          <a:xfrm>
            <a:off x="411480" y="6327648"/>
            <a:ext cx="11201400" cy="228600"/>
          </a:xfrm>
          <a:prstGeom prst="rect">
            <a:avLst/>
          </a:prstGeom>
          <a:noFill/>
        </p:spPr>
        <p:txBody>
          <a:bodyPr wrap="square">
            <a:normAutofit/>
          </a:bodyPr>
          <a:lstStyle/>
          <a:p>
            <a:r>
              <a:rPr sz="600" b="0">
                <a:solidFill>
                  <a:srgbClr val="55606E"/>
                </a:solidFill>
                <a:latin typeface="Aptos"/>
              </a:rPr>
              <a:t>Source: IA_IowaDOT_2024_Resilience_Improvement_Plan.pdf; definition p.8, risk p.38; URL: https://iowadot.gov/media/2596/download?inline=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28600"/>
            <a:ext cx="8961120" cy="411480"/>
          </a:xfrm>
          <a:prstGeom prst="rect">
            <a:avLst/>
          </a:prstGeom>
          <a:noFill/>
        </p:spPr>
        <p:txBody>
          <a:bodyPr wrap="square">
            <a:normAutofit/>
          </a:bodyPr>
          <a:lstStyle/>
          <a:p>
            <a:r>
              <a:rPr sz="2200" b="1">
                <a:solidFill>
                  <a:srgbClr val="12202F"/>
                </a:solidFill>
                <a:latin typeface="Aptos"/>
              </a:rPr>
              <a:t>Kentucky / KYTC: definition and risk scoring</a:t>
            </a:r>
          </a:p>
        </p:txBody>
      </p:sp>
      <p:sp>
        <p:nvSpPr>
          <p:cNvPr id="3" name="TextBox 2"/>
          <p:cNvSpPr txBox="1"/>
          <p:nvPr/>
        </p:nvSpPr>
        <p:spPr>
          <a:xfrm>
            <a:off x="438912" y="667512"/>
            <a:ext cx="10881360" cy="256032"/>
          </a:xfrm>
          <a:prstGeom prst="rect">
            <a:avLst/>
          </a:prstGeom>
          <a:noFill/>
        </p:spPr>
        <p:txBody>
          <a:bodyPr wrap="square">
            <a:normAutofit/>
          </a:bodyPr>
          <a:lstStyle/>
          <a:p>
            <a:r>
              <a:rPr sz="800" b="0">
                <a:solidFill>
                  <a:srgbClr val="55606E"/>
                </a:solidFill>
                <a:latin typeface="Aptos"/>
              </a:rPr>
              <a:t>7/20 | KY_KYTC_Resiliency_Improvement_Plan_2023.pdf</a:t>
            </a:r>
          </a:p>
        </p:txBody>
      </p:sp>
      <p:sp>
        <p:nvSpPr>
          <p:cNvPr id="4" name="Rectangle 3"/>
          <p:cNvSpPr/>
          <p:nvPr/>
        </p:nvSpPr>
        <p:spPr>
          <a:xfrm>
            <a:off x="411480" y="969264"/>
            <a:ext cx="11384280" cy="18288"/>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11480" y="1170432"/>
            <a:ext cx="3337560" cy="2057400"/>
          </a:xfrm>
          <a:prstGeom prst="roundRect">
            <a:avLst/>
          </a:prstGeom>
          <a:solidFill>
            <a:srgbClr val="FAFBFC"/>
          </a:solidFill>
          <a:ln w="9525">
            <a:solidFill>
              <a:srgbClr val="D2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2648" y="1325880"/>
            <a:ext cx="2926080" cy="228600"/>
          </a:xfrm>
          <a:prstGeom prst="rect">
            <a:avLst/>
          </a:prstGeom>
          <a:noFill/>
        </p:spPr>
        <p:txBody>
          <a:bodyPr wrap="square">
            <a:normAutofit/>
          </a:bodyPr>
          <a:lstStyle/>
          <a:p>
            <a:r>
              <a:rPr sz="1100" b="1">
                <a:solidFill>
                  <a:srgbClr val="1F6FEB"/>
                </a:solidFill>
                <a:latin typeface="Aptos"/>
              </a:rPr>
              <a:t>Resilience definition - summary</a:t>
            </a:r>
          </a:p>
        </p:txBody>
      </p:sp>
      <p:sp>
        <p:nvSpPr>
          <p:cNvPr id="7" name="TextBox 6"/>
          <p:cNvSpPr txBox="1"/>
          <p:nvPr/>
        </p:nvSpPr>
        <p:spPr>
          <a:xfrm>
            <a:off x="612648" y="1627632"/>
            <a:ext cx="2880360" cy="1234440"/>
          </a:xfrm>
          <a:prstGeom prst="rect">
            <a:avLst/>
          </a:prstGeom>
          <a:noFill/>
        </p:spPr>
        <p:txBody>
          <a:bodyPr wrap="square">
            <a:normAutofit/>
          </a:bodyPr>
          <a:lstStyle/>
          <a:p>
            <a:r>
              <a:rPr sz="1000" b="0">
                <a:solidFill>
                  <a:srgbClr val="232B37"/>
                </a:solidFill>
                <a:latin typeface="Aptos"/>
              </a:rPr>
              <a:t>Transportation resilience, defined by the Federal Highway Administration (FHWA) as the ability to anticipate, prepare for, and adapt to changing conditions and withstand, respond to, and recover rapidly from disruptions, is an important component of KYTC’s mission.</a:t>
            </a:r>
          </a:p>
        </p:txBody>
      </p:sp>
      <p:sp>
        <p:nvSpPr>
          <p:cNvPr id="8" name="TextBox 7"/>
          <p:cNvSpPr txBox="1"/>
          <p:nvPr/>
        </p:nvSpPr>
        <p:spPr>
          <a:xfrm>
            <a:off x="612648" y="3017520"/>
            <a:ext cx="2880360" cy="228600"/>
          </a:xfrm>
          <a:prstGeom prst="rect">
            <a:avLst/>
          </a:prstGeom>
          <a:noFill/>
        </p:spPr>
        <p:txBody>
          <a:bodyPr wrap="square">
            <a:normAutofit/>
          </a:bodyPr>
          <a:lstStyle/>
          <a:p>
            <a:r>
              <a:rPr sz="800" b="0">
                <a:solidFill>
                  <a:srgbClr val="55606E"/>
                </a:solidFill>
                <a:latin typeface="Aptos"/>
              </a:rPr>
              <a:t>Source page: p. 3</a:t>
            </a:r>
          </a:p>
        </p:txBody>
      </p:sp>
      <p:sp>
        <p:nvSpPr>
          <p:cNvPr id="9" name="Rounded Rectangle 8"/>
          <p:cNvSpPr/>
          <p:nvPr/>
        </p:nvSpPr>
        <p:spPr>
          <a:xfrm>
            <a:off x="411480" y="3520440"/>
            <a:ext cx="3337560" cy="2240280"/>
          </a:xfrm>
          <a:prstGeom prst="roundRect">
            <a:avLst/>
          </a:prstGeom>
          <a:solidFill>
            <a:srgbClr val="FAFBFC"/>
          </a:solidFill>
          <a:ln w="9525">
            <a:solidFill>
              <a:srgbClr val="D2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2648" y="3675887"/>
            <a:ext cx="2926080" cy="228600"/>
          </a:xfrm>
          <a:prstGeom prst="rect">
            <a:avLst/>
          </a:prstGeom>
          <a:noFill/>
        </p:spPr>
        <p:txBody>
          <a:bodyPr wrap="square">
            <a:normAutofit/>
          </a:bodyPr>
          <a:lstStyle/>
          <a:p>
            <a:r>
              <a:rPr sz="1100" b="1">
                <a:solidFill>
                  <a:srgbClr val="1F6FEB"/>
                </a:solidFill>
                <a:latin typeface="Aptos"/>
              </a:rPr>
              <a:t>Risk scoring - summary</a:t>
            </a:r>
          </a:p>
        </p:txBody>
      </p:sp>
      <p:sp>
        <p:nvSpPr>
          <p:cNvPr id="11" name="TextBox 10"/>
          <p:cNvSpPr txBox="1"/>
          <p:nvPr/>
        </p:nvSpPr>
        <p:spPr>
          <a:xfrm>
            <a:off x="612648" y="3977639"/>
            <a:ext cx="2880360" cy="1143000"/>
          </a:xfrm>
          <a:prstGeom prst="rect">
            <a:avLst/>
          </a:prstGeom>
          <a:noFill/>
        </p:spPr>
        <p:txBody>
          <a:bodyPr wrap="square">
            <a:normAutofit/>
          </a:bodyPr>
          <a:lstStyle/>
          <a:p>
            <a:r>
              <a:rPr sz="1000" b="0">
                <a:solidFill>
                  <a:srgbClr val="232B37"/>
                </a:solidFill>
                <a:latin typeface="Aptos"/>
              </a:rPr>
              <a:t>score/rating / ??????: ?????? exposure/???, sensitivity/???, adaptive capacity/????, criticality/???, vulnerability/????</a:t>
            </a:r>
          </a:p>
        </p:txBody>
      </p:sp>
      <p:sp>
        <p:nvSpPr>
          <p:cNvPr id="12" name="TextBox 11"/>
          <p:cNvSpPr txBox="1"/>
          <p:nvPr/>
        </p:nvSpPr>
        <p:spPr>
          <a:xfrm>
            <a:off x="612648" y="5340096"/>
            <a:ext cx="2880360" cy="228600"/>
          </a:xfrm>
          <a:prstGeom prst="rect">
            <a:avLst/>
          </a:prstGeom>
          <a:noFill/>
        </p:spPr>
        <p:txBody>
          <a:bodyPr wrap="square">
            <a:normAutofit/>
          </a:bodyPr>
          <a:lstStyle/>
          <a:p>
            <a:r>
              <a:rPr sz="800" b="0">
                <a:solidFill>
                  <a:srgbClr val="55606E"/>
                </a:solidFill>
                <a:latin typeface="Aptos"/>
              </a:rPr>
              <a:t>Source page: p. 53</a:t>
            </a:r>
          </a:p>
        </p:txBody>
      </p:sp>
      <p:sp>
        <p:nvSpPr>
          <p:cNvPr id="13" name="TextBox 12"/>
          <p:cNvSpPr txBox="1"/>
          <p:nvPr/>
        </p:nvSpPr>
        <p:spPr>
          <a:xfrm>
            <a:off x="3977639" y="1115568"/>
            <a:ext cx="3383280" cy="201168"/>
          </a:xfrm>
          <a:prstGeom prst="rect">
            <a:avLst/>
          </a:prstGeom>
          <a:noFill/>
        </p:spPr>
        <p:txBody>
          <a:bodyPr wrap="square">
            <a:normAutofit/>
          </a:bodyPr>
          <a:lstStyle/>
          <a:p>
            <a:r>
              <a:rPr sz="900" b="1">
                <a:solidFill>
                  <a:srgbClr val="12202F"/>
                </a:solidFill>
                <a:latin typeface="Aptos"/>
              </a:rPr>
              <a:t>Original excerpt: definition</a:t>
            </a:r>
          </a:p>
        </p:txBody>
      </p:sp>
      <p:pic>
        <p:nvPicPr>
          <p:cNvPr id="14" name="Picture 13" descr="KY_KYTC_Resiliency_Improvement_Plan_2023_definition.png"/>
          <p:cNvPicPr>
            <a:picLocks noChangeAspect="1"/>
          </p:cNvPicPr>
          <p:nvPr/>
        </p:nvPicPr>
        <p:blipFill>
          <a:blip r:embed="rId2"/>
          <a:stretch>
            <a:fillRect/>
          </a:stretch>
        </p:blipFill>
        <p:spPr>
          <a:xfrm>
            <a:off x="5548849" y="1353312"/>
            <a:ext cx="4584261" cy="1965960"/>
          </a:xfrm>
          <a:prstGeom prst="rect">
            <a:avLst/>
          </a:prstGeom>
        </p:spPr>
      </p:pic>
      <p:sp>
        <p:nvSpPr>
          <p:cNvPr id="15" name="TextBox 14"/>
          <p:cNvSpPr txBox="1"/>
          <p:nvPr/>
        </p:nvSpPr>
        <p:spPr>
          <a:xfrm>
            <a:off x="3977639" y="3456432"/>
            <a:ext cx="3383280" cy="201168"/>
          </a:xfrm>
          <a:prstGeom prst="rect">
            <a:avLst/>
          </a:prstGeom>
          <a:noFill/>
        </p:spPr>
        <p:txBody>
          <a:bodyPr wrap="square">
            <a:normAutofit/>
          </a:bodyPr>
          <a:lstStyle/>
          <a:p>
            <a:r>
              <a:rPr sz="900" b="1">
                <a:solidFill>
                  <a:srgbClr val="12202F"/>
                </a:solidFill>
                <a:latin typeface="Aptos"/>
              </a:rPr>
              <a:t>Original excerpt: risk scoring / assessment</a:t>
            </a:r>
          </a:p>
        </p:txBody>
      </p:sp>
      <p:pic>
        <p:nvPicPr>
          <p:cNvPr id="16" name="Picture 15" descr="KY_KYTC_Resiliency_Improvement_Plan_2023_risk.png"/>
          <p:cNvPicPr>
            <a:picLocks noChangeAspect="1"/>
          </p:cNvPicPr>
          <p:nvPr/>
        </p:nvPicPr>
        <p:blipFill>
          <a:blip r:embed="rId3"/>
          <a:stretch>
            <a:fillRect/>
          </a:stretch>
        </p:blipFill>
        <p:spPr>
          <a:xfrm>
            <a:off x="6949159" y="3703320"/>
            <a:ext cx="1783639" cy="1965960"/>
          </a:xfrm>
          <a:prstGeom prst="rect">
            <a:avLst/>
          </a:prstGeom>
        </p:spPr>
      </p:pic>
      <p:sp>
        <p:nvSpPr>
          <p:cNvPr id="17" name="TextBox 16"/>
          <p:cNvSpPr txBox="1"/>
          <p:nvPr/>
        </p:nvSpPr>
        <p:spPr>
          <a:xfrm>
            <a:off x="411480" y="6327648"/>
            <a:ext cx="11201400" cy="228600"/>
          </a:xfrm>
          <a:prstGeom prst="rect">
            <a:avLst/>
          </a:prstGeom>
          <a:noFill/>
        </p:spPr>
        <p:txBody>
          <a:bodyPr wrap="square">
            <a:normAutofit/>
          </a:bodyPr>
          <a:lstStyle/>
          <a:p>
            <a:r>
              <a:rPr sz="600" b="0">
                <a:solidFill>
                  <a:srgbClr val="55606E"/>
                </a:solidFill>
                <a:latin typeface="Aptos"/>
              </a:rPr>
              <a:t>Source: KY_KYTC_Resiliency_Improvement_Plan_2023.pdf; definition p.3, risk p.53; URL: https://www.erm-portal.com/wp-content/uploads/sites/15/2024/08/KYTC-Resiliency-Improvement-Plan-202306-bfe355f2a24c9e7591e4146a5b7226e1.pdf</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28600"/>
            <a:ext cx="8961120" cy="411480"/>
          </a:xfrm>
          <a:prstGeom prst="rect">
            <a:avLst/>
          </a:prstGeom>
          <a:noFill/>
        </p:spPr>
        <p:txBody>
          <a:bodyPr wrap="square">
            <a:normAutofit/>
          </a:bodyPr>
          <a:lstStyle/>
          <a:p>
            <a:r>
              <a:rPr sz="2200" b="1">
                <a:solidFill>
                  <a:srgbClr val="12202F"/>
                </a:solidFill>
                <a:latin typeface="Aptos"/>
              </a:rPr>
              <a:t>Maryland / MDOT: definition and risk scoring</a:t>
            </a:r>
          </a:p>
        </p:txBody>
      </p:sp>
      <p:sp>
        <p:nvSpPr>
          <p:cNvPr id="3" name="TextBox 2"/>
          <p:cNvSpPr txBox="1"/>
          <p:nvPr/>
        </p:nvSpPr>
        <p:spPr>
          <a:xfrm>
            <a:off x="438912" y="667512"/>
            <a:ext cx="10881360" cy="256032"/>
          </a:xfrm>
          <a:prstGeom prst="rect">
            <a:avLst/>
          </a:prstGeom>
          <a:noFill/>
        </p:spPr>
        <p:txBody>
          <a:bodyPr wrap="square">
            <a:normAutofit/>
          </a:bodyPr>
          <a:lstStyle/>
          <a:p>
            <a:r>
              <a:rPr sz="800" b="0">
                <a:solidFill>
                  <a:srgbClr val="55606E"/>
                </a:solidFill>
                <a:latin typeface="Aptos"/>
              </a:rPr>
              <a:t>8/20 | MD_MDOT_Transportation_Resilience_Improvement_Plan_2024.pdf</a:t>
            </a:r>
          </a:p>
        </p:txBody>
      </p:sp>
      <p:sp>
        <p:nvSpPr>
          <p:cNvPr id="4" name="Rectangle 3"/>
          <p:cNvSpPr/>
          <p:nvPr/>
        </p:nvSpPr>
        <p:spPr>
          <a:xfrm>
            <a:off x="411480" y="969264"/>
            <a:ext cx="11384280" cy="18288"/>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11480" y="1170432"/>
            <a:ext cx="3337560" cy="2057400"/>
          </a:xfrm>
          <a:prstGeom prst="roundRect">
            <a:avLst/>
          </a:prstGeom>
          <a:solidFill>
            <a:srgbClr val="FAFBFC"/>
          </a:solidFill>
          <a:ln w="9525">
            <a:solidFill>
              <a:srgbClr val="D2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2648" y="1325880"/>
            <a:ext cx="2926080" cy="228600"/>
          </a:xfrm>
          <a:prstGeom prst="rect">
            <a:avLst/>
          </a:prstGeom>
          <a:noFill/>
        </p:spPr>
        <p:txBody>
          <a:bodyPr wrap="square">
            <a:normAutofit/>
          </a:bodyPr>
          <a:lstStyle/>
          <a:p>
            <a:r>
              <a:rPr sz="1100" b="1">
                <a:solidFill>
                  <a:srgbClr val="1F6FEB"/>
                </a:solidFill>
                <a:latin typeface="Aptos"/>
              </a:rPr>
              <a:t>Resilience definition - summary</a:t>
            </a:r>
          </a:p>
        </p:txBody>
      </p:sp>
      <p:sp>
        <p:nvSpPr>
          <p:cNvPr id="7" name="TextBox 6"/>
          <p:cNvSpPr txBox="1"/>
          <p:nvPr/>
        </p:nvSpPr>
        <p:spPr>
          <a:xfrm>
            <a:off x="612648" y="1627632"/>
            <a:ext cx="2880360" cy="1234440"/>
          </a:xfrm>
          <a:prstGeom prst="rect">
            <a:avLst/>
          </a:prstGeom>
          <a:noFill/>
        </p:spPr>
        <p:txBody>
          <a:bodyPr wrap="square">
            <a:normAutofit/>
          </a:bodyPr>
          <a:lstStyle/>
          <a:p>
            <a:r>
              <a:rPr sz="1000" b="0">
                <a:solidFill>
                  <a:srgbClr val="232B37"/>
                </a:solidFill>
                <a:latin typeface="Aptos"/>
              </a:rPr>
              <a:t>• Resilience Improvements: Improve the ability of existing surface transportation infrastructure to withstand extreme weather events and other natural hazards to support rapid recovery.</a:t>
            </a:r>
          </a:p>
        </p:txBody>
      </p:sp>
      <p:sp>
        <p:nvSpPr>
          <p:cNvPr id="8" name="TextBox 7"/>
          <p:cNvSpPr txBox="1"/>
          <p:nvPr/>
        </p:nvSpPr>
        <p:spPr>
          <a:xfrm>
            <a:off x="612648" y="3017520"/>
            <a:ext cx="2880360" cy="228600"/>
          </a:xfrm>
          <a:prstGeom prst="rect">
            <a:avLst/>
          </a:prstGeom>
          <a:noFill/>
        </p:spPr>
        <p:txBody>
          <a:bodyPr wrap="square">
            <a:normAutofit/>
          </a:bodyPr>
          <a:lstStyle/>
          <a:p>
            <a:r>
              <a:rPr sz="800" b="0">
                <a:solidFill>
                  <a:srgbClr val="55606E"/>
                </a:solidFill>
                <a:latin typeface="Aptos"/>
              </a:rPr>
              <a:t>Source page: p. 4</a:t>
            </a:r>
          </a:p>
        </p:txBody>
      </p:sp>
      <p:sp>
        <p:nvSpPr>
          <p:cNvPr id="9" name="Rounded Rectangle 8"/>
          <p:cNvSpPr/>
          <p:nvPr/>
        </p:nvSpPr>
        <p:spPr>
          <a:xfrm>
            <a:off x="411480" y="3520440"/>
            <a:ext cx="3337560" cy="2240280"/>
          </a:xfrm>
          <a:prstGeom prst="roundRect">
            <a:avLst/>
          </a:prstGeom>
          <a:solidFill>
            <a:srgbClr val="FAFBFC"/>
          </a:solidFill>
          <a:ln w="9525">
            <a:solidFill>
              <a:srgbClr val="D2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2648" y="3675887"/>
            <a:ext cx="2926080" cy="228600"/>
          </a:xfrm>
          <a:prstGeom prst="rect">
            <a:avLst/>
          </a:prstGeom>
          <a:noFill/>
        </p:spPr>
        <p:txBody>
          <a:bodyPr wrap="square">
            <a:normAutofit/>
          </a:bodyPr>
          <a:lstStyle/>
          <a:p>
            <a:r>
              <a:rPr sz="1100" b="1">
                <a:solidFill>
                  <a:srgbClr val="1F6FEB"/>
                </a:solidFill>
                <a:latin typeface="Aptos"/>
              </a:rPr>
              <a:t>Risk scoring - summary</a:t>
            </a:r>
          </a:p>
        </p:txBody>
      </p:sp>
      <p:sp>
        <p:nvSpPr>
          <p:cNvPr id="11" name="TextBox 10"/>
          <p:cNvSpPr txBox="1"/>
          <p:nvPr/>
        </p:nvSpPr>
        <p:spPr>
          <a:xfrm>
            <a:off x="612648" y="3977639"/>
            <a:ext cx="2880360" cy="1143000"/>
          </a:xfrm>
          <a:prstGeom prst="rect">
            <a:avLst/>
          </a:prstGeom>
          <a:noFill/>
        </p:spPr>
        <p:txBody>
          <a:bodyPr wrap="square">
            <a:normAutofit/>
          </a:bodyPr>
          <a:lstStyle/>
          <a:p>
            <a:r>
              <a:rPr sz="1000" b="0">
                <a:solidFill>
                  <a:srgbClr val="232B37"/>
                </a:solidFill>
                <a:latin typeface="Aptos"/>
              </a:rPr>
              <a:t>score/rating / ??????: ?????? likelihood/?????, probability/???</a:t>
            </a:r>
          </a:p>
        </p:txBody>
      </p:sp>
      <p:sp>
        <p:nvSpPr>
          <p:cNvPr id="12" name="TextBox 11"/>
          <p:cNvSpPr txBox="1"/>
          <p:nvPr/>
        </p:nvSpPr>
        <p:spPr>
          <a:xfrm>
            <a:off x="612648" y="5340096"/>
            <a:ext cx="2880360" cy="228600"/>
          </a:xfrm>
          <a:prstGeom prst="rect">
            <a:avLst/>
          </a:prstGeom>
          <a:noFill/>
        </p:spPr>
        <p:txBody>
          <a:bodyPr wrap="square">
            <a:normAutofit/>
          </a:bodyPr>
          <a:lstStyle/>
          <a:p>
            <a:r>
              <a:rPr sz="800" b="0">
                <a:solidFill>
                  <a:srgbClr val="55606E"/>
                </a:solidFill>
                <a:latin typeface="Aptos"/>
              </a:rPr>
              <a:t>Source page: p. 11</a:t>
            </a:r>
          </a:p>
        </p:txBody>
      </p:sp>
      <p:sp>
        <p:nvSpPr>
          <p:cNvPr id="13" name="TextBox 12"/>
          <p:cNvSpPr txBox="1"/>
          <p:nvPr/>
        </p:nvSpPr>
        <p:spPr>
          <a:xfrm>
            <a:off x="3977639" y="1115568"/>
            <a:ext cx="3383280" cy="201168"/>
          </a:xfrm>
          <a:prstGeom prst="rect">
            <a:avLst/>
          </a:prstGeom>
          <a:noFill/>
        </p:spPr>
        <p:txBody>
          <a:bodyPr wrap="square">
            <a:normAutofit/>
          </a:bodyPr>
          <a:lstStyle/>
          <a:p>
            <a:r>
              <a:rPr sz="900" b="1">
                <a:solidFill>
                  <a:srgbClr val="12202F"/>
                </a:solidFill>
                <a:latin typeface="Aptos"/>
              </a:rPr>
              <a:t>Original excerpt: definition</a:t>
            </a:r>
          </a:p>
        </p:txBody>
      </p:sp>
      <p:pic>
        <p:nvPicPr>
          <p:cNvPr id="14" name="Picture 13" descr="MD_MDOT_Transportation_Resilience_Improvement_Plan_2024_definition.png"/>
          <p:cNvPicPr>
            <a:picLocks noChangeAspect="1"/>
          </p:cNvPicPr>
          <p:nvPr/>
        </p:nvPicPr>
        <p:blipFill>
          <a:blip r:embed="rId2"/>
          <a:stretch>
            <a:fillRect/>
          </a:stretch>
        </p:blipFill>
        <p:spPr>
          <a:xfrm>
            <a:off x="4139189" y="1353312"/>
            <a:ext cx="7403581" cy="1965960"/>
          </a:xfrm>
          <a:prstGeom prst="rect">
            <a:avLst/>
          </a:prstGeom>
        </p:spPr>
      </p:pic>
      <p:sp>
        <p:nvSpPr>
          <p:cNvPr id="15" name="TextBox 14"/>
          <p:cNvSpPr txBox="1"/>
          <p:nvPr/>
        </p:nvSpPr>
        <p:spPr>
          <a:xfrm>
            <a:off x="3977639" y="3456432"/>
            <a:ext cx="3383280" cy="201168"/>
          </a:xfrm>
          <a:prstGeom prst="rect">
            <a:avLst/>
          </a:prstGeom>
          <a:noFill/>
        </p:spPr>
        <p:txBody>
          <a:bodyPr wrap="square">
            <a:normAutofit/>
          </a:bodyPr>
          <a:lstStyle/>
          <a:p>
            <a:r>
              <a:rPr sz="900" b="1">
                <a:solidFill>
                  <a:srgbClr val="12202F"/>
                </a:solidFill>
                <a:latin typeface="Aptos"/>
              </a:rPr>
              <a:t>Original excerpt: risk scoring / assessment</a:t>
            </a:r>
          </a:p>
        </p:txBody>
      </p:sp>
      <p:pic>
        <p:nvPicPr>
          <p:cNvPr id="16" name="Picture 15" descr="MD_MDOT_Transportation_Resilience_Improvement_Plan_2024_risk.png"/>
          <p:cNvPicPr>
            <a:picLocks noChangeAspect="1"/>
          </p:cNvPicPr>
          <p:nvPr/>
        </p:nvPicPr>
        <p:blipFill>
          <a:blip r:embed="rId3"/>
          <a:stretch>
            <a:fillRect/>
          </a:stretch>
        </p:blipFill>
        <p:spPr>
          <a:xfrm>
            <a:off x="5005650" y="3703320"/>
            <a:ext cx="5670658" cy="1965960"/>
          </a:xfrm>
          <a:prstGeom prst="rect">
            <a:avLst/>
          </a:prstGeom>
        </p:spPr>
      </p:pic>
      <p:sp>
        <p:nvSpPr>
          <p:cNvPr id="17" name="TextBox 16"/>
          <p:cNvSpPr txBox="1"/>
          <p:nvPr/>
        </p:nvSpPr>
        <p:spPr>
          <a:xfrm>
            <a:off x="411480" y="6327648"/>
            <a:ext cx="11201400" cy="228600"/>
          </a:xfrm>
          <a:prstGeom prst="rect">
            <a:avLst/>
          </a:prstGeom>
          <a:noFill/>
        </p:spPr>
        <p:txBody>
          <a:bodyPr wrap="square">
            <a:normAutofit/>
          </a:bodyPr>
          <a:lstStyle/>
          <a:p>
            <a:r>
              <a:rPr sz="600" b="0">
                <a:solidFill>
                  <a:srgbClr val="55606E"/>
                </a:solidFill>
                <a:latin typeface="Aptos"/>
              </a:rPr>
              <a:t>Source: MD_MDOT_Transportation_Resilience_Improvement_Plan_2024.pdf; definition p.4, risk p.11; URL: https://www.mdot.maryland.gov/OPCP/MDOT_TRIP_Report_2024_Final.pdf</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28600"/>
            <a:ext cx="8961120" cy="411480"/>
          </a:xfrm>
          <a:prstGeom prst="rect">
            <a:avLst/>
          </a:prstGeom>
          <a:noFill/>
        </p:spPr>
        <p:txBody>
          <a:bodyPr wrap="square">
            <a:normAutofit/>
          </a:bodyPr>
          <a:lstStyle/>
          <a:p>
            <a:r>
              <a:rPr sz="2200" b="1">
                <a:solidFill>
                  <a:srgbClr val="12202F"/>
                </a:solidFill>
                <a:latin typeface="Aptos"/>
              </a:rPr>
              <a:t>Michigan / MDOT: definition and risk scoring</a:t>
            </a:r>
          </a:p>
        </p:txBody>
      </p:sp>
      <p:sp>
        <p:nvSpPr>
          <p:cNvPr id="3" name="TextBox 2"/>
          <p:cNvSpPr txBox="1"/>
          <p:nvPr/>
        </p:nvSpPr>
        <p:spPr>
          <a:xfrm>
            <a:off x="438912" y="667512"/>
            <a:ext cx="10881360" cy="256032"/>
          </a:xfrm>
          <a:prstGeom prst="rect">
            <a:avLst/>
          </a:prstGeom>
          <a:noFill/>
        </p:spPr>
        <p:txBody>
          <a:bodyPr wrap="square">
            <a:normAutofit/>
          </a:bodyPr>
          <a:lstStyle/>
          <a:p>
            <a:r>
              <a:rPr sz="800" b="0">
                <a:solidFill>
                  <a:srgbClr val="55606E"/>
                </a:solidFill>
                <a:latin typeface="Aptos"/>
              </a:rPr>
              <a:t>9/20 | MI_MDOT_Resilience_Improvement_Plan_2024.pdf</a:t>
            </a:r>
          </a:p>
        </p:txBody>
      </p:sp>
      <p:sp>
        <p:nvSpPr>
          <p:cNvPr id="4" name="Rectangle 3"/>
          <p:cNvSpPr/>
          <p:nvPr/>
        </p:nvSpPr>
        <p:spPr>
          <a:xfrm>
            <a:off x="411480" y="969264"/>
            <a:ext cx="11384280" cy="18288"/>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11480" y="1170432"/>
            <a:ext cx="3337560" cy="2057400"/>
          </a:xfrm>
          <a:prstGeom prst="roundRect">
            <a:avLst/>
          </a:prstGeom>
          <a:solidFill>
            <a:srgbClr val="FAFBFC"/>
          </a:solidFill>
          <a:ln w="9525">
            <a:solidFill>
              <a:srgbClr val="D2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2648" y="1325880"/>
            <a:ext cx="2926080" cy="228600"/>
          </a:xfrm>
          <a:prstGeom prst="rect">
            <a:avLst/>
          </a:prstGeom>
          <a:noFill/>
        </p:spPr>
        <p:txBody>
          <a:bodyPr wrap="square">
            <a:normAutofit/>
          </a:bodyPr>
          <a:lstStyle/>
          <a:p>
            <a:r>
              <a:rPr sz="1100" b="1">
                <a:solidFill>
                  <a:srgbClr val="1F6FEB"/>
                </a:solidFill>
                <a:latin typeface="Aptos"/>
              </a:rPr>
              <a:t>Resilience definition - summary</a:t>
            </a:r>
          </a:p>
        </p:txBody>
      </p:sp>
      <p:sp>
        <p:nvSpPr>
          <p:cNvPr id="7" name="TextBox 6"/>
          <p:cNvSpPr txBox="1"/>
          <p:nvPr/>
        </p:nvSpPr>
        <p:spPr>
          <a:xfrm>
            <a:off x="612648" y="1627632"/>
            <a:ext cx="2880360" cy="1234440"/>
          </a:xfrm>
          <a:prstGeom prst="rect">
            <a:avLst/>
          </a:prstGeom>
          <a:noFill/>
        </p:spPr>
        <p:txBody>
          <a:bodyPr wrap="square">
            <a:normAutofit/>
          </a:bodyPr>
          <a:lstStyle/>
          <a:p>
            <a:r>
              <a:rPr sz="1000" b="0">
                <a:solidFill>
                  <a:srgbClr val="232B37"/>
                </a:solidFill>
                <a:latin typeface="Aptos"/>
              </a:rPr>
              <a:t>MDOT analyzed the risk associated with riverine/coastal flooding, stormwater flooding, coastal erosion, and extreme heat on transportation assets across the state and identified initiatives to improve the capacity of the transportation system to withstand and recover from climate hazard events.</a:t>
            </a:r>
          </a:p>
        </p:txBody>
      </p:sp>
      <p:sp>
        <p:nvSpPr>
          <p:cNvPr id="8" name="TextBox 7"/>
          <p:cNvSpPr txBox="1"/>
          <p:nvPr/>
        </p:nvSpPr>
        <p:spPr>
          <a:xfrm>
            <a:off x="612648" y="3017520"/>
            <a:ext cx="2880360" cy="228600"/>
          </a:xfrm>
          <a:prstGeom prst="rect">
            <a:avLst/>
          </a:prstGeom>
          <a:noFill/>
        </p:spPr>
        <p:txBody>
          <a:bodyPr wrap="square">
            <a:normAutofit/>
          </a:bodyPr>
          <a:lstStyle/>
          <a:p>
            <a:r>
              <a:rPr sz="800" b="0">
                <a:solidFill>
                  <a:srgbClr val="55606E"/>
                </a:solidFill>
                <a:latin typeface="Aptos"/>
              </a:rPr>
              <a:t>Source page: p. 16</a:t>
            </a:r>
          </a:p>
        </p:txBody>
      </p:sp>
      <p:sp>
        <p:nvSpPr>
          <p:cNvPr id="9" name="Rounded Rectangle 8"/>
          <p:cNvSpPr/>
          <p:nvPr/>
        </p:nvSpPr>
        <p:spPr>
          <a:xfrm>
            <a:off x="411480" y="3520440"/>
            <a:ext cx="3337560" cy="2240280"/>
          </a:xfrm>
          <a:prstGeom prst="roundRect">
            <a:avLst/>
          </a:prstGeom>
          <a:solidFill>
            <a:srgbClr val="FAFBFC"/>
          </a:solidFill>
          <a:ln w="9525">
            <a:solidFill>
              <a:srgbClr val="D2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2648" y="3675887"/>
            <a:ext cx="2926080" cy="228600"/>
          </a:xfrm>
          <a:prstGeom prst="rect">
            <a:avLst/>
          </a:prstGeom>
          <a:noFill/>
        </p:spPr>
        <p:txBody>
          <a:bodyPr wrap="square">
            <a:normAutofit/>
          </a:bodyPr>
          <a:lstStyle/>
          <a:p>
            <a:r>
              <a:rPr sz="1100" b="1">
                <a:solidFill>
                  <a:srgbClr val="1F6FEB"/>
                </a:solidFill>
                <a:latin typeface="Aptos"/>
              </a:rPr>
              <a:t>Risk scoring - summary</a:t>
            </a:r>
          </a:p>
        </p:txBody>
      </p:sp>
      <p:sp>
        <p:nvSpPr>
          <p:cNvPr id="11" name="TextBox 10"/>
          <p:cNvSpPr txBox="1"/>
          <p:nvPr/>
        </p:nvSpPr>
        <p:spPr>
          <a:xfrm>
            <a:off x="612648" y="3977639"/>
            <a:ext cx="2880360" cy="1143000"/>
          </a:xfrm>
          <a:prstGeom prst="rect">
            <a:avLst/>
          </a:prstGeom>
          <a:noFill/>
        </p:spPr>
        <p:txBody>
          <a:bodyPr wrap="square">
            <a:normAutofit/>
          </a:bodyPr>
          <a:lstStyle/>
          <a:p>
            <a:r>
              <a:rPr sz="1000" b="0">
                <a:solidFill>
                  <a:srgbClr val="232B37"/>
                </a:solidFill>
                <a:latin typeface="Aptos"/>
              </a:rPr>
              <a:t>risk-based assessment / ??????: ?????? likelihood/?????, consequence/severity/?????, exposure/???, sensitivity/???, criticality/???, vulnerability/????</a:t>
            </a:r>
          </a:p>
        </p:txBody>
      </p:sp>
      <p:sp>
        <p:nvSpPr>
          <p:cNvPr id="12" name="TextBox 11"/>
          <p:cNvSpPr txBox="1"/>
          <p:nvPr/>
        </p:nvSpPr>
        <p:spPr>
          <a:xfrm>
            <a:off x="612648" y="5340096"/>
            <a:ext cx="2880360" cy="228600"/>
          </a:xfrm>
          <a:prstGeom prst="rect">
            <a:avLst/>
          </a:prstGeom>
          <a:noFill/>
        </p:spPr>
        <p:txBody>
          <a:bodyPr wrap="square">
            <a:normAutofit/>
          </a:bodyPr>
          <a:lstStyle/>
          <a:p>
            <a:r>
              <a:rPr sz="800" b="0">
                <a:solidFill>
                  <a:srgbClr val="55606E"/>
                </a:solidFill>
                <a:latin typeface="Aptos"/>
              </a:rPr>
              <a:t>Source page: p. 16</a:t>
            </a:r>
          </a:p>
        </p:txBody>
      </p:sp>
      <p:sp>
        <p:nvSpPr>
          <p:cNvPr id="13" name="TextBox 12"/>
          <p:cNvSpPr txBox="1"/>
          <p:nvPr/>
        </p:nvSpPr>
        <p:spPr>
          <a:xfrm>
            <a:off x="3977639" y="1115568"/>
            <a:ext cx="3383280" cy="201168"/>
          </a:xfrm>
          <a:prstGeom prst="rect">
            <a:avLst/>
          </a:prstGeom>
          <a:noFill/>
        </p:spPr>
        <p:txBody>
          <a:bodyPr wrap="square">
            <a:normAutofit/>
          </a:bodyPr>
          <a:lstStyle/>
          <a:p>
            <a:r>
              <a:rPr sz="900" b="1">
                <a:solidFill>
                  <a:srgbClr val="12202F"/>
                </a:solidFill>
                <a:latin typeface="Aptos"/>
              </a:rPr>
              <a:t>Original excerpt: definition</a:t>
            </a:r>
          </a:p>
        </p:txBody>
      </p:sp>
      <p:pic>
        <p:nvPicPr>
          <p:cNvPr id="14" name="Picture 13" descr="MI_MDOT_Resilience_Improvement_Plan_2024_definition.png"/>
          <p:cNvPicPr>
            <a:picLocks noChangeAspect="1"/>
          </p:cNvPicPr>
          <p:nvPr/>
        </p:nvPicPr>
        <p:blipFill>
          <a:blip r:embed="rId2"/>
          <a:stretch>
            <a:fillRect/>
          </a:stretch>
        </p:blipFill>
        <p:spPr>
          <a:xfrm>
            <a:off x="4931813" y="1353312"/>
            <a:ext cx="5818332" cy="1965960"/>
          </a:xfrm>
          <a:prstGeom prst="rect">
            <a:avLst/>
          </a:prstGeom>
        </p:spPr>
      </p:pic>
      <p:sp>
        <p:nvSpPr>
          <p:cNvPr id="15" name="TextBox 14"/>
          <p:cNvSpPr txBox="1"/>
          <p:nvPr/>
        </p:nvSpPr>
        <p:spPr>
          <a:xfrm>
            <a:off x="3977639" y="3456432"/>
            <a:ext cx="3383280" cy="201168"/>
          </a:xfrm>
          <a:prstGeom prst="rect">
            <a:avLst/>
          </a:prstGeom>
          <a:noFill/>
        </p:spPr>
        <p:txBody>
          <a:bodyPr wrap="square">
            <a:normAutofit/>
          </a:bodyPr>
          <a:lstStyle/>
          <a:p>
            <a:r>
              <a:rPr sz="900" b="1">
                <a:solidFill>
                  <a:srgbClr val="12202F"/>
                </a:solidFill>
                <a:latin typeface="Aptos"/>
              </a:rPr>
              <a:t>Original excerpt: risk scoring / assessment</a:t>
            </a:r>
          </a:p>
        </p:txBody>
      </p:sp>
      <p:pic>
        <p:nvPicPr>
          <p:cNvPr id="16" name="Picture 15" descr="MI_MDOT_Resilience_Improvement_Plan_2024_risk.png"/>
          <p:cNvPicPr>
            <a:picLocks noChangeAspect="1"/>
          </p:cNvPicPr>
          <p:nvPr/>
        </p:nvPicPr>
        <p:blipFill>
          <a:blip r:embed="rId3"/>
          <a:stretch>
            <a:fillRect/>
          </a:stretch>
        </p:blipFill>
        <p:spPr>
          <a:xfrm>
            <a:off x="5169895" y="3703320"/>
            <a:ext cx="5342168" cy="1965960"/>
          </a:xfrm>
          <a:prstGeom prst="rect">
            <a:avLst/>
          </a:prstGeom>
        </p:spPr>
      </p:pic>
      <p:sp>
        <p:nvSpPr>
          <p:cNvPr id="17" name="TextBox 16"/>
          <p:cNvSpPr txBox="1"/>
          <p:nvPr/>
        </p:nvSpPr>
        <p:spPr>
          <a:xfrm>
            <a:off x="411480" y="6327648"/>
            <a:ext cx="11201400" cy="228600"/>
          </a:xfrm>
          <a:prstGeom prst="rect">
            <a:avLst/>
          </a:prstGeom>
          <a:noFill/>
        </p:spPr>
        <p:txBody>
          <a:bodyPr wrap="square">
            <a:normAutofit/>
          </a:bodyPr>
          <a:lstStyle/>
          <a:p>
            <a:r>
              <a:rPr sz="600" b="0">
                <a:solidFill>
                  <a:srgbClr val="55606E"/>
                </a:solidFill>
                <a:latin typeface="Aptos"/>
              </a:rPr>
              <a:t>Source: MI_MDOT_Resilience_Improvement_Plan_2024.pdf; definition p.16, risk p.16; URL: https://www.michigan.gov/mdot/-/media/Project/Websites/MDOT/Programs/Planning/Resilience-Improvement-Plan/Plan.pdf</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28600"/>
            <a:ext cx="8961120" cy="411480"/>
          </a:xfrm>
          <a:prstGeom prst="rect">
            <a:avLst/>
          </a:prstGeom>
          <a:noFill/>
        </p:spPr>
        <p:txBody>
          <a:bodyPr wrap="square">
            <a:normAutofit/>
          </a:bodyPr>
          <a:lstStyle/>
          <a:p>
            <a:r>
              <a:rPr sz="2200" b="1">
                <a:solidFill>
                  <a:srgbClr val="12202F"/>
                </a:solidFill>
                <a:latin typeface="Aptos"/>
              </a:rPr>
              <a:t>Minnesota / MnDOT: definition and risk scoring</a:t>
            </a:r>
          </a:p>
        </p:txBody>
      </p:sp>
      <p:sp>
        <p:nvSpPr>
          <p:cNvPr id="3" name="TextBox 2"/>
          <p:cNvSpPr txBox="1"/>
          <p:nvPr/>
        </p:nvSpPr>
        <p:spPr>
          <a:xfrm>
            <a:off x="438912" y="667512"/>
            <a:ext cx="10881360" cy="256032"/>
          </a:xfrm>
          <a:prstGeom prst="rect">
            <a:avLst/>
          </a:prstGeom>
          <a:noFill/>
        </p:spPr>
        <p:txBody>
          <a:bodyPr wrap="square">
            <a:normAutofit/>
          </a:bodyPr>
          <a:lstStyle/>
          <a:p>
            <a:r>
              <a:rPr sz="800" b="0">
                <a:solidFill>
                  <a:srgbClr val="55606E"/>
                </a:solidFill>
                <a:latin typeface="Aptos"/>
              </a:rPr>
              <a:t>10/20 | MN_MnDOT_Resilience_Improvement_Plan_2024.pdf</a:t>
            </a:r>
          </a:p>
        </p:txBody>
      </p:sp>
      <p:sp>
        <p:nvSpPr>
          <p:cNvPr id="4" name="Rectangle 3"/>
          <p:cNvSpPr/>
          <p:nvPr/>
        </p:nvSpPr>
        <p:spPr>
          <a:xfrm>
            <a:off x="411480" y="969264"/>
            <a:ext cx="11384280" cy="18288"/>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11480" y="1170432"/>
            <a:ext cx="3337560" cy="2057400"/>
          </a:xfrm>
          <a:prstGeom prst="roundRect">
            <a:avLst/>
          </a:prstGeom>
          <a:solidFill>
            <a:srgbClr val="FAFBFC"/>
          </a:solidFill>
          <a:ln w="9525">
            <a:solidFill>
              <a:srgbClr val="D2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2648" y="1325880"/>
            <a:ext cx="2926080" cy="228600"/>
          </a:xfrm>
          <a:prstGeom prst="rect">
            <a:avLst/>
          </a:prstGeom>
          <a:noFill/>
        </p:spPr>
        <p:txBody>
          <a:bodyPr wrap="square">
            <a:normAutofit/>
          </a:bodyPr>
          <a:lstStyle/>
          <a:p>
            <a:r>
              <a:rPr sz="1100" b="1">
                <a:solidFill>
                  <a:srgbClr val="1F6FEB"/>
                </a:solidFill>
                <a:latin typeface="Aptos"/>
              </a:rPr>
              <a:t>Resilience definition - summary</a:t>
            </a:r>
          </a:p>
        </p:txBody>
      </p:sp>
      <p:sp>
        <p:nvSpPr>
          <p:cNvPr id="7" name="TextBox 6"/>
          <p:cNvSpPr txBox="1"/>
          <p:nvPr/>
        </p:nvSpPr>
        <p:spPr>
          <a:xfrm>
            <a:off x="612648" y="1627632"/>
            <a:ext cx="2880360" cy="1234440"/>
          </a:xfrm>
          <a:prstGeom prst="rect">
            <a:avLst/>
          </a:prstGeom>
          <a:noFill/>
        </p:spPr>
        <p:txBody>
          <a:bodyPr wrap="square">
            <a:normAutofit/>
          </a:bodyPr>
          <a:lstStyle/>
          <a:p>
            <a:r>
              <a:rPr sz="1000" b="0">
                <a:solidFill>
                  <a:srgbClr val="232B37"/>
                </a:solidFill>
                <a:latin typeface="Aptos"/>
              </a:rPr>
              <a:t>APRIL 2024 RESILIENCE IMPROVEMENT PLAN 2024</a:t>
            </a:r>
          </a:p>
        </p:txBody>
      </p:sp>
      <p:sp>
        <p:nvSpPr>
          <p:cNvPr id="8" name="TextBox 7"/>
          <p:cNvSpPr txBox="1"/>
          <p:nvPr/>
        </p:nvSpPr>
        <p:spPr>
          <a:xfrm>
            <a:off x="612648" y="3017520"/>
            <a:ext cx="2880360" cy="228600"/>
          </a:xfrm>
          <a:prstGeom prst="rect">
            <a:avLst/>
          </a:prstGeom>
          <a:noFill/>
        </p:spPr>
        <p:txBody>
          <a:bodyPr wrap="square">
            <a:normAutofit/>
          </a:bodyPr>
          <a:lstStyle/>
          <a:p>
            <a:r>
              <a:rPr sz="800" b="0">
                <a:solidFill>
                  <a:srgbClr val="55606E"/>
                </a:solidFill>
                <a:latin typeface="Aptos"/>
              </a:rPr>
              <a:t>Source page: p. 1</a:t>
            </a:r>
          </a:p>
        </p:txBody>
      </p:sp>
      <p:sp>
        <p:nvSpPr>
          <p:cNvPr id="9" name="Rounded Rectangle 8"/>
          <p:cNvSpPr/>
          <p:nvPr/>
        </p:nvSpPr>
        <p:spPr>
          <a:xfrm>
            <a:off x="411480" y="3520440"/>
            <a:ext cx="3337560" cy="2240280"/>
          </a:xfrm>
          <a:prstGeom prst="roundRect">
            <a:avLst/>
          </a:prstGeom>
          <a:solidFill>
            <a:srgbClr val="FAFBFC"/>
          </a:solidFill>
          <a:ln w="9525">
            <a:solidFill>
              <a:srgbClr val="D2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2648" y="3675887"/>
            <a:ext cx="2926080" cy="228600"/>
          </a:xfrm>
          <a:prstGeom prst="rect">
            <a:avLst/>
          </a:prstGeom>
          <a:noFill/>
        </p:spPr>
        <p:txBody>
          <a:bodyPr wrap="square">
            <a:normAutofit/>
          </a:bodyPr>
          <a:lstStyle/>
          <a:p>
            <a:r>
              <a:rPr sz="1100" b="1">
                <a:solidFill>
                  <a:srgbClr val="1F6FEB"/>
                </a:solidFill>
                <a:latin typeface="Aptos"/>
              </a:rPr>
              <a:t>Risk scoring - summary</a:t>
            </a:r>
          </a:p>
        </p:txBody>
      </p:sp>
      <p:sp>
        <p:nvSpPr>
          <p:cNvPr id="11" name="TextBox 10"/>
          <p:cNvSpPr txBox="1"/>
          <p:nvPr/>
        </p:nvSpPr>
        <p:spPr>
          <a:xfrm>
            <a:off x="612648" y="3977639"/>
            <a:ext cx="2880360" cy="1143000"/>
          </a:xfrm>
          <a:prstGeom prst="rect">
            <a:avLst/>
          </a:prstGeom>
          <a:noFill/>
        </p:spPr>
        <p:txBody>
          <a:bodyPr wrap="square">
            <a:normAutofit/>
          </a:bodyPr>
          <a:lstStyle/>
          <a:p>
            <a:r>
              <a:rPr sz="1000" b="0">
                <a:solidFill>
                  <a:srgbClr val="232B37"/>
                </a:solidFill>
                <a:latin typeface="Aptos"/>
              </a:rPr>
              <a:t>score/rating / ??????: ?????? likelihood/?????, consequence/severity/?????, vulnerability/????</a:t>
            </a:r>
          </a:p>
        </p:txBody>
      </p:sp>
      <p:sp>
        <p:nvSpPr>
          <p:cNvPr id="12" name="TextBox 11"/>
          <p:cNvSpPr txBox="1"/>
          <p:nvPr/>
        </p:nvSpPr>
        <p:spPr>
          <a:xfrm>
            <a:off x="612648" y="5340096"/>
            <a:ext cx="2880360" cy="228600"/>
          </a:xfrm>
          <a:prstGeom prst="rect">
            <a:avLst/>
          </a:prstGeom>
          <a:noFill/>
        </p:spPr>
        <p:txBody>
          <a:bodyPr wrap="square">
            <a:normAutofit/>
          </a:bodyPr>
          <a:lstStyle/>
          <a:p>
            <a:r>
              <a:rPr sz="800" b="0">
                <a:solidFill>
                  <a:srgbClr val="55606E"/>
                </a:solidFill>
                <a:latin typeface="Aptos"/>
              </a:rPr>
              <a:t>Source page: p. 49</a:t>
            </a:r>
          </a:p>
        </p:txBody>
      </p:sp>
      <p:sp>
        <p:nvSpPr>
          <p:cNvPr id="13" name="TextBox 12"/>
          <p:cNvSpPr txBox="1"/>
          <p:nvPr/>
        </p:nvSpPr>
        <p:spPr>
          <a:xfrm>
            <a:off x="3977639" y="1115568"/>
            <a:ext cx="3383280" cy="201168"/>
          </a:xfrm>
          <a:prstGeom prst="rect">
            <a:avLst/>
          </a:prstGeom>
          <a:noFill/>
        </p:spPr>
        <p:txBody>
          <a:bodyPr wrap="square">
            <a:normAutofit/>
          </a:bodyPr>
          <a:lstStyle/>
          <a:p>
            <a:r>
              <a:rPr sz="900" b="1">
                <a:solidFill>
                  <a:srgbClr val="12202F"/>
                </a:solidFill>
                <a:latin typeface="Aptos"/>
              </a:rPr>
              <a:t>Original excerpt: definition</a:t>
            </a:r>
          </a:p>
        </p:txBody>
      </p:sp>
      <p:pic>
        <p:nvPicPr>
          <p:cNvPr id="14" name="Picture 13" descr="MN_MnDOT_Resilience_Improvement_Plan_2024_definition.png"/>
          <p:cNvPicPr>
            <a:picLocks noChangeAspect="1"/>
          </p:cNvPicPr>
          <p:nvPr/>
        </p:nvPicPr>
        <p:blipFill>
          <a:blip r:embed="rId2"/>
          <a:stretch>
            <a:fillRect/>
          </a:stretch>
        </p:blipFill>
        <p:spPr>
          <a:xfrm>
            <a:off x="7081327" y="1353312"/>
            <a:ext cx="1519304" cy="1965960"/>
          </a:xfrm>
          <a:prstGeom prst="rect">
            <a:avLst/>
          </a:prstGeom>
        </p:spPr>
      </p:pic>
      <p:sp>
        <p:nvSpPr>
          <p:cNvPr id="15" name="TextBox 14"/>
          <p:cNvSpPr txBox="1"/>
          <p:nvPr/>
        </p:nvSpPr>
        <p:spPr>
          <a:xfrm>
            <a:off x="3977639" y="3456432"/>
            <a:ext cx="3383280" cy="201168"/>
          </a:xfrm>
          <a:prstGeom prst="rect">
            <a:avLst/>
          </a:prstGeom>
          <a:noFill/>
        </p:spPr>
        <p:txBody>
          <a:bodyPr wrap="square">
            <a:normAutofit/>
          </a:bodyPr>
          <a:lstStyle/>
          <a:p>
            <a:r>
              <a:rPr sz="900" b="1">
                <a:solidFill>
                  <a:srgbClr val="12202F"/>
                </a:solidFill>
                <a:latin typeface="Aptos"/>
              </a:rPr>
              <a:t>Original excerpt: risk scoring / assessment</a:t>
            </a:r>
          </a:p>
        </p:txBody>
      </p:sp>
      <p:pic>
        <p:nvPicPr>
          <p:cNvPr id="16" name="Picture 15" descr="MN_MnDOT_Resilience_Improvement_Plan_2024_risk.png"/>
          <p:cNvPicPr>
            <a:picLocks noChangeAspect="1"/>
          </p:cNvPicPr>
          <p:nvPr/>
        </p:nvPicPr>
        <p:blipFill>
          <a:blip r:embed="rId3"/>
          <a:stretch>
            <a:fillRect/>
          </a:stretch>
        </p:blipFill>
        <p:spPr>
          <a:xfrm>
            <a:off x="6310964" y="3703320"/>
            <a:ext cx="3060030" cy="1965960"/>
          </a:xfrm>
          <a:prstGeom prst="rect">
            <a:avLst/>
          </a:prstGeom>
        </p:spPr>
      </p:pic>
      <p:sp>
        <p:nvSpPr>
          <p:cNvPr id="17" name="TextBox 16"/>
          <p:cNvSpPr txBox="1"/>
          <p:nvPr/>
        </p:nvSpPr>
        <p:spPr>
          <a:xfrm>
            <a:off x="411480" y="6327648"/>
            <a:ext cx="11201400" cy="228600"/>
          </a:xfrm>
          <a:prstGeom prst="rect">
            <a:avLst/>
          </a:prstGeom>
          <a:noFill/>
        </p:spPr>
        <p:txBody>
          <a:bodyPr wrap="square">
            <a:normAutofit/>
          </a:bodyPr>
          <a:lstStyle/>
          <a:p>
            <a:r>
              <a:rPr sz="600" b="0">
                <a:solidFill>
                  <a:srgbClr val="55606E"/>
                </a:solidFill>
                <a:latin typeface="Aptos"/>
              </a:rPr>
              <a:t>Source: MN_MnDOT_Resilience_Improvement_Plan_2024.pdf; definition p.1, risk p.49; URL: https://www.tam-portal.com/wp-content/uploads/sites/12/2025/07/2024-Resilience-Improvement-Plan-ADA-FINAL-38633998-v2.pdf</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28600"/>
            <a:ext cx="8961120" cy="411480"/>
          </a:xfrm>
          <a:prstGeom prst="rect">
            <a:avLst/>
          </a:prstGeom>
          <a:noFill/>
        </p:spPr>
        <p:txBody>
          <a:bodyPr wrap="square">
            <a:normAutofit/>
          </a:bodyPr>
          <a:lstStyle/>
          <a:p>
            <a:r>
              <a:rPr sz="2200" b="1">
                <a:solidFill>
                  <a:srgbClr val="12202F"/>
                </a:solidFill>
                <a:latin typeface="Aptos"/>
              </a:rPr>
              <a:t>Mississippi / MDOT: definition and risk scoring</a:t>
            </a:r>
          </a:p>
        </p:txBody>
      </p:sp>
      <p:sp>
        <p:nvSpPr>
          <p:cNvPr id="3" name="TextBox 2"/>
          <p:cNvSpPr txBox="1"/>
          <p:nvPr/>
        </p:nvSpPr>
        <p:spPr>
          <a:xfrm>
            <a:off x="438912" y="667512"/>
            <a:ext cx="10881360" cy="256032"/>
          </a:xfrm>
          <a:prstGeom prst="rect">
            <a:avLst/>
          </a:prstGeom>
          <a:noFill/>
        </p:spPr>
        <p:txBody>
          <a:bodyPr wrap="square">
            <a:normAutofit/>
          </a:bodyPr>
          <a:lstStyle/>
          <a:p>
            <a:r>
              <a:rPr sz="800" b="0">
                <a:solidFill>
                  <a:srgbClr val="55606E"/>
                </a:solidFill>
                <a:latin typeface="Aptos"/>
              </a:rPr>
              <a:t>11/20 | MS_MDOT_Resilience_Improvement_Plan.pdf</a:t>
            </a:r>
          </a:p>
        </p:txBody>
      </p:sp>
      <p:sp>
        <p:nvSpPr>
          <p:cNvPr id="4" name="Rectangle 3"/>
          <p:cNvSpPr/>
          <p:nvPr/>
        </p:nvSpPr>
        <p:spPr>
          <a:xfrm>
            <a:off x="411480" y="969264"/>
            <a:ext cx="11384280" cy="18288"/>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11480" y="1170432"/>
            <a:ext cx="3337560" cy="2057400"/>
          </a:xfrm>
          <a:prstGeom prst="roundRect">
            <a:avLst/>
          </a:prstGeom>
          <a:solidFill>
            <a:srgbClr val="FAFBFC"/>
          </a:solidFill>
          <a:ln w="9525">
            <a:solidFill>
              <a:srgbClr val="D2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2648" y="1325880"/>
            <a:ext cx="2926080" cy="228600"/>
          </a:xfrm>
          <a:prstGeom prst="rect">
            <a:avLst/>
          </a:prstGeom>
          <a:noFill/>
        </p:spPr>
        <p:txBody>
          <a:bodyPr wrap="square">
            <a:normAutofit/>
          </a:bodyPr>
          <a:lstStyle/>
          <a:p>
            <a:r>
              <a:rPr sz="1100" b="1">
                <a:solidFill>
                  <a:srgbClr val="1F6FEB"/>
                </a:solidFill>
                <a:latin typeface="Aptos"/>
              </a:rPr>
              <a:t>Resilience definition - summary</a:t>
            </a:r>
          </a:p>
        </p:txBody>
      </p:sp>
      <p:sp>
        <p:nvSpPr>
          <p:cNvPr id="7" name="TextBox 6"/>
          <p:cNvSpPr txBox="1"/>
          <p:nvPr/>
        </p:nvSpPr>
        <p:spPr>
          <a:xfrm>
            <a:off x="612648" y="1627632"/>
            <a:ext cx="2880360" cy="1234440"/>
          </a:xfrm>
          <a:prstGeom prst="rect">
            <a:avLst/>
          </a:prstGeom>
          <a:noFill/>
        </p:spPr>
        <p:txBody>
          <a:bodyPr wrap="square">
            <a:normAutofit/>
          </a:bodyPr>
          <a:lstStyle/>
          <a:p>
            <a:r>
              <a:rPr sz="1000" b="0">
                <a:solidFill>
                  <a:srgbClr val="232B37"/>
                </a:solidFill>
                <a:latin typeface="Aptos"/>
              </a:rPr>
              <a:t>• Prepare for anticipated natural hazards • Adapt to changing conditions • Withstand and recover rapidly from disruptions</a:t>
            </a:r>
          </a:p>
        </p:txBody>
      </p:sp>
      <p:sp>
        <p:nvSpPr>
          <p:cNvPr id="8" name="TextBox 7"/>
          <p:cNvSpPr txBox="1"/>
          <p:nvPr/>
        </p:nvSpPr>
        <p:spPr>
          <a:xfrm>
            <a:off x="612648" y="3017520"/>
            <a:ext cx="2880360" cy="228600"/>
          </a:xfrm>
          <a:prstGeom prst="rect">
            <a:avLst/>
          </a:prstGeom>
          <a:noFill/>
        </p:spPr>
        <p:txBody>
          <a:bodyPr wrap="square">
            <a:normAutofit/>
          </a:bodyPr>
          <a:lstStyle/>
          <a:p>
            <a:r>
              <a:rPr sz="800" b="0">
                <a:solidFill>
                  <a:srgbClr val="55606E"/>
                </a:solidFill>
                <a:latin typeface="Aptos"/>
              </a:rPr>
              <a:t>Source page: p. 30</a:t>
            </a:r>
          </a:p>
        </p:txBody>
      </p:sp>
      <p:sp>
        <p:nvSpPr>
          <p:cNvPr id="9" name="Rounded Rectangle 8"/>
          <p:cNvSpPr/>
          <p:nvPr/>
        </p:nvSpPr>
        <p:spPr>
          <a:xfrm>
            <a:off x="411480" y="3520440"/>
            <a:ext cx="3337560" cy="2240280"/>
          </a:xfrm>
          <a:prstGeom prst="roundRect">
            <a:avLst/>
          </a:prstGeom>
          <a:solidFill>
            <a:srgbClr val="FAFBFC"/>
          </a:solidFill>
          <a:ln w="9525">
            <a:solidFill>
              <a:srgbClr val="D2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2648" y="3675887"/>
            <a:ext cx="2926080" cy="228600"/>
          </a:xfrm>
          <a:prstGeom prst="rect">
            <a:avLst/>
          </a:prstGeom>
          <a:noFill/>
        </p:spPr>
        <p:txBody>
          <a:bodyPr wrap="square">
            <a:normAutofit/>
          </a:bodyPr>
          <a:lstStyle/>
          <a:p>
            <a:r>
              <a:rPr sz="1100" b="1">
                <a:solidFill>
                  <a:srgbClr val="1F6FEB"/>
                </a:solidFill>
                <a:latin typeface="Aptos"/>
              </a:rPr>
              <a:t>Risk scoring - summary</a:t>
            </a:r>
          </a:p>
        </p:txBody>
      </p:sp>
      <p:sp>
        <p:nvSpPr>
          <p:cNvPr id="11" name="TextBox 10"/>
          <p:cNvSpPr txBox="1"/>
          <p:nvPr/>
        </p:nvSpPr>
        <p:spPr>
          <a:xfrm>
            <a:off x="612648" y="3977639"/>
            <a:ext cx="2880360" cy="1143000"/>
          </a:xfrm>
          <a:prstGeom prst="rect">
            <a:avLst/>
          </a:prstGeom>
          <a:noFill/>
        </p:spPr>
        <p:txBody>
          <a:bodyPr wrap="square">
            <a:normAutofit/>
          </a:bodyPr>
          <a:lstStyle/>
          <a:p>
            <a:r>
              <a:rPr sz="1000" b="0">
                <a:solidFill>
                  <a:srgbClr val="232B37"/>
                </a:solidFill>
                <a:latin typeface="Aptos"/>
              </a:rPr>
              <a:t>score/rating / ??????: ?????? exposure/???, sensitivity/???, adaptive capacity/????, criticality/???, vulnerability/????</a:t>
            </a:r>
          </a:p>
        </p:txBody>
      </p:sp>
      <p:sp>
        <p:nvSpPr>
          <p:cNvPr id="12" name="TextBox 11"/>
          <p:cNvSpPr txBox="1"/>
          <p:nvPr/>
        </p:nvSpPr>
        <p:spPr>
          <a:xfrm>
            <a:off x="612648" y="5340096"/>
            <a:ext cx="2880360" cy="228600"/>
          </a:xfrm>
          <a:prstGeom prst="rect">
            <a:avLst/>
          </a:prstGeom>
          <a:noFill/>
        </p:spPr>
        <p:txBody>
          <a:bodyPr wrap="square">
            <a:normAutofit/>
          </a:bodyPr>
          <a:lstStyle/>
          <a:p>
            <a:r>
              <a:rPr sz="800" b="0">
                <a:solidFill>
                  <a:srgbClr val="55606E"/>
                </a:solidFill>
                <a:latin typeface="Aptos"/>
              </a:rPr>
              <a:t>Source page: p. 87</a:t>
            </a:r>
          </a:p>
        </p:txBody>
      </p:sp>
      <p:sp>
        <p:nvSpPr>
          <p:cNvPr id="13" name="TextBox 12"/>
          <p:cNvSpPr txBox="1"/>
          <p:nvPr/>
        </p:nvSpPr>
        <p:spPr>
          <a:xfrm>
            <a:off x="3977639" y="1115568"/>
            <a:ext cx="3383280" cy="201168"/>
          </a:xfrm>
          <a:prstGeom prst="rect">
            <a:avLst/>
          </a:prstGeom>
          <a:noFill/>
        </p:spPr>
        <p:txBody>
          <a:bodyPr wrap="square">
            <a:normAutofit/>
          </a:bodyPr>
          <a:lstStyle/>
          <a:p>
            <a:r>
              <a:rPr sz="900" b="1">
                <a:solidFill>
                  <a:srgbClr val="12202F"/>
                </a:solidFill>
                <a:latin typeface="Aptos"/>
              </a:rPr>
              <a:t>Original excerpt: definition</a:t>
            </a:r>
          </a:p>
        </p:txBody>
      </p:sp>
      <p:pic>
        <p:nvPicPr>
          <p:cNvPr id="14" name="Picture 13" descr="MS_MDOT_Resilience_Improvement_Plan_definition.png"/>
          <p:cNvPicPr>
            <a:picLocks noChangeAspect="1"/>
          </p:cNvPicPr>
          <p:nvPr/>
        </p:nvPicPr>
        <p:blipFill>
          <a:blip r:embed="rId2"/>
          <a:stretch>
            <a:fillRect/>
          </a:stretch>
        </p:blipFill>
        <p:spPr>
          <a:xfrm>
            <a:off x="4661503" y="1353312"/>
            <a:ext cx="6358952" cy="1965960"/>
          </a:xfrm>
          <a:prstGeom prst="rect">
            <a:avLst/>
          </a:prstGeom>
        </p:spPr>
      </p:pic>
      <p:sp>
        <p:nvSpPr>
          <p:cNvPr id="15" name="TextBox 14"/>
          <p:cNvSpPr txBox="1"/>
          <p:nvPr/>
        </p:nvSpPr>
        <p:spPr>
          <a:xfrm>
            <a:off x="3977639" y="3456432"/>
            <a:ext cx="3383280" cy="201168"/>
          </a:xfrm>
          <a:prstGeom prst="rect">
            <a:avLst/>
          </a:prstGeom>
          <a:noFill/>
        </p:spPr>
        <p:txBody>
          <a:bodyPr wrap="square">
            <a:normAutofit/>
          </a:bodyPr>
          <a:lstStyle/>
          <a:p>
            <a:r>
              <a:rPr sz="900" b="1">
                <a:solidFill>
                  <a:srgbClr val="12202F"/>
                </a:solidFill>
                <a:latin typeface="Aptos"/>
              </a:rPr>
              <a:t>Original excerpt: risk scoring / assessment</a:t>
            </a:r>
          </a:p>
        </p:txBody>
      </p:sp>
      <p:pic>
        <p:nvPicPr>
          <p:cNvPr id="16" name="Picture 15" descr="MS_MDOT_Resilience_Improvement_Plan_risk.png"/>
          <p:cNvPicPr>
            <a:picLocks noChangeAspect="1"/>
          </p:cNvPicPr>
          <p:nvPr/>
        </p:nvPicPr>
        <p:blipFill>
          <a:blip r:embed="rId3"/>
          <a:stretch>
            <a:fillRect/>
          </a:stretch>
        </p:blipFill>
        <p:spPr>
          <a:xfrm>
            <a:off x="5091292" y="3703320"/>
            <a:ext cx="5499374" cy="1965960"/>
          </a:xfrm>
          <a:prstGeom prst="rect">
            <a:avLst/>
          </a:prstGeom>
        </p:spPr>
      </p:pic>
      <p:sp>
        <p:nvSpPr>
          <p:cNvPr id="17" name="TextBox 16"/>
          <p:cNvSpPr txBox="1"/>
          <p:nvPr/>
        </p:nvSpPr>
        <p:spPr>
          <a:xfrm>
            <a:off x="411480" y="6327648"/>
            <a:ext cx="11201400" cy="228600"/>
          </a:xfrm>
          <a:prstGeom prst="rect">
            <a:avLst/>
          </a:prstGeom>
          <a:noFill/>
        </p:spPr>
        <p:txBody>
          <a:bodyPr wrap="square">
            <a:normAutofit/>
          </a:bodyPr>
          <a:lstStyle/>
          <a:p>
            <a:r>
              <a:rPr sz="600" b="0">
                <a:solidFill>
                  <a:srgbClr val="55606E"/>
                </a:solidFill>
                <a:latin typeface="Aptos"/>
              </a:rPr>
              <a:t>Source: MS_MDOT_Resilience_Improvement_Plan.pdf; definition p.30, risk p.87; URL: https://mdot.ms.gov/documents/Planning/Resilience%20Planning/MDOT%20Resilience%20Improvement%20Plan.pdf</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28600"/>
            <a:ext cx="8961120" cy="411480"/>
          </a:xfrm>
          <a:prstGeom prst="rect">
            <a:avLst/>
          </a:prstGeom>
          <a:noFill/>
        </p:spPr>
        <p:txBody>
          <a:bodyPr wrap="square">
            <a:normAutofit/>
          </a:bodyPr>
          <a:lstStyle/>
          <a:p>
            <a:r>
              <a:rPr sz="2200" b="1">
                <a:solidFill>
                  <a:srgbClr val="12202F"/>
                </a:solidFill>
                <a:latin typeface="Aptos"/>
              </a:rPr>
              <a:t>North Carolina / NCDOT: definition and risk scoring</a:t>
            </a:r>
          </a:p>
        </p:txBody>
      </p:sp>
      <p:sp>
        <p:nvSpPr>
          <p:cNvPr id="3" name="TextBox 2"/>
          <p:cNvSpPr txBox="1"/>
          <p:nvPr/>
        </p:nvSpPr>
        <p:spPr>
          <a:xfrm>
            <a:off x="438912" y="667512"/>
            <a:ext cx="10881360" cy="256032"/>
          </a:xfrm>
          <a:prstGeom prst="rect">
            <a:avLst/>
          </a:prstGeom>
          <a:noFill/>
        </p:spPr>
        <p:txBody>
          <a:bodyPr wrap="square">
            <a:normAutofit/>
          </a:bodyPr>
          <a:lstStyle/>
          <a:p>
            <a:r>
              <a:rPr sz="800" b="0">
                <a:solidFill>
                  <a:srgbClr val="55606E"/>
                </a:solidFill>
                <a:latin typeface="Aptos"/>
              </a:rPr>
              <a:t>12/20 | NC_NCDOT_Resilience_Strategy_Report.pdf</a:t>
            </a:r>
          </a:p>
        </p:txBody>
      </p:sp>
      <p:sp>
        <p:nvSpPr>
          <p:cNvPr id="4" name="Rectangle 3"/>
          <p:cNvSpPr/>
          <p:nvPr/>
        </p:nvSpPr>
        <p:spPr>
          <a:xfrm>
            <a:off x="411480" y="969264"/>
            <a:ext cx="11384280" cy="18288"/>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11480" y="1170432"/>
            <a:ext cx="3337560" cy="2057400"/>
          </a:xfrm>
          <a:prstGeom prst="roundRect">
            <a:avLst/>
          </a:prstGeom>
          <a:solidFill>
            <a:srgbClr val="FAFBFC"/>
          </a:solidFill>
          <a:ln w="9525">
            <a:solidFill>
              <a:srgbClr val="D2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2648" y="1325880"/>
            <a:ext cx="2926080" cy="228600"/>
          </a:xfrm>
          <a:prstGeom prst="rect">
            <a:avLst/>
          </a:prstGeom>
          <a:noFill/>
        </p:spPr>
        <p:txBody>
          <a:bodyPr wrap="square">
            <a:normAutofit/>
          </a:bodyPr>
          <a:lstStyle/>
          <a:p>
            <a:r>
              <a:rPr sz="1100" b="1">
                <a:solidFill>
                  <a:srgbClr val="1F6FEB"/>
                </a:solidFill>
                <a:latin typeface="Aptos"/>
              </a:rPr>
              <a:t>Resilience definition - summary</a:t>
            </a:r>
          </a:p>
        </p:txBody>
      </p:sp>
      <p:sp>
        <p:nvSpPr>
          <p:cNvPr id="7" name="TextBox 6"/>
          <p:cNvSpPr txBox="1"/>
          <p:nvPr/>
        </p:nvSpPr>
        <p:spPr>
          <a:xfrm>
            <a:off x="612648" y="1627632"/>
            <a:ext cx="2880360" cy="1234440"/>
          </a:xfrm>
          <a:prstGeom prst="rect">
            <a:avLst/>
          </a:prstGeom>
          <a:noFill/>
        </p:spPr>
        <p:txBody>
          <a:bodyPr wrap="square">
            <a:normAutofit/>
          </a:bodyPr>
          <a:lstStyle/>
          <a:p>
            <a:r>
              <a:rPr sz="1000" b="0">
                <a:solidFill>
                  <a:srgbClr val="232B37"/>
                </a:solidFill>
                <a:latin typeface="Aptos"/>
              </a:rPr>
              <a:t>As defined by the NCDOT Resilience Policy, resiliency is “the ability to anticipate, prepare for, and adapt to changing conditions and withstand, respond to, and recover rapidly from disruptions”.19 The goal of the Resilience Policy is to “consider the resiliency of the Department’s organization and the state’s transportation system to su</a:t>
            </a:r>
          </a:p>
        </p:txBody>
      </p:sp>
      <p:sp>
        <p:nvSpPr>
          <p:cNvPr id="8" name="TextBox 7"/>
          <p:cNvSpPr txBox="1"/>
          <p:nvPr/>
        </p:nvSpPr>
        <p:spPr>
          <a:xfrm>
            <a:off x="612648" y="3017520"/>
            <a:ext cx="2880360" cy="228600"/>
          </a:xfrm>
          <a:prstGeom prst="rect">
            <a:avLst/>
          </a:prstGeom>
          <a:noFill/>
        </p:spPr>
        <p:txBody>
          <a:bodyPr wrap="square">
            <a:normAutofit/>
          </a:bodyPr>
          <a:lstStyle/>
          <a:p>
            <a:r>
              <a:rPr sz="800" b="0">
                <a:solidFill>
                  <a:srgbClr val="55606E"/>
                </a:solidFill>
                <a:latin typeface="Aptos"/>
              </a:rPr>
              <a:t>Source page: p. 13</a:t>
            </a:r>
          </a:p>
        </p:txBody>
      </p:sp>
      <p:sp>
        <p:nvSpPr>
          <p:cNvPr id="9" name="Rounded Rectangle 8"/>
          <p:cNvSpPr/>
          <p:nvPr/>
        </p:nvSpPr>
        <p:spPr>
          <a:xfrm>
            <a:off x="411480" y="3520440"/>
            <a:ext cx="3337560" cy="2240280"/>
          </a:xfrm>
          <a:prstGeom prst="roundRect">
            <a:avLst/>
          </a:prstGeom>
          <a:solidFill>
            <a:srgbClr val="FAFBFC"/>
          </a:solidFill>
          <a:ln w="9525">
            <a:solidFill>
              <a:srgbClr val="D2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2648" y="3675887"/>
            <a:ext cx="2926080" cy="228600"/>
          </a:xfrm>
          <a:prstGeom prst="rect">
            <a:avLst/>
          </a:prstGeom>
          <a:noFill/>
        </p:spPr>
        <p:txBody>
          <a:bodyPr wrap="square">
            <a:normAutofit/>
          </a:bodyPr>
          <a:lstStyle/>
          <a:p>
            <a:r>
              <a:rPr sz="1100" b="1">
                <a:solidFill>
                  <a:srgbClr val="1F6FEB"/>
                </a:solidFill>
                <a:latin typeface="Aptos"/>
              </a:rPr>
              <a:t>Risk scoring - summary</a:t>
            </a:r>
          </a:p>
        </p:txBody>
      </p:sp>
      <p:sp>
        <p:nvSpPr>
          <p:cNvPr id="11" name="TextBox 10"/>
          <p:cNvSpPr txBox="1"/>
          <p:nvPr/>
        </p:nvSpPr>
        <p:spPr>
          <a:xfrm>
            <a:off x="612648" y="3977639"/>
            <a:ext cx="2880360" cy="1143000"/>
          </a:xfrm>
          <a:prstGeom prst="rect">
            <a:avLst/>
          </a:prstGeom>
          <a:noFill/>
        </p:spPr>
        <p:txBody>
          <a:bodyPr wrap="square">
            <a:normAutofit/>
          </a:bodyPr>
          <a:lstStyle/>
          <a:p>
            <a:r>
              <a:rPr sz="1000" b="0">
                <a:solidFill>
                  <a:srgbClr val="232B37"/>
                </a:solidFill>
                <a:latin typeface="Aptos"/>
              </a:rPr>
              <a:t>score/rating / ??????: ?????? likelihood/?????, probability/??, exposure/???, sensitivity/???, vulnerability/????</a:t>
            </a:r>
          </a:p>
        </p:txBody>
      </p:sp>
      <p:sp>
        <p:nvSpPr>
          <p:cNvPr id="12" name="TextBox 11"/>
          <p:cNvSpPr txBox="1"/>
          <p:nvPr/>
        </p:nvSpPr>
        <p:spPr>
          <a:xfrm>
            <a:off x="612648" y="5340096"/>
            <a:ext cx="2880360" cy="228600"/>
          </a:xfrm>
          <a:prstGeom prst="rect">
            <a:avLst/>
          </a:prstGeom>
          <a:noFill/>
        </p:spPr>
        <p:txBody>
          <a:bodyPr wrap="square">
            <a:normAutofit/>
          </a:bodyPr>
          <a:lstStyle/>
          <a:p>
            <a:r>
              <a:rPr sz="800" b="0">
                <a:solidFill>
                  <a:srgbClr val="55606E"/>
                </a:solidFill>
                <a:latin typeface="Aptos"/>
              </a:rPr>
              <a:t>Source page: p. 45</a:t>
            </a:r>
          </a:p>
        </p:txBody>
      </p:sp>
      <p:sp>
        <p:nvSpPr>
          <p:cNvPr id="13" name="TextBox 12"/>
          <p:cNvSpPr txBox="1"/>
          <p:nvPr/>
        </p:nvSpPr>
        <p:spPr>
          <a:xfrm>
            <a:off x="3977639" y="1115568"/>
            <a:ext cx="3383280" cy="201168"/>
          </a:xfrm>
          <a:prstGeom prst="rect">
            <a:avLst/>
          </a:prstGeom>
          <a:noFill/>
        </p:spPr>
        <p:txBody>
          <a:bodyPr wrap="square">
            <a:normAutofit/>
          </a:bodyPr>
          <a:lstStyle/>
          <a:p>
            <a:r>
              <a:rPr sz="900" b="1">
                <a:solidFill>
                  <a:srgbClr val="12202F"/>
                </a:solidFill>
                <a:latin typeface="Aptos"/>
              </a:rPr>
              <a:t>Original excerpt: definition</a:t>
            </a:r>
          </a:p>
        </p:txBody>
      </p:sp>
      <p:pic>
        <p:nvPicPr>
          <p:cNvPr id="14" name="Picture 13" descr="NC_NCDOT_Resilience_Strategy_Report_definition.png"/>
          <p:cNvPicPr>
            <a:picLocks noChangeAspect="1"/>
          </p:cNvPicPr>
          <p:nvPr/>
        </p:nvPicPr>
        <p:blipFill>
          <a:blip r:embed="rId2"/>
          <a:stretch>
            <a:fillRect/>
          </a:stretch>
        </p:blipFill>
        <p:spPr>
          <a:xfrm>
            <a:off x="6077305" y="1353312"/>
            <a:ext cx="3527349" cy="1965960"/>
          </a:xfrm>
          <a:prstGeom prst="rect">
            <a:avLst/>
          </a:prstGeom>
        </p:spPr>
      </p:pic>
      <p:sp>
        <p:nvSpPr>
          <p:cNvPr id="15" name="TextBox 14"/>
          <p:cNvSpPr txBox="1"/>
          <p:nvPr/>
        </p:nvSpPr>
        <p:spPr>
          <a:xfrm>
            <a:off x="3977639" y="3456432"/>
            <a:ext cx="3383280" cy="201168"/>
          </a:xfrm>
          <a:prstGeom prst="rect">
            <a:avLst/>
          </a:prstGeom>
          <a:noFill/>
        </p:spPr>
        <p:txBody>
          <a:bodyPr wrap="square">
            <a:normAutofit/>
          </a:bodyPr>
          <a:lstStyle/>
          <a:p>
            <a:r>
              <a:rPr sz="900" b="1">
                <a:solidFill>
                  <a:srgbClr val="12202F"/>
                </a:solidFill>
                <a:latin typeface="Aptos"/>
              </a:rPr>
              <a:t>Original excerpt: risk scoring / assessment</a:t>
            </a:r>
          </a:p>
        </p:txBody>
      </p:sp>
      <p:pic>
        <p:nvPicPr>
          <p:cNvPr id="16" name="Picture 15" descr="NC_NCDOT_Resilience_Strategy_Report_risk.png"/>
          <p:cNvPicPr>
            <a:picLocks noChangeAspect="1"/>
          </p:cNvPicPr>
          <p:nvPr/>
        </p:nvPicPr>
        <p:blipFill>
          <a:blip r:embed="rId3"/>
          <a:stretch>
            <a:fillRect/>
          </a:stretch>
        </p:blipFill>
        <p:spPr>
          <a:xfrm>
            <a:off x="5935238" y="3703320"/>
            <a:ext cx="3811482" cy="1965960"/>
          </a:xfrm>
          <a:prstGeom prst="rect">
            <a:avLst/>
          </a:prstGeom>
        </p:spPr>
      </p:pic>
      <p:sp>
        <p:nvSpPr>
          <p:cNvPr id="17" name="TextBox 16"/>
          <p:cNvSpPr txBox="1"/>
          <p:nvPr/>
        </p:nvSpPr>
        <p:spPr>
          <a:xfrm>
            <a:off x="411480" y="6327648"/>
            <a:ext cx="11201400" cy="228600"/>
          </a:xfrm>
          <a:prstGeom prst="rect">
            <a:avLst/>
          </a:prstGeom>
          <a:noFill/>
        </p:spPr>
        <p:txBody>
          <a:bodyPr wrap="square">
            <a:normAutofit/>
          </a:bodyPr>
          <a:lstStyle/>
          <a:p>
            <a:r>
              <a:rPr sz="600" b="0">
                <a:solidFill>
                  <a:srgbClr val="55606E"/>
                </a:solidFill>
                <a:latin typeface="Aptos"/>
              </a:rPr>
              <a:t>Source: NC_NCDOT_Resilience_Strategy_Report.pdf; definition p.13, risk p.45; URL: https://www.ncdot.gov/initiatives-policies/Transportation/transportation-resilience/Documents/resilience-plan.pdf</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28600"/>
            <a:ext cx="8961120" cy="411480"/>
          </a:xfrm>
          <a:prstGeom prst="rect">
            <a:avLst/>
          </a:prstGeom>
          <a:noFill/>
        </p:spPr>
        <p:txBody>
          <a:bodyPr wrap="square">
            <a:normAutofit/>
          </a:bodyPr>
          <a:lstStyle/>
          <a:p>
            <a:r>
              <a:rPr sz="2200" b="1">
                <a:solidFill>
                  <a:srgbClr val="12202F"/>
                </a:solidFill>
                <a:latin typeface="Aptos"/>
              </a:rPr>
              <a:t>New Mexico / NMDOT: definition and risk scoring</a:t>
            </a:r>
          </a:p>
        </p:txBody>
      </p:sp>
      <p:sp>
        <p:nvSpPr>
          <p:cNvPr id="3" name="TextBox 2"/>
          <p:cNvSpPr txBox="1"/>
          <p:nvPr/>
        </p:nvSpPr>
        <p:spPr>
          <a:xfrm>
            <a:off x="438912" y="667512"/>
            <a:ext cx="10881360" cy="256032"/>
          </a:xfrm>
          <a:prstGeom prst="rect">
            <a:avLst/>
          </a:prstGeom>
          <a:noFill/>
        </p:spPr>
        <p:txBody>
          <a:bodyPr wrap="square">
            <a:normAutofit/>
          </a:bodyPr>
          <a:lstStyle/>
          <a:p>
            <a:r>
              <a:rPr sz="800" b="0">
                <a:solidFill>
                  <a:srgbClr val="55606E"/>
                </a:solidFill>
                <a:latin typeface="Aptos"/>
              </a:rPr>
              <a:t>13/20 | NM_NMDOT_Resilience_Improvement_Plan_2024.pdf</a:t>
            </a:r>
          </a:p>
        </p:txBody>
      </p:sp>
      <p:sp>
        <p:nvSpPr>
          <p:cNvPr id="4" name="Rectangle 3"/>
          <p:cNvSpPr/>
          <p:nvPr/>
        </p:nvSpPr>
        <p:spPr>
          <a:xfrm>
            <a:off x="411480" y="969264"/>
            <a:ext cx="11384280" cy="18288"/>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11480" y="1170432"/>
            <a:ext cx="3337560" cy="2057400"/>
          </a:xfrm>
          <a:prstGeom prst="roundRect">
            <a:avLst/>
          </a:prstGeom>
          <a:solidFill>
            <a:srgbClr val="FAFBFC"/>
          </a:solidFill>
          <a:ln w="9525">
            <a:solidFill>
              <a:srgbClr val="D2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2648" y="1325880"/>
            <a:ext cx="2926080" cy="228600"/>
          </a:xfrm>
          <a:prstGeom prst="rect">
            <a:avLst/>
          </a:prstGeom>
          <a:noFill/>
        </p:spPr>
        <p:txBody>
          <a:bodyPr wrap="square">
            <a:normAutofit/>
          </a:bodyPr>
          <a:lstStyle/>
          <a:p>
            <a:r>
              <a:rPr sz="1100" b="1">
                <a:solidFill>
                  <a:srgbClr val="1F6FEB"/>
                </a:solidFill>
                <a:latin typeface="Aptos"/>
              </a:rPr>
              <a:t>Resilience definition - summary</a:t>
            </a:r>
          </a:p>
        </p:txBody>
      </p:sp>
      <p:sp>
        <p:nvSpPr>
          <p:cNvPr id="7" name="TextBox 6"/>
          <p:cNvSpPr txBox="1"/>
          <p:nvPr/>
        </p:nvSpPr>
        <p:spPr>
          <a:xfrm>
            <a:off x="612648" y="1627632"/>
            <a:ext cx="2880360" cy="1234440"/>
          </a:xfrm>
          <a:prstGeom prst="rect">
            <a:avLst/>
          </a:prstGeom>
          <a:noFill/>
        </p:spPr>
        <p:txBody>
          <a:bodyPr wrap="square">
            <a:normAutofit/>
          </a:bodyPr>
          <a:lstStyle/>
          <a:p>
            <a:r>
              <a:rPr sz="1000" b="0">
                <a:solidFill>
                  <a:srgbClr val="232B37"/>
                </a:solidFill>
                <a:latin typeface="Aptos"/>
              </a:rPr>
              <a:t>N M D O T R E S I L I E N C E I M P R O V E M E N T P L A N New Mexico Department of Transportation Resilience Improvement Plan March 2024 Approved by FHWA July 26, 2024</a:t>
            </a:r>
          </a:p>
        </p:txBody>
      </p:sp>
      <p:sp>
        <p:nvSpPr>
          <p:cNvPr id="8" name="TextBox 7"/>
          <p:cNvSpPr txBox="1"/>
          <p:nvPr/>
        </p:nvSpPr>
        <p:spPr>
          <a:xfrm>
            <a:off x="612648" y="3017520"/>
            <a:ext cx="2880360" cy="228600"/>
          </a:xfrm>
          <a:prstGeom prst="rect">
            <a:avLst/>
          </a:prstGeom>
          <a:noFill/>
        </p:spPr>
        <p:txBody>
          <a:bodyPr wrap="square">
            <a:normAutofit/>
          </a:bodyPr>
          <a:lstStyle/>
          <a:p>
            <a:r>
              <a:rPr sz="800" b="0">
                <a:solidFill>
                  <a:srgbClr val="55606E"/>
                </a:solidFill>
                <a:latin typeface="Aptos"/>
              </a:rPr>
              <a:t>Source page: p. 1</a:t>
            </a:r>
          </a:p>
        </p:txBody>
      </p:sp>
      <p:sp>
        <p:nvSpPr>
          <p:cNvPr id="9" name="Rounded Rectangle 8"/>
          <p:cNvSpPr/>
          <p:nvPr/>
        </p:nvSpPr>
        <p:spPr>
          <a:xfrm>
            <a:off x="411480" y="3520440"/>
            <a:ext cx="3337560" cy="2240280"/>
          </a:xfrm>
          <a:prstGeom prst="roundRect">
            <a:avLst/>
          </a:prstGeom>
          <a:solidFill>
            <a:srgbClr val="FAFBFC"/>
          </a:solidFill>
          <a:ln w="9525">
            <a:solidFill>
              <a:srgbClr val="D2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2648" y="3675887"/>
            <a:ext cx="2926080" cy="228600"/>
          </a:xfrm>
          <a:prstGeom prst="rect">
            <a:avLst/>
          </a:prstGeom>
          <a:noFill/>
        </p:spPr>
        <p:txBody>
          <a:bodyPr wrap="square">
            <a:normAutofit/>
          </a:bodyPr>
          <a:lstStyle/>
          <a:p>
            <a:r>
              <a:rPr sz="1100" b="1">
                <a:solidFill>
                  <a:srgbClr val="1F6FEB"/>
                </a:solidFill>
                <a:latin typeface="Aptos"/>
              </a:rPr>
              <a:t>Risk scoring - summary</a:t>
            </a:r>
          </a:p>
        </p:txBody>
      </p:sp>
      <p:sp>
        <p:nvSpPr>
          <p:cNvPr id="11" name="TextBox 10"/>
          <p:cNvSpPr txBox="1"/>
          <p:nvPr/>
        </p:nvSpPr>
        <p:spPr>
          <a:xfrm>
            <a:off x="612648" y="3977639"/>
            <a:ext cx="2880360" cy="1143000"/>
          </a:xfrm>
          <a:prstGeom prst="rect">
            <a:avLst/>
          </a:prstGeom>
          <a:noFill/>
        </p:spPr>
        <p:txBody>
          <a:bodyPr wrap="square">
            <a:normAutofit/>
          </a:bodyPr>
          <a:lstStyle/>
          <a:p>
            <a:r>
              <a:rPr sz="1000" b="0">
                <a:solidFill>
                  <a:srgbClr val="232B37"/>
                </a:solidFill>
                <a:latin typeface="Aptos"/>
              </a:rPr>
              <a:t>score/rating / ??????: ?????? likelihood/?????, probability/??, consequence/severity/?????, exposure/???, sensitivity/???, criticality/???, vulnerability/????</a:t>
            </a:r>
          </a:p>
        </p:txBody>
      </p:sp>
      <p:sp>
        <p:nvSpPr>
          <p:cNvPr id="12" name="TextBox 11"/>
          <p:cNvSpPr txBox="1"/>
          <p:nvPr/>
        </p:nvSpPr>
        <p:spPr>
          <a:xfrm>
            <a:off x="612648" y="5340096"/>
            <a:ext cx="2880360" cy="228600"/>
          </a:xfrm>
          <a:prstGeom prst="rect">
            <a:avLst/>
          </a:prstGeom>
          <a:noFill/>
        </p:spPr>
        <p:txBody>
          <a:bodyPr wrap="square">
            <a:normAutofit/>
          </a:bodyPr>
          <a:lstStyle/>
          <a:p>
            <a:r>
              <a:rPr sz="800" b="0">
                <a:solidFill>
                  <a:srgbClr val="55606E"/>
                </a:solidFill>
                <a:latin typeface="Aptos"/>
              </a:rPr>
              <a:t>Source page: p. 9</a:t>
            </a:r>
          </a:p>
        </p:txBody>
      </p:sp>
      <p:sp>
        <p:nvSpPr>
          <p:cNvPr id="13" name="TextBox 12"/>
          <p:cNvSpPr txBox="1"/>
          <p:nvPr/>
        </p:nvSpPr>
        <p:spPr>
          <a:xfrm>
            <a:off x="3977639" y="1115568"/>
            <a:ext cx="3383280" cy="201168"/>
          </a:xfrm>
          <a:prstGeom prst="rect">
            <a:avLst/>
          </a:prstGeom>
          <a:noFill/>
        </p:spPr>
        <p:txBody>
          <a:bodyPr wrap="square">
            <a:normAutofit/>
          </a:bodyPr>
          <a:lstStyle/>
          <a:p>
            <a:r>
              <a:rPr sz="900" b="1">
                <a:solidFill>
                  <a:srgbClr val="12202F"/>
                </a:solidFill>
                <a:latin typeface="Aptos"/>
              </a:rPr>
              <a:t>Original excerpt: definition</a:t>
            </a:r>
          </a:p>
        </p:txBody>
      </p:sp>
      <p:pic>
        <p:nvPicPr>
          <p:cNvPr id="14" name="Picture 13" descr="NM_NMDOT_Resilience_Improvement_Plan_2024_definition.png"/>
          <p:cNvPicPr>
            <a:picLocks noChangeAspect="1"/>
          </p:cNvPicPr>
          <p:nvPr/>
        </p:nvPicPr>
        <p:blipFill>
          <a:blip r:embed="rId2"/>
          <a:stretch>
            <a:fillRect/>
          </a:stretch>
        </p:blipFill>
        <p:spPr>
          <a:xfrm>
            <a:off x="7081327" y="1353312"/>
            <a:ext cx="1519304" cy="1965960"/>
          </a:xfrm>
          <a:prstGeom prst="rect">
            <a:avLst/>
          </a:prstGeom>
        </p:spPr>
      </p:pic>
      <p:sp>
        <p:nvSpPr>
          <p:cNvPr id="15" name="TextBox 14"/>
          <p:cNvSpPr txBox="1"/>
          <p:nvPr/>
        </p:nvSpPr>
        <p:spPr>
          <a:xfrm>
            <a:off x="3977639" y="3456432"/>
            <a:ext cx="3383280" cy="201168"/>
          </a:xfrm>
          <a:prstGeom prst="rect">
            <a:avLst/>
          </a:prstGeom>
          <a:noFill/>
        </p:spPr>
        <p:txBody>
          <a:bodyPr wrap="square">
            <a:normAutofit/>
          </a:bodyPr>
          <a:lstStyle/>
          <a:p>
            <a:r>
              <a:rPr sz="900" b="1">
                <a:solidFill>
                  <a:srgbClr val="12202F"/>
                </a:solidFill>
                <a:latin typeface="Aptos"/>
              </a:rPr>
              <a:t>Original excerpt: risk scoring / assessment</a:t>
            </a:r>
          </a:p>
        </p:txBody>
      </p:sp>
      <p:pic>
        <p:nvPicPr>
          <p:cNvPr id="16" name="Picture 15" descr="NM_NMDOT_Resilience_Improvement_Plan_2024_risk.png"/>
          <p:cNvPicPr>
            <a:picLocks noChangeAspect="1"/>
          </p:cNvPicPr>
          <p:nvPr/>
        </p:nvPicPr>
        <p:blipFill>
          <a:blip r:embed="rId3"/>
          <a:stretch>
            <a:fillRect/>
          </a:stretch>
        </p:blipFill>
        <p:spPr>
          <a:xfrm>
            <a:off x="5958975" y="3703320"/>
            <a:ext cx="3764008" cy="1965960"/>
          </a:xfrm>
          <a:prstGeom prst="rect">
            <a:avLst/>
          </a:prstGeom>
        </p:spPr>
      </p:pic>
      <p:sp>
        <p:nvSpPr>
          <p:cNvPr id="17" name="TextBox 16"/>
          <p:cNvSpPr txBox="1"/>
          <p:nvPr/>
        </p:nvSpPr>
        <p:spPr>
          <a:xfrm>
            <a:off x="411480" y="6327648"/>
            <a:ext cx="11201400" cy="228600"/>
          </a:xfrm>
          <a:prstGeom prst="rect">
            <a:avLst/>
          </a:prstGeom>
          <a:noFill/>
        </p:spPr>
        <p:txBody>
          <a:bodyPr wrap="square">
            <a:normAutofit/>
          </a:bodyPr>
          <a:lstStyle/>
          <a:p>
            <a:r>
              <a:rPr sz="600" b="0">
                <a:solidFill>
                  <a:srgbClr val="55606E"/>
                </a:solidFill>
                <a:latin typeface="Aptos"/>
              </a:rPr>
              <a:t>Source: NM_NMDOT_Resilience_Improvement_Plan_2024.pdf; definition p.1, risk p.9; URL: https://www.erm-portal.com/wp-content/uploads/sites/15/2024/08/2024_0324_NMDOT-RIP_Final-3e0d72b101139cc6da2af69c7c26a4d5.pdf</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28600"/>
            <a:ext cx="8961120" cy="411480"/>
          </a:xfrm>
          <a:prstGeom prst="rect">
            <a:avLst/>
          </a:prstGeom>
          <a:noFill/>
        </p:spPr>
        <p:txBody>
          <a:bodyPr wrap="square">
            <a:normAutofit/>
          </a:bodyPr>
          <a:lstStyle/>
          <a:p>
            <a:r>
              <a:rPr sz="2200" b="1">
                <a:solidFill>
                  <a:srgbClr val="12202F"/>
                </a:solidFill>
                <a:latin typeface="Aptos"/>
              </a:rPr>
              <a:t>Ohio / ODOT: definition and risk scoring</a:t>
            </a:r>
          </a:p>
        </p:txBody>
      </p:sp>
      <p:sp>
        <p:nvSpPr>
          <p:cNvPr id="3" name="TextBox 2"/>
          <p:cNvSpPr txBox="1"/>
          <p:nvPr/>
        </p:nvSpPr>
        <p:spPr>
          <a:xfrm>
            <a:off x="438912" y="667512"/>
            <a:ext cx="10881360" cy="256032"/>
          </a:xfrm>
          <a:prstGeom prst="rect">
            <a:avLst/>
          </a:prstGeom>
          <a:noFill/>
        </p:spPr>
        <p:txBody>
          <a:bodyPr wrap="square">
            <a:normAutofit/>
          </a:bodyPr>
          <a:lstStyle/>
          <a:p>
            <a:r>
              <a:rPr sz="800" b="0">
                <a:solidFill>
                  <a:srgbClr val="55606E"/>
                </a:solidFill>
                <a:latin typeface="Aptos"/>
              </a:rPr>
              <a:t>14/20 | OH_ODOT_Resilience_Improvement_Plan.pdf</a:t>
            </a:r>
          </a:p>
        </p:txBody>
      </p:sp>
      <p:sp>
        <p:nvSpPr>
          <p:cNvPr id="4" name="Rectangle 3"/>
          <p:cNvSpPr/>
          <p:nvPr/>
        </p:nvSpPr>
        <p:spPr>
          <a:xfrm>
            <a:off x="411480" y="969264"/>
            <a:ext cx="11384280" cy="18288"/>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11480" y="1170432"/>
            <a:ext cx="3337560" cy="2057400"/>
          </a:xfrm>
          <a:prstGeom prst="roundRect">
            <a:avLst/>
          </a:prstGeom>
          <a:solidFill>
            <a:srgbClr val="FAFBFC"/>
          </a:solidFill>
          <a:ln w="9525">
            <a:solidFill>
              <a:srgbClr val="D2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2648" y="1325880"/>
            <a:ext cx="2926080" cy="228600"/>
          </a:xfrm>
          <a:prstGeom prst="rect">
            <a:avLst/>
          </a:prstGeom>
          <a:noFill/>
        </p:spPr>
        <p:txBody>
          <a:bodyPr wrap="square">
            <a:normAutofit/>
          </a:bodyPr>
          <a:lstStyle/>
          <a:p>
            <a:r>
              <a:rPr sz="1100" b="1">
                <a:solidFill>
                  <a:srgbClr val="1F6FEB"/>
                </a:solidFill>
                <a:latin typeface="Aptos"/>
              </a:rPr>
              <a:t>Resilience definition - summary</a:t>
            </a:r>
          </a:p>
        </p:txBody>
      </p:sp>
      <p:sp>
        <p:nvSpPr>
          <p:cNvPr id="7" name="TextBox 6"/>
          <p:cNvSpPr txBox="1"/>
          <p:nvPr/>
        </p:nvSpPr>
        <p:spPr>
          <a:xfrm>
            <a:off x="612648" y="1627632"/>
            <a:ext cx="2880360" cy="1234440"/>
          </a:xfrm>
          <a:prstGeom prst="rect">
            <a:avLst/>
          </a:prstGeom>
          <a:noFill/>
        </p:spPr>
        <p:txBody>
          <a:bodyPr wrap="square">
            <a:normAutofit/>
          </a:bodyPr>
          <a:lstStyle/>
          <a:p>
            <a:r>
              <a:rPr sz="1000" b="0">
                <a:solidFill>
                  <a:srgbClr val="232B37"/>
                </a:solidFill>
                <a:latin typeface="Aptos"/>
              </a:rPr>
              <a:t>A safe transportation system is one that can withstand extreme weather events and natural disasters.</a:t>
            </a:r>
          </a:p>
        </p:txBody>
      </p:sp>
      <p:sp>
        <p:nvSpPr>
          <p:cNvPr id="8" name="TextBox 7"/>
          <p:cNvSpPr txBox="1"/>
          <p:nvPr/>
        </p:nvSpPr>
        <p:spPr>
          <a:xfrm>
            <a:off x="612648" y="3017520"/>
            <a:ext cx="2880360" cy="228600"/>
          </a:xfrm>
          <a:prstGeom prst="rect">
            <a:avLst/>
          </a:prstGeom>
          <a:noFill/>
        </p:spPr>
        <p:txBody>
          <a:bodyPr wrap="square">
            <a:normAutofit/>
          </a:bodyPr>
          <a:lstStyle/>
          <a:p>
            <a:r>
              <a:rPr sz="800" b="0">
                <a:solidFill>
                  <a:srgbClr val="55606E"/>
                </a:solidFill>
                <a:latin typeface="Aptos"/>
              </a:rPr>
              <a:t>Source page: p. 5</a:t>
            </a:r>
          </a:p>
        </p:txBody>
      </p:sp>
      <p:sp>
        <p:nvSpPr>
          <p:cNvPr id="9" name="Rounded Rectangle 8"/>
          <p:cNvSpPr/>
          <p:nvPr/>
        </p:nvSpPr>
        <p:spPr>
          <a:xfrm>
            <a:off x="411480" y="3520440"/>
            <a:ext cx="3337560" cy="2240280"/>
          </a:xfrm>
          <a:prstGeom prst="roundRect">
            <a:avLst/>
          </a:prstGeom>
          <a:solidFill>
            <a:srgbClr val="FAFBFC"/>
          </a:solidFill>
          <a:ln w="9525">
            <a:solidFill>
              <a:srgbClr val="D2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2648" y="3675887"/>
            <a:ext cx="2926080" cy="228600"/>
          </a:xfrm>
          <a:prstGeom prst="rect">
            <a:avLst/>
          </a:prstGeom>
          <a:noFill/>
        </p:spPr>
        <p:txBody>
          <a:bodyPr wrap="square">
            <a:normAutofit/>
          </a:bodyPr>
          <a:lstStyle/>
          <a:p>
            <a:r>
              <a:rPr sz="1100" b="1">
                <a:solidFill>
                  <a:srgbClr val="1F6FEB"/>
                </a:solidFill>
                <a:latin typeface="Aptos"/>
              </a:rPr>
              <a:t>Risk scoring - summary</a:t>
            </a:r>
          </a:p>
        </p:txBody>
      </p:sp>
      <p:sp>
        <p:nvSpPr>
          <p:cNvPr id="11" name="TextBox 10"/>
          <p:cNvSpPr txBox="1"/>
          <p:nvPr/>
        </p:nvSpPr>
        <p:spPr>
          <a:xfrm>
            <a:off x="612648" y="3977639"/>
            <a:ext cx="2880360" cy="1143000"/>
          </a:xfrm>
          <a:prstGeom prst="rect">
            <a:avLst/>
          </a:prstGeom>
          <a:noFill/>
        </p:spPr>
        <p:txBody>
          <a:bodyPr wrap="square">
            <a:normAutofit/>
          </a:bodyPr>
          <a:lstStyle/>
          <a:p>
            <a:r>
              <a:rPr sz="1000" b="0">
                <a:solidFill>
                  <a:srgbClr val="232B37"/>
                </a:solidFill>
                <a:latin typeface="Aptos"/>
              </a:rPr>
              <a:t>risk-based assessment / ??????: ?????? vulnerability/????</a:t>
            </a:r>
          </a:p>
        </p:txBody>
      </p:sp>
      <p:sp>
        <p:nvSpPr>
          <p:cNvPr id="12" name="TextBox 11"/>
          <p:cNvSpPr txBox="1"/>
          <p:nvPr/>
        </p:nvSpPr>
        <p:spPr>
          <a:xfrm>
            <a:off x="612648" y="5340096"/>
            <a:ext cx="2880360" cy="228600"/>
          </a:xfrm>
          <a:prstGeom prst="rect">
            <a:avLst/>
          </a:prstGeom>
          <a:noFill/>
        </p:spPr>
        <p:txBody>
          <a:bodyPr wrap="square">
            <a:normAutofit/>
          </a:bodyPr>
          <a:lstStyle/>
          <a:p>
            <a:r>
              <a:rPr sz="800" b="0">
                <a:solidFill>
                  <a:srgbClr val="55606E"/>
                </a:solidFill>
                <a:latin typeface="Aptos"/>
              </a:rPr>
              <a:t>Source page: p. 10</a:t>
            </a:r>
          </a:p>
        </p:txBody>
      </p:sp>
      <p:sp>
        <p:nvSpPr>
          <p:cNvPr id="13" name="TextBox 12"/>
          <p:cNvSpPr txBox="1"/>
          <p:nvPr/>
        </p:nvSpPr>
        <p:spPr>
          <a:xfrm>
            <a:off x="3977639" y="1115568"/>
            <a:ext cx="3383280" cy="201168"/>
          </a:xfrm>
          <a:prstGeom prst="rect">
            <a:avLst/>
          </a:prstGeom>
          <a:noFill/>
        </p:spPr>
        <p:txBody>
          <a:bodyPr wrap="square">
            <a:normAutofit/>
          </a:bodyPr>
          <a:lstStyle/>
          <a:p>
            <a:r>
              <a:rPr sz="900" b="1">
                <a:solidFill>
                  <a:srgbClr val="12202F"/>
                </a:solidFill>
                <a:latin typeface="Aptos"/>
              </a:rPr>
              <a:t>Original excerpt: definition</a:t>
            </a:r>
          </a:p>
        </p:txBody>
      </p:sp>
      <p:pic>
        <p:nvPicPr>
          <p:cNvPr id="14" name="Picture 13" descr="OH_ODOT_Resilience_Improvement_Plan_definition.png"/>
          <p:cNvPicPr>
            <a:picLocks noChangeAspect="1"/>
          </p:cNvPicPr>
          <p:nvPr/>
        </p:nvPicPr>
        <p:blipFill>
          <a:blip r:embed="rId2"/>
          <a:stretch>
            <a:fillRect/>
          </a:stretch>
        </p:blipFill>
        <p:spPr>
          <a:xfrm>
            <a:off x="5640245" y="1353312"/>
            <a:ext cx="4401468" cy="1965960"/>
          </a:xfrm>
          <a:prstGeom prst="rect">
            <a:avLst/>
          </a:prstGeom>
        </p:spPr>
      </p:pic>
      <p:sp>
        <p:nvSpPr>
          <p:cNvPr id="15" name="TextBox 14"/>
          <p:cNvSpPr txBox="1"/>
          <p:nvPr/>
        </p:nvSpPr>
        <p:spPr>
          <a:xfrm>
            <a:off x="3977639" y="3456432"/>
            <a:ext cx="3383280" cy="201168"/>
          </a:xfrm>
          <a:prstGeom prst="rect">
            <a:avLst/>
          </a:prstGeom>
          <a:noFill/>
        </p:spPr>
        <p:txBody>
          <a:bodyPr wrap="square">
            <a:normAutofit/>
          </a:bodyPr>
          <a:lstStyle/>
          <a:p>
            <a:r>
              <a:rPr sz="900" b="1">
                <a:solidFill>
                  <a:srgbClr val="12202F"/>
                </a:solidFill>
                <a:latin typeface="Aptos"/>
              </a:rPr>
              <a:t>Original excerpt: risk scoring / assessment</a:t>
            </a:r>
          </a:p>
        </p:txBody>
      </p:sp>
      <p:pic>
        <p:nvPicPr>
          <p:cNvPr id="16" name="Picture 15" descr="OH_ODOT_Resilience_Improvement_Plan_risk.png"/>
          <p:cNvPicPr>
            <a:picLocks noChangeAspect="1"/>
          </p:cNvPicPr>
          <p:nvPr/>
        </p:nvPicPr>
        <p:blipFill>
          <a:blip r:embed="rId3"/>
          <a:stretch>
            <a:fillRect/>
          </a:stretch>
        </p:blipFill>
        <p:spPr>
          <a:xfrm>
            <a:off x="5955114" y="3703320"/>
            <a:ext cx="3771730" cy="1965960"/>
          </a:xfrm>
          <a:prstGeom prst="rect">
            <a:avLst/>
          </a:prstGeom>
        </p:spPr>
      </p:pic>
      <p:sp>
        <p:nvSpPr>
          <p:cNvPr id="17" name="TextBox 16"/>
          <p:cNvSpPr txBox="1"/>
          <p:nvPr/>
        </p:nvSpPr>
        <p:spPr>
          <a:xfrm>
            <a:off x="411480" y="6327648"/>
            <a:ext cx="11201400" cy="228600"/>
          </a:xfrm>
          <a:prstGeom prst="rect">
            <a:avLst/>
          </a:prstGeom>
          <a:noFill/>
        </p:spPr>
        <p:txBody>
          <a:bodyPr wrap="square">
            <a:normAutofit/>
          </a:bodyPr>
          <a:lstStyle/>
          <a:p>
            <a:r>
              <a:rPr sz="600" b="0">
                <a:solidFill>
                  <a:srgbClr val="55606E"/>
                </a:solidFill>
                <a:latin typeface="Aptos"/>
              </a:rPr>
              <a:t>Source: OH_ODOT_Resilience_Improvement_Plan.pdf; definition p.5, risk p.10; URL: https://dam.assets.ohio.gov/image/upload/transportation.ohio.gov/statewide-planning/resilience/Resilience-Improvement-Plan.pdf</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28600"/>
            <a:ext cx="8961120" cy="411480"/>
          </a:xfrm>
          <a:prstGeom prst="rect">
            <a:avLst/>
          </a:prstGeom>
          <a:noFill/>
        </p:spPr>
        <p:txBody>
          <a:bodyPr wrap="square">
            <a:normAutofit/>
          </a:bodyPr>
          <a:lstStyle/>
          <a:p>
            <a:r>
              <a:rPr sz="2200" b="1">
                <a:solidFill>
                  <a:srgbClr val="12202F"/>
                </a:solidFill>
                <a:latin typeface="Aptos"/>
              </a:rPr>
              <a:t>Oregon / ODOT: definition and risk scoring</a:t>
            </a:r>
          </a:p>
        </p:txBody>
      </p:sp>
      <p:sp>
        <p:nvSpPr>
          <p:cNvPr id="3" name="TextBox 2"/>
          <p:cNvSpPr txBox="1"/>
          <p:nvPr/>
        </p:nvSpPr>
        <p:spPr>
          <a:xfrm>
            <a:off x="438912" y="667512"/>
            <a:ext cx="10881360" cy="256032"/>
          </a:xfrm>
          <a:prstGeom prst="rect">
            <a:avLst/>
          </a:prstGeom>
          <a:noFill/>
        </p:spPr>
        <p:txBody>
          <a:bodyPr wrap="square">
            <a:normAutofit/>
          </a:bodyPr>
          <a:lstStyle/>
          <a:p>
            <a:r>
              <a:rPr sz="800" b="0">
                <a:solidFill>
                  <a:srgbClr val="55606E"/>
                </a:solidFill>
                <a:latin typeface="Aptos"/>
              </a:rPr>
              <a:t>15/20 | OR_ODOT_Climate_Adaptation_Resilience_Roadmap.pdf</a:t>
            </a:r>
          </a:p>
        </p:txBody>
      </p:sp>
      <p:sp>
        <p:nvSpPr>
          <p:cNvPr id="4" name="Rectangle 3"/>
          <p:cNvSpPr/>
          <p:nvPr/>
        </p:nvSpPr>
        <p:spPr>
          <a:xfrm>
            <a:off x="411480" y="969264"/>
            <a:ext cx="11384280" cy="18288"/>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11480" y="1170432"/>
            <a:ext cx="3337560" cy="2057400"/>
          </a:xfrm>
          <a:prstGeom prst="roundRect">
            <a:avLst/>
          </a:prstGeom>
          <a:solidFill>
            <a:srgbClr val="FAFBFC"/>
          </a:solidFill>
          <a:ln w="9525">
            <a:solidFill>
              <a:srgbClr val="D2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2648" y="1325880"/>
            <a:ext cx="2926080" cy="228600"/>
          </a:xfrm>
          <a:prstGeom prst="rect">
            <a:avLst/>
          </a:prstGeom>
          <a:noFill/>
        </p:spPr>
        <p:txBody>
          <a:bodyPr wrap="square">
            <a:normAutofit/>
          </a:bodyPr>
          <a:lstStyle/>
          <a:p>
            <a:r>
              <a:rPr sz="1100" b="1">
                <a:solidFill>
                  <a:srgbClr val="1F6FEB"/>
                </a:solidFill>
                <a:latin typeface="Aptos"/>
              </a:rPr>
              <a:t>Resilience definition - summary</a:t>
            </a:r>
          </a:p>
        </p:txBody>
      </p:sp>
      <p:sp>
        <p:nvSpPr>
          <p:cNvPr id="7" name="TextBox 6"/>
          <p:cNvSpPr txBox="1"/>
          <p:nvPr/>
        </p:nvSpPr>
        <p:spPr>
          <a:xfrm>
            <a:off x="612648" y="1627632"/>
            <a:ext cx="2880360" cy="1234440"/>
          </a:xfrm>
          <a:prstGeom prst="rect">
            <a:avLst/>
          </a:prstGeom>
          <a:noFill/>
        </p:spPr>
        <p:txBody>
          <a:bodyPr wrap="square">
            <a:normAutofit/>
          </a:bodyPr>
          <a:lstStyle/>
          <a:p>
            <a:r>
              <a:rPr sz="1000" b="0">
                <a:solidFill>
                  <a:srgbClr val="232B37"/>
                </a:solidFill>
                <a:latin typeface="Aptos"/>
              </a:rPr>
              <a:t>RESILIENCE – The ability to anticipate, prepare for, and adapt to changing conditions and withstand, respond to, and recover rapidly from disruptions.</a:t>
            </a:r>
          </a:p>
        </p:txBody>
      </p:sp>
      <p:sp>
        <p:nvSpPr>
          <p:cNvPr id="8" name="TextBox 7"/>
          <p:cNvSpPr txBox="1"/>
          <p:nvPr/>
        </p:nvSpPr>
        <p:spPr>
          <a:xfrm>
            <a:off x="612648" y="3017520"/>
            <a:ext cx="2880360" cy="228600"/>
          </a:xfrm>
          <a:prstGeom prst="rect">
            <a:avLst/>
          </a:prstGeom>
          <a:noFill/>
        </p:spPr>
        <p:txBody>
          <a:bodyPr wrap="square">
            <a:normAutofit/>
          </a:bodyPr>
          <a:lstStyle/>
          <a:p>
            <a:r>
              <a:rPr sz="800" b="0">
                <a:solidFill>
                  <a:srgbClr val="55606E"/>
                </a:solidFill>
                <a:latin typeface="Aptos"/>
              </a:rPr>
              <a:t>Source page: p. 10</a:t>
            </a:r>
          </a:p>
        </p:txBody>
      </p:sp>
      <p:sp>
        <p:nvSpPr>
          <p:cNvPr id="9" name="Rounded Rectangle 8"/>
          <p:cNvSpPr/>
          <p:nvPr/>
        </p:nvSpPr>
        <p:spPr>
          <a:xfrm>
            <a:off x="411480" y="3520440"/>
            <a:ext cx="3337560" cy="2240280"/>
          </a:xfrm>
          <a:prstGeom prst="roundRect">
            <a:avLst/>
          </a:prstGeom>
          <a:solidFill>
            <a:srgbClr val="FAFBFC"/>
          </a:solidFill>
          <a:ln w="9525">
            <a:solidFill>
              <a:srgbClr val="D2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2648" y="3675887"/>
            <a:ext cx="2926080" cy="228600"/>
          </a:xfrm>
          <a:prstGeom prst="rect">
            <a:avLst/>
          </a:prstGeom>
          <a:noFill/>
        </p:spPr>
        <p:txBody>
          <a:bodyPr wrap="square">
            <a:normAutofit/>
          </a:bodyPr>
          <a:lstStyle/>
          <a:p>
            <a:r>
              <a:rPr sz="1100" b="1">
                <a:solidFill>
                  <a:srgbClr val="1F6FEB"/>
                </a:solidFill>
                <a:latin typeface="Aptos"/>
              </a:rPr>
              <a:t>Risk scoring - summary</a:t>
            </a:r>
          </a:p>
        </p:txBody>
      </p:sp>
      <p:sp>
        <p:nvSpPr>
          <p:cNvPr id="11" name="TextBox 10"/>
          <p:cNvSpPr txBox="1"/>
          <p:nvPr/>
        </p:nvSpPr>
        <p:spPr>
          <a:xfrm>
            <a:off x="612648" y="3977639"/>
            <a:ext cx="2880360" cy="1143000"/>
          </a:xfrm>
          <a:prstGeom prst="rect">
            <a:avLst/>
          </a:prstGeom>
          <a:noFill/>
        </p:spPr>
        <p:txBody>
          <a:bodyPr wrap="square">
            <a:normAutofit/>
          </a:bodyPr>
          <a:lstStyle/>
          <a:p>
            <a:r>
              <a:rPr sz="1000" b="0">
                <a:solidFill>
                  <a:srgbClr val="232B37"/>
                </a:solidFill>
                <a:latin typeface="Aptos"/>
              </a:rPr>
              <a:t>score/rating / ??????: ?????? consequence/severity/?????, exposure/????</a:t>
            </a:r>
          </a:p>
        </p:txBody>
      </p:sp>
      <p:sp>
        <p:nvSpPr>
          <p:cNvPr id="12" name="TextBox 11"/>
          <p:cNvSpPr txBox="1"/>
          <p:nvPr/>
        </p:nvSpPr>
        <p:spPr>
          <a:xfrm>
            <a:off x="612648" y="5340096"/>
            <a:ext cx="2880360" cy="228600"/>
          </a:xfrm>
          <a:prstGeom prst="rect">
            <a:avLst/>
          </a:prstGeom>
          <a:noFill/>
        </p:spPr>
        <p:txBody>
          <a:bodyPr wrap="square">
            <a:normAutofit/>
          </a:bodyPr>
          <a:lstStyle/>
          <a:p>
            <a:r>
              <a:rPr sz="800" b="0">
                <a:solidFill>
                  <a:srgbClr val="55606E"/>
                </a:solidFill>
                <a:latin typeface="Aptos"/>
              </a:rPr>
              <a:t>Source page: p. 78</a:t>
            </a:r>
          </a:p>
        </p:txBody>
      </p:sp>
      <p:sp>
        <p:nvSpPr>
          <p:cNvPr id="13" name="TextBox 12"/>
          <p:cNvSpPr txBox="1"/>
          <p:nvPr/>
        </p:nvSpPr>
        <p:spPr>
          <a:xfrm>
            <a:off x="3977639" y="1115568"/>
            <a:ext cx="3383280" cy="201168"/>
          </a:xfrm>
          <a:prstGeom prst="rect">
            <a:avLst/>
          </a:prstGeom>
          <a:noFill/>
        </p:spPr>
        <p:txBody>
          <a:bodyPr wrap="square">
            <a:normAutofit/>
          </a:bodyPr>
          <a:lstStyle/>
          <a:p>
            <a:r>
              <a:rPr sz="900" b="1">
                <a:solidFill>
                  <a:srgbClr val="12202F"/>
                </a:solidFill>
                <a:latin typeface="Aptos"/>
              </a:rPr>
              <a:t>Original excerpt: definition</a:t>
            </a:r>
          </a:p>
        </p:txBody>
      </p:sp>
      <p:pic>
        <p:nvPicPr>
          <p:cNvPr id="14" name="Picture 13" descr="OR_ODOT_Climate_Adaptation_Resilience_Roadmap_definition.png"/>
          <p:cNvPicPr>
            <a:picLocks noChangeAspect="1"/>
          </p:cNvPicPr>
          <p:nvPr/>
        </p:nvPicPr>
        <p:blipFill>
          <a:blip r:embed="rId2"/>
          <a:stretch>
            <a:fillRect/>
          </a:stretch>
        </p:blipFill>
        <p:spPr>
          <a:xfrm>
            <a:off x="4735459" y="1353312"/>
            <a:ext cx="6211041" cy="1965960"/>
          </a:xfrm>
          <a:prstGeom prst="rect">
            <a:avLst/>
          </a:prstGeom>
        </p:spPr>
      </p:pic>
      <p:sp>
        <p:nvSpPr>
          <p:cNvPr id="15" name="TextBox 14"/>
          <p:cNvSpPr txBox="1"/>
          <p:nvPr/>
        </p:nvSpPr>
        <p:spPr>
          <a:xfrm>
            <a:off x="3977639" y="3456432"/>
            <a:ext cx="3383280" cy="201168"/>
          </a:xfrm>
          <a:prstGeom prst="rect">
            <a:avLst/>
          </a:prstGeom>
          <a:noFill/>
        </p:spPr>
        <p:txBody>
          <a:bodyPr wrap="square">
            <a:normAutofit/>
          </a:bodyPr>
          <a:lstStyle/>
          <a:p>
            <a:r>
              <a:rPr sz="900" b="1">
                <a:solidFill>
                  <a:srgbClr val="12202F"/>
                </a:solidFill>
                <a:latin typeface="Aptos"/>
              </a:rPr>
              <a:t>Original excerpt: risk scoring / assessment</a:t>
            </a:r>
          </a:p>
        </p:txBody>
      </p:sp>
      <p:pic>
        <p:nvPicPr>
          <p:cNvPr id="16" name="Picture 15" descr="OR_ODOT_Climate_Adaptation_Resilience_Roadmap_risk.png"/>
          <p:cNvPicPr>
            <a:picLocks noChangeAspect="1"/>
          </p:cNvPicPr>
          <p:nvPr/>
        </p:nvPicPr>
        <p:blipFill>
          <a:blip r:embed="rId3"/>
          <a:stretch>
            <a:fillRect/>
          </a:stretch>
        </p:blipFill>
        <p:spPr>
          <a:xfrm>
            <a:off x="5764233" y="3703320"/>
            <a:ext cx="4153493" cy="1965960"/>
          </a:xfrm>
          <a:prstGeom prst="rect">
            <a:avLst/>
          </a:prstGeom>
        </p:spPr>
      </p:pic>
      <p:sp>
        <p:nvSpPr>
          <p:cNvPr id="17" name="TextBox 16"/>
          <p:cNvSpPr txBox="1"/>
          <p:nvPr/>
        </p:nvSpPr>
        <p:spPr>
          <a:xfrm>
            <a:off x="411480" y="6327648"/>
            <a:ext cx="11201400" cy="228600"/>
          </a:xfrm>
          <a:prstGeom prst="rect">
            <a:avLst/>
          </a:prstGeom>
          <a:noFill/>
        </p:spPr>
        <p:txBody>
          <a:bodyPr wrap="square">
            <a:normAutofit/>
          </a:bodyPr>
          <a:lstStyle/>
          <a:p>
            <a:r>
              <a:rPr sz="600" b="0">
                <a:solidFill>
                  <a:srgbClr val="55606E"/>
                </a:solidFill>
                <a:latin typeface="Aptos"/>
              </a:rPr>
              <a:t>Source: OR_ODOT_Climate_Adaptation_Resilience_Roadmap.pdf; definition p.10, risk p.78; URL: https://www.tam-portal.com/wp-content/uploads/sites/12/2025/01/ClimateAdaptation_andResilienceRoadmap.pdf</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28600"/>
            <a:ext cx="8961120" cy="411480"/>
          </a:xfrm>
          <a:prstGeom prst="rect">
            <a:avLst/>
          </a:prstGeom>
          <a:noFill/>
        </p:spPr>
        <p:txBody>
          <a:bodyPr wrap="square">
            <a:normAutofit/>
          </a:bodyPr>
          <a:lstStyle/>
          <a:p>
            <a:r>
              <a:rPr sz="2200" b="1">
                <a:solidFill>
                  <a:srgbClr val="12202F"/>
                </a:solidFill>
                <a:latin typeface="Aptos"/>
              </a:rPr>
              <a:t>Rhode Island / RIDOT: definition and risk scoring</a:t>
            </a:r>
          </a:p>
        </p:txBody>
      </p:sp>
      <p:sp>
        <p:nvSpPr>
          <p:cNvPr id="3" name="TextBox 2"/>
          <p:cNvSpPr txBox="1"/>
          <p:nvPr/>
        </p:nvSpPr>
        <p:spPr>
          <a:xfrm>
            <a:off x="438912" y="667512"/>
            <a:ext cx="10881360" cy="256032"/>
          </a:xfrm>
          <a:prstGeom prst="rect">
            <a:avLst/>
          </a:prstGeom>
          <a:noFill/>
        </p:spPr>
        <p:txBody>
          <a:bodyPr wrap="square">
            <a:normAutofit/>
          </a:bodyPr>
          <a:lstStyle/>
          <a:p>
            <a:r>
              <a:rPr sz="800" b="0">
                <a:solidFill>
                  <a:srgbClr val="55606E"/>
                </a:solidFill>
                <a:latin typeface="Aptos"/>
              </a:rPr>
              <a:t>16/20 | RI_RIDOT_Approved_RIP.pdf</a:t>
            </a:r>
          </a:p>
        </p:txBody>
      </p:sp>
      <p:sp>
        <p:nvSpPr>
          <p:cNvPr id="4" name="Rectangle 3"/>
          <p:cNvSpPr/>
          <p:nvPr/>
        </p:nvSpPr>
        <p:spPr>
          <a:xfrm>
            <a:off x="411480" y="969264"/>
            <a:ext cx="11384280" cy="18288"/>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11480" y="1170432"/>
            <a:ext cx="3337560" cy="2057400"/>
          </a:xfrm>
          <a:prstGeom prst="roundRect">
            <a:avLst/>
          </a:prstGeom>
          <a:solidFill>
            <a:srgbClr val="FAFBFC"/>
          </a:solidFill>
          <a:ln w="9525">
            <a:solidFill>
              <a:srgbClr val="D2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2648" y="1325880"/>
            <a:ext cx="2926080" cy="228600"/>
          </a:xfrm>
          <a:prstGeom prst="rect">
            <a:avLst/>
          </a:prstGeom>
          <a:noFill/>
        </p:spPr>
        <p:txBody>
          <a:bodyPr wrap="square">
            <a:normAutofit/>
          </a:bodyPr>
          <a:lstStyle/>
          <a:p>
            <a:r>
              <a:rPr sz="1100" b="1">
                <a:solidFill>
                  <a:srgbClr val="1F6FEB"/>
                </a:solidFill>
                <a:latin typeface="Aptos"/>
              </a:rPr>
              <a:t>Resilience definition - summary</a:t>
            </a:r>
          </a:p>
        </p:txBody>
      </p:sp>
      <p:sp>
        <p:nvSpPr>
          <p:cNvPr id="7" name="TextBox 6"/>
          <p:cNvSpPr txBox="1"/>
          <p:nvPr/>
        </p:nvSpPr>
        <p:spPr>
          <a:xfrm>
            <a:off x="612648" y="1627632"/>
            <a:ext cx="2880360" cy="1234440"/>
          </a:xfrm>
          <a:prstGeom prst="rect">
            <a:avLst/>
          </a:prstGeom>
          <a:noFill/>
        </p:spPr>
        <p:txBody>
          <a:bodyPr wrap="square">
            <a:normAutofit/>
          </a:bodyPr>
          <a:lstStyle/>
          <a:p>
            <a:r>
              <a:rPr sz="1000" b="0">
                <a:solidFill>
                  <a:srgbClr val="232B37"/>
                </a:solidFill>
                <a:latin typeface="Aptos"/>
              </a:rPr>
              <a:t>Resilience is defined by RIDOT as the ability of the Rhode Island transportation system to anticipate, prepare for, and adapt to changing conditions; and withstand, respond to, and recover rapidly from any disruptions.</a:t>
            </a:r>
          </a:p>
        </p:txBody>
      </p:sp>
      <p:sp>
        <p:nvSpPr>
          <p:cNvPr id="8" name="TextBox 7"/>
          <p:cNvSpPr txBox="1"/>
          <p:nvPr/>
        </p:nvSpPr>
        <p:spPr>
          <a:xfrm>
            <a:off x="612648" y="3017520"/>
            <a:ext cx="2880360" cy="228600"/>
          </a:xfrm>
          <a:prstGeom prst="rect">
            <a:avLst/>
          </a:prstGeom>
          <a:noFill/>
        </p:spPr>
        <p:txBody>
          <a:bodyPr wrap="square">
            <a:normAutofit/>
          </a:bodyPr>
          <a:lstStyle/>
          <a:p>
            <a:r>
              <a:rPr sz="800" b="0">
                <a:solidFill>
                  <a:srgbClr val="55606E"/>
                </a:solidFill>
                <a:latin typeface="Aptos"/>
              </a:rPr>
              <a:t>Source page: p. 27</a:t>
            </a:r>
          </a:p>
        </p:txBody>
      </p:sp>
      <p:sp>
        <p:nvSpPr>
          <p:cNvPr id="9" name="Rounded Rectangle 8"/>
          <p:cNvSpPr/>
          <p:nvPr/>
        </p:nvSpPr>
        <p:spPr>
          <a:xfrm>
            <a:off x="411480" y="3520440"/>
            <a:ext cx="3337560" cy="2240280"/>
          </a:xfrm>
          <a:prstGeom prst="roundRect">
            <a:avLst/>
          </a:prstGeom>
          <a:solidFill>
            <a:srgbClr val="FAFBFC"/>
          </a:solidFill>
          <a:ln w="9525">
            <a:solidFill>
              <a:srgbClr val="D2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2648" y="3675887"/>
            <a:ext cx="2926080" cy="228600"/>
          </a:xfrm>
          <a:prstGeom prst="rect">
            <a:avLst/>
          </a:prstGeom>
          <a:noFill/>
        </p:spPr>
        <p:txBody>
          <a:bodyPr wrap="square">
            <a:normAutofit/>
          </a:bodyPr>
          <a:lstStyle/>
          <a:p>
            <a:r>
              <a:rPr sz="1100" b="1">
                <a:solidFill>
                  <a:srgbClr val="1F6FEB"/>
                </a:solidFill>
                <a:latin typeface="Aptos"/>
              </a:rPr>
              <a:t>Risk scoring - summary</a:t>
            </a:r>
          </a:p>
        </p:txBody>
      </p:sp>
      <p:sp>
        <p:nvSpPr>
          <p:cNvPr id="11" name="TextBox 10"/>
          <p:cNvSpPr txBox="1"/>
          <p:nvPr/>
        </p:nvSpPr>
        <p:spPr>
          <a:xfrm>
            <a:off x="612648" y="3977639"/>
            <a:ext cx="2880360" cy="1143000"/>
          </a:xfrm>
          <a:prstGeom prst="rect">
            <a:avLst/>
          </a:prstGeom>
          <a:noFill/>
        </p:spPr>
        <p:txBody>
          <a:bodyPr wrap="square">
            <a:normAutofit/>
          </a:bodyPr>
          <a:lstStyle/>
          <a:p>
            <a:r>
              <a:rPr sz="1000" b="0">
                <a:solidFill>
                  <a:srgbClr val="232B37"/>
                </a:solidFill>
                <a:latin typeface="Aptos"/>
              </a:rPr>
              <a:t>risk-based assessment / ??????: ?????? exposure/???, sensitivity/???, adaptive capacity/????, vulnerability/????</a:t>
            </a:r>
          </a:p>
        </p:txBody>
      </p:sp>
      <p:sp>
        <p:nvSpPr>
          <p:cNvPr id="12" name="TextBox 11"/>
          <p:cNvSpPr txBox="1"/>
          <p:nvPr/>
        </p:nvSpPr>
        <p:spPr>
          <a:xfrm>
            <a:off x="612648" y="5340096"/>
            <a:ext cx="2880360" cy="228600"/>
          </a:xfrm>
          <a:prstGeom prst="rect">
            <a:avLst/>
          </a:prstGeom>
          <a:noFill/>
        </p:spPr>
        <p:txBody>
          <a:bodyPr wrap="square">
            <a:normAutofit/>
          </a:bodyPr>
          <a:lstStyle/>
          <a:p>
            <a:r>
              <a:rPr sz="800" b="0">
                <a:solidFill>
                  <a:srgbClr val="55606E"/>
                </a:solidFill>
                <a:latin typeface="Aptos"/>
              </a:rPr>
              <a:t>Source page: p. 22</a:t>
            </a:r>
          </a:p>
        </p:txBody>
      </p:sp>
      <p:sp>
        <p:nvSpPr>
          <p:cNvPr id="13" name="TextBox 12"/>
          <p:cNvSpPr txBox="1"/>
          <p:nvPr/>
        </p:nvSpPr>
        <p:spPr>
          <a:xfrm>
            <a:off x="3977639" y="1115568"/>
            <a:ext cx="3383280" cy="201168"/>
          </a:xfrm>
          <a:prstGeom prst="rect">
            <a:avLst/>
          </a:prstGeom>
          <a:noFill/>
        </p:spPr>
        <p:txBody>
          <a:bodyPr wrap="square">
            <a:normAutofit/>
          </a:bodyPr>
          <a:lstStyle/>
          <a:p>
            <a:r>
              <a:rPr sz="900" b="1">
                <a:solidFill>
                  <a:srgbClr val="12202F"/>
                </a:solidFill>
                <a:latin typeface="Aptos"/>
              </a:rPr>
              <a:t>Original excerpt: definition</a:t>
            </a:r>
          </a:p>
        </p:txBody>
      </p:sp>
      <p:pic>
        <p:nvPicPr>
          <p:cNvPr id="14" name="Picture 13" descr="RI_RIDOT_Approved_RIP_definition.png"/>
          <p:cNvPicPr>
            <a:picLocks noChangeAspect="1"/>
          </p:cNvPicPr>
          <p:nvPr/>
        </p:nvPicPr>
        <p:blipFill>
          <a:blip r:embed="rId2"/>
          <a:stretch>
            <a:fillRect/>
          </a:stretch>
        </p:blipFill>
        <p:spPr>
          <a:xfrm>
            <a:off x="3990385" y="1353312"/>
            <a:ext cx="7701188" cy="1965960"/>
          </a:xfrm>
          <a:prstGeom prst="rect">
            <a:avLst/>
          </a:prstGeom>
        </p:spPr>
      </p:pic>
      <p:sp>
        <p:nvSpPr>
          <p:cNvPr id="15" name="TextBox 14"/>
          <p:cNvSpPr txBox="1"/>
          <p:nvPr/>
        </p:nvSpPr>
        <p:spPr>
          <a:xfrm>
            <a:off x="3977639" y="3456432"/>
            <a:ext cx="3383280" cy="201168"/>
          </a:xfrm>
          <a:prstGeom prst="rect">
            <a:avLst/>
          </a:prstGeom>
          <a:noFill/>
        </p:spPr>
        <p:txBody>
          <a:bodyPr wrap="square">
            <a:normAutofit/>
          </a:bodyPr>
          <a:lstStyle/>
          <a:p>
            <a:r>
              <a:rPr sz="900" b="1">
                <a:solidFill>
                  <a:srgbClr val="12202F"/>
                </a:solidFill>
                <a:latin typeface="Aptos"/>
              </a:rPr>
              <a:t>Original excerpt: risk scoring / assessment</a:t>
            </a:r>
          </a:p>
        </p:txBody>
      </p:sp>
      <p:pic>
        <p:nvPicPr>
          <p:cNvPr id="16" name="Picture 15" descr="RI_RIDOT_Approved_RIP_risk.png"/>
          <p:cNvPicPr>
            <a:picLocks noChangeAspect="1"/>
          </p:cNvPicPr>
          <p:nvPr/>
        </p:nvPicPr>
        <p:blipFill>
          <a:blip r:embed="rId3"/>
          <a:stretch>
            <a:fillRect/>
          </a:stretch>
        </p:blipFill>
        <p:spPr>
          <a:xfrm>
            <a:off x="4733315" y="3703320"/>
            <a:ext cx="6215329" cy="1965960"/>
          </a:xfrm>
          <a:prstGeom prst="rect">
            <a:avLst/>
          </a:prstGeom>
        </p:spPr>
      </p:pic>
      <p:sp>
        <p:nvSpPr>
          <p:cNvPr id="17" name="TextBox 16"/>
          <p:cNvSpPr txBox="1"/>
          <p:nvPr/>
        </p:nvSpPr>
        <p:spPr>
          <a:xfrm>
            <a:off x="411480" y="6327648"/>
            <a:ext cx="11201400" cy="228600"/>
          </a:xfrm>
          <a:prstGeom prst="rect">
            <a:avLst/>
          </a:prstGeom>
          <a:noFill/>
        </p:spPr>
        <p:txBody>
          <a:bodyPr wrap="square">
            <a:normAutofit/>
          </a:bodyPr>
          <a:lstStyle/>
          <a:p>
            <a:r>
              <a:rPr sz="600" b="0">
                <a:solidFill>
                  <a:srgbClr val="55606E"/>
                </a:solidFill>
                <a:latin typeface="Aptos"/>
              </a:rPr>
              <a:t>Source: RI_RIDOT_Approved_RIP.pdf; definition p.27, risk p.22; URL: https://www.dot.ri.gov/rhodeworks/docs/RIDOT_Approved_RIP.pdf</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28600"/>
            <a:ext cx="8961120" cy="411480"/>
          </a:xfrm>
          <a:prstGeom prst="rect">
            <a:avLst/>
          </a:prstGeom>
          <a:noFill/>
        </p:spPr>
        <p:txBody>
          <a:bodyPr wrap="square">
            <a:normAutofit/>
          </a:bodyPr>
          <a:lstStyle/>
          <a:p>
            <a:r>
              <a:rPr sz="2200" b="1">
                <a:solidFill>
                  <a:srgbClr val="12202F"/>
                </a:solidFill>
                <a:latin typeface="Aptos"/>
              </a:rPr>
              <a:t>Texas / TxDOT: definition and risk scoring</a:t>
            </a:r>
          </a:p>
        </p:txBody>
      </p:sp>
      <p:sp>
        <p:nvSpPr>
          <p:cNvPr id="3" name="TextBox 2"/>
          <p:cNvSpPr txBox="1"/>
          <p:nvPr/>
        </p:nvSpPr>
        <p:spPr>
          <a:xfrm>
            <a:off x="438912" y="667512"/>
            <a:ext cx="10881360" cy="256032"/>
          </a:xfrm>
          <a:prstGeom prst="rect">
            <a:avLst/>
          </a:prstGeom>
          <a:noFill/>
        </p:spPr>
        <p:txBody>
          <a:bodyPr wrap="square">
            <a:normAutofit/>
          </a:bodyPr>
          <a:lstStyle/>
          <a:p>
            <a:r>
              <a:rPr sz="800" b="0">
                <a:solidFill>
                  <a:srgbClr val="55606E"/>
                </a:solidFill>
                <a:latin typeface="Aptos"/>
              </a:rPr>
              <a:t>17/20 | TX_TxDOT_Statewide_Transportation_Resilience_Plan_2025.pdf</a:t>
            </a:r>
          </a:p>
        </p:txBody>
      </p:sp>
      <p:sp>
        <p:nvSpPr>
          <p:cNvPr id="4" name="Rectangle 3"/>
          <p:cNvSpPr/>
          <p:nvPr/>
        </p:nvSpPr>
        <p:spPr>
          <a:xfrm>
            <a:off x="411480" y="969264"/>
            <a:ext cx="11384280" cy="18288"/>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11480" y="1170432"/>
            <a:ext cx="3337560" cy="2057400"/>
          </a:xfrm>
          <a:prstGeom prst="roundRect">
            <a:avLst/>
          </a:prstGeom>
          <a:solidFill>
            <a:srgbClr val="FAFBFC"/>
          </a:solidFill>
          <a:ln w="9525">
            <a:solidFill>
              <a:srgbClr val="D2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2648" y="1325880"/>
            <a:ext cx="2926080" cy="228600"/>
          </a:xfrm>
          <a:prstGeom prst="rect">
            <a:avLst/>
          </a:prstGeom>
          <a:noFill/>
        </p:spPr>
        <p:txBody>
          <a:bodyPr wrap="square">
            <a:normAutofit/>
          </a:bodyPr>
          <a:lstStyle/>
          <a:p>
            <a:r>
              <a:rPr sz="1100" b="1">
                <a:solidFill>
                  <a:srgbClr val="1F6FEB"/>
                </a:solidFill>
                <a:latin typeface="Aptos"/>
              </a:rPr>
              <a:t>Resilience definition - summary</a:t>
            </a:r>
          </a:p>
        </p:txBody>
      </p:sp>
      <p:sp>
        <p:nvSpPr>
          <p:cNvPr id="7" name="TextBox 6"/>
          <p:cNvSpPr txBox="1"/>
          <p:nvPr/>
        </p:nvSpPr>
        <p:spPr>
          <a:xfrm>
            <a:off x="612648" y="1627632"/>
            <a:ext cx="2880360" cy="1234440"/>
          </a:xfrm>
          <a:prstGeom prst="rect">
            <a:avLst/>
          </a:prstGeom>
          <a:noFill/>
        </p:spPr>
        <p:txBody>
          <a:bodyPr wrap="square">
            <a:normAutofit/>
          </a:bodyPr>
          <a:lstStyle/>
          <a:p>
            <a:r>
              <a:rPr sz="1000" b="0">
                <a:solidFill>
                  <a:srgbClr val="232B37"/>
                </a:solidFill>
                <a:latin typeface="Aptos"/>
              </a:rPr>
              <a:t>Resilience is the ability to support and maintain a multimodal transportation system that can safely move people, goods, and services during adverse conditions, and to be able to anticipate, prepare for, adapt to, withstand, respond to, and recover efficiently from both human and natural disasters and disruptions.</a:t>
            </a:r>
          </a:p>
        </p:txBody>
      </p:sp>
      <p:sp>
        <p:nvSpPr>
          <p:cNvPr id="8" name="TextBox 7"/>
          <p:cNvSpPr txBox="1"/>
          <p:nvPr/>
        </p:nvSpPr>
        <p:spPr>
          <a:xfrm>
            <a:off x="612648" y="3017520"/>
            <a:ext cx="2880360" cy="228600"/>
          </a:xfrm>
          <a:prstGeom prst="rect">
            <a:avLst/>
          </a:prstGeom>
          <a:noFill/>
        </p:spPr>
        <p:txBody>
          <a:bodyPr wrap="square">
            <a:normAutofit/>
          </a:bodyPr>
          <a:lstStyle/>
          <a:p>
            <a:r>
              <a:rPr sz="800" b="0">
                <a:solidFill>
                  <a:srgbClr val="55606E"/>
                </a:solidFill>
                <a:latin typeface="Aptos"/>
              </a:rPr>
              <a:t>Source page: p. 6</a:t>
            </a:r>
          </a:p>
        </p:txBody>
      </p:sp>
      <p:sp>
        <p:nvSpPr>
          <p:cNvPr id="9" name="Rounded Rectangle 8"/>
          <p:cNvSpPr/>
          <p:nvPr/>
        </p:nvSpPr>
        <p:spPr>
          <a:xfrm>
            <a:off x="411480" y="3520440"/>
            <a:ext cx="3337560" cy="2240280"/>
          </a:xfrm>
          <a:prstGeom prst="roundRect">
            <a:avLst/>
          </a:prstGeom>
          <a:solidFill>
            <a:srgbClr val="FAFBFC"/>
          </a:solidFill>
          <a:ln w="9525">
            <a:solidFill>
              <a:srgbClr val="D2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2648" y="3675887"/>
            <a:ext cx="2926080" cy="228600"/>
          </a:xfrm>
          <a:prstGeom prst="rect">
            <a:avLst/>
          </a:prstGeom>
          <a:noFill/>
        </p:spPr>
        <p:txBody>
          <a:bodyPr wrap="square">
            <a:normAutofit/>
          </a:bodyPr>
          <a:lstStyle/>
          <a:p>
            <a:r>
              <a:rPr sz="1100" b="1">
                <a:solidFill>
                  <a:srgbClr val="1F6FEB"/>
                </a:solidFill>
                <a:latin typeface="Aptos"/>
              </a:rPr>
              <a:t>Risk scoring - summary</a:t>
            </a:r>
          </a:p>
        </p:txBody>
      </p:sp>
      <p:sp>
        <p:nvSpPr>
          <p:cNvPr id="11" name="TextBox 10"/>
          <p:cNvSpPr txBox="1"/>
          <p:nvPr/>
        </p:nvSpPr>
        <p:spPr>
          <a:xfrm>
            <a:off x="612648" y="3977639"/>
            <a:ext cx="2880360" cy="1143000"/>
          </a:xfrm>
          <a:prstGeom prst="rect">
            <a:avLst/>
          </a:prstGeom>
          <a:noFill/>
        </p:spPr>
        <p:txBody>
          <a:bodyPr wrap="square">
            <a:normAutofit/>
          </a:bodyPr>
          <a:lstStyle/>
          <a:p>
            <a:r>
              <a:rPr sz="1000" b="0">
                <a:solidFill>
                  <a:srgbClr val="232B37"/>
                </a:solidFill>
                <a:latin typeface="Aptos"/>
              </a:rPr>
              <a:t>risk-based assessment / ??????: ?????? exposure/???, sensitivity/???, vulnerability/????</a:t>
            </a:r>
          </a:p>
        </p:txBody>
      </p:sp>
      <p:sp>
        <p:nvSpPr>
          <p:cNvPr id="12" name="TextBox 11"/>
          <p:cNvSpPr txBox="1"/>
          <p:nvPr/>
        </p:nvSpPr>
        <p:spPr>
          <a:xfrm>
            <a:off x="612648" y="5340096"/>
            <a:ext cx="2880360" cy="228600"/>
          </a:xfrm>
          <a:prstGeom prst="rect">
            <a:avLst/>
          </a:prstGeom>
          <a:noFill/>
        </p:spPr>
        <p:txBody>
          <a:bodyPr wrap="square">
            <a:normAutofit/>
          </a:bodyPr>
          <a:lstStyle/>
          <a:p>
            <a:r>
              <a:rPr sz="800" b="0">
                <a:solidFill>
                  <a:srgbClr val="55606E"/>
                </a:solidFill>
                <a:latin typeface="Aptos"/>
              </a:rPr>
              <a:t>Source page: p. 57</a:t>
            </a:r>
          </a:p>
        </p:txBody>
      </p:sp>
      <p:sp>
        <p:nvSpPr>
          <p:cNvPr id="13" name="TextBox 12"/>
          <p:cNvSpPr txBox="1"/>
          <p:nvPr/>
        </p:nvSpPr>
        <p:spPr>
          <a:xfrm>
            <a:off x="3977639" y="1115568"/>
            <a:ext cx="3383280" cy="201168"/>
          </a:xfrm>
          <a:prstGeom prst="rect">
            <a:avLst/>
          </a:prstGeom>
          <a:noFill/>
        </p:spPr>
        <p:txBody>
          <a:bodyPr wrap="square">
            <a:normAutofit/>
          </a:bodyPr>
          <a:lstStyle/>
          <a:p>
            <a:r>
              <a:rPr sz="900" b="1">
                <a:solidFill>
                  <a:srgbClr val="12202F"/>
                </a:solidFill>
                <a:latin typeface="Aptos"/>
              </a:rPr>
              <a:t>Original excerpt: definition</a:t>
            </a:r>
          </a:p>
        </p:txBody>
      </p:sp>
      <p:pic>
        <p:nvPicPr>
          <p:cNvPr id="14" name="Picture 13" descr="TX_TxDOT_Statewide_Transportation_Resilience_Plan_2025_definition.png"/>
          <p:cNvPicPr>
            <a:picLocks noChangeAspect="1"/>
          </p:cNvPicPr>
          <p:nvPr/>
        </p:nvPicPr>
        <p:blipFill>
          <a:blip r:embed="rId2"/>
          <a:stretch>
            <a:fillRect/>
          </a:stretch>
        </p:blipFill>
        <p:spPr>
          <a:xfrm>
            <a:off x="4769500" y="1353312"/>
            <a:ext cx="6142959" cy="1965960"/>
          </a:xfrm>
          <a:prstGeom prst="rect">
            <a:avLst/>
          </a:prstGeom>
        </p:spPr>
      </p:pic>
      <p:sp>
        <p:nvSpPr>
          <p:cNvPr id="15" name="TextBox 14"/>
          <p:cNvSpPr txBox="1"/>
          <p:nvPr/>
        </p:nvSpPr>
        <p:spPr>
          <a:xfrm>
            <a:off x="3977639" y="3456432"/>
            <a:ext cx="3383280" cy="201168"/>
          </a:xfrm>
          <a:prstGeom prst="rect">
            <a:avLst/>
          </a:prstGeom>
          <a:noFill/>
        </p:spPr>
        <p:txBody>
          <a:bodyPr wrap="square">
            <a:normAutofit/>
          </a:bodyPr>
          <a:lstStyle/>
          <a:p>
            <a:r>
              <a:rPr sz="900" b="1">
                <a:solidFill>
                  <a:srgbClr val="12202F"/>
                </a:solidFill>
                <a:latin typeface="Aptos"/>
              </a:rPr>
              <a:t>Original excerpt: risk scoring / assessment</a:t>
            </a:r>
          </a:p>
        </p:txBody>
      </p:sp>
      <p:pic>
        <p:nvPicPr>
          <p:cNvPr id="16" name="Picture 15" descr="TX_TxDOT_Statewide_Transportation_Resilience_Plan_2025_risk.png"/>
          <p:cNvPicPr>
            <a:picLocks noChangeAspect="1"/>
          </p:cNvPicPr>
          <p:nvPr/>
        </p:nvPicPr>
        <p:blipFill>
          <a:blip r:embed="rId3"/>
          <a:stretch>
            <a:fillRect/>
          </a:stretch>
        </p:blipFill>
        <p:spPr>
          <a:xfrm>
            <a:off x="3977639" y="3915640"/>
            <a:ext cx="7726679" cy="1541319"/>
          </a:xfrm>
          <a:prstGeom prst="rect">
            <a:avLst/>
          </a:prstGeom>
        </p:spPr>
      </p:pic>
      <p:sp>
        <p:nvSpPr>
          <p:cNvPr id="17" name="TextBox 16"/>
          <p:cNvSpPr txBox="1"/>
          <p:nvPr/>
        </p:nvSpPr>
        <p:spPr>
          <a:xfrm>
            <a:off x="411480" y="6327648"/>
            <a:ext cx="11201400" cy="228600"/>
          </a:xfrm>
          <a:prstGeom prst="rect">
            <a:avLst/>
          </a:prstGeom>
          <a:noFill/>
        </p:spPr>
        <p:txBody>
          <a:bodyPr wrap="square">
            <a:normAutofit/>
          </a:bodyPr>
          <a:lstStyle/>
          <a:p>
            <a:r>
              <a:rPr sz="600" b="0">
                <a:solidFill>
                  <a:srgbClr val="55606E"/>
                </a:solidFill>
                <a:latin typeface="Aptos"/>
              </a:rPr>
              <a:t>Source: TX_TxDOT_Statewide_Transportation_Resilience_Plan_2025.pdf; definition p.6, risk p.57; URL: https://www.txdot.gov/content/dam/docs/division/tpp/2025-statewide-resiliency-plan.pdf</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28600"/>
            <a:ext cx="8961120" cy="411480"/>
          </a:xfrm>
          <a:prstGeom prst="rect">
            <a:avLst/>
          </a:prstGeom>
          <a:noFill/>
        </p:spPr>
        <p:txBody>
          <a:bodyPr wrap="square">
            <a:normAutofit/>
          </a:bodyPr>
          <a:lstStyle/>
          <a:p>
            <a:r>
              <a:rPr sz="2200" b="1">
                <a:solidFill>
                  <a:srgbClr val="12202F"/>
                </a:solidFill>
                <a:latin typeface="Aptos"/>
              </a:rPr>
              <a:t>Utah / UDOT: definition and risk scoring</a:t>
            </a:r>
          </a:p>
        </p:txBody>
      </p:sp>
      <p:sp>
        <p:nvSpPr>
          <p:cNvPr id="3" name="TextBox 2"/>
          <p:cNvSpPr txBox="1"/>
          <p:nvPr/>
        </p:nvSpPr>
        <p:spPr>
          <a:xfrm>
            <a:off x="438912" y="667512"/>
            <a:ext cx="10881360" cy="256032"/>
          </a:xfrm>
          <a:prstGeom prst="rect">
            <a:avLst/>
          </a:prstGeom>
          <a:noFill/>
        </p:spPr>
        <p:txBody>
          <a:bodyPr wrap="square">
            <a:normAutofit/>
          </a:bodyPr>
          <a:lstStyle/>
          <a:p>
            <a:r>
              <a:rPr sz="800" b="0">
                <a:solidFill>
                  <a:srgbClr val="55606E"/>
                </a:solidFill>
                <a:latin typeface="Aptos"/>
              </a:rPr>
              <a:t>18/20 | UT_UDOT_Resilience_Improvement_Plan_2024.pdf</a:t>
            </a:r>
          </a:p>
        </p:txBody>
      </p:sp>
      <p:sp>
        <p:nvSpPr>
          <p:cNvPr id="4" name="Rectangle 3"/>
          <p:cNvSpPr/>
          <p:nvPr/>
        </p:nvSpPr>
        <p:spPr>
          <a:xfrm>
            <a:off x="411480" y="969264"/>
            <a:ext cx="11384280" cy="18288"/>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11480" y="1170432"/>
            <a:ext cx="3337560" cy="2057400"/>
          </a:xfrm>
          <a:prstGeom prst="roundRect">
            <a:avLst/>
          </a:prstGeom>
          <a:solidFill>
            <a:srgbClr val="FAFBFC"/>
          </a:solidFill>
          <a:ln w="9525">
            <a:solidFill>
              <a:srgbClr val="D2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2648" y="1325880"/>
            <a:ext cx="2926080" cy="228600"/>
          </a:xfrm>
          <a:prstGeom prst="rect">
            <a:avLst/>
          </a:prstGeom>
          <a:noFill/>
        </p:spPr>
        <p:txBody>
          <a:bodyPr wrap="square">
            <a:normAutofit/>
          </a:bodyPr>
          <a:lstStyle/>
          <a:p>
            <a:r>
              <a:rPr sz="1100" b="1">
                <a:solidFill>
                  <a:srgbClr val="1F6FEB"/>
                </a:solidFill>
                <a:latin typeface="Aptos"/>
              </a:rPr>
              <a:t>Resilience definition - summary</a:t>
            </a:r>
          </a:p>
        </p:txBody>
      </p:sp>
      <p:sp>
        <p:nvSpPr>
          <p:cNvPr id="7" name="TextBox 6"/>
          <p:cNvSpPr txBox="1"/>
          <p:nvPr/>
        </p:nvSpPr>
        <p:spPr>
          <a:xfrm>
            <a:off x="612648" y="1627632"/>
            <a:ext cx="2880360" cy="1234440"/>
          </a:xfrm>
          <a:prstGeom prst="rect">
            <a:avLst/>
          </a:prstGeom>
          <a:noFill/>
        </p:spPr>
        <p:txBody>
          <a:bodyPr wrap="square">
            <a:normAutofit/>
          </a:bodyPr>
          <a:lstStyle/>
          <a:p>
            <a:r>
              <a:rPr sz="1000" b="0">
                <a:solidFill>
                  <a:srgbClr val="232B37"/>
                </a:solidFill>
                <a:latin typeface="Aptos"/>
              </a:rPr>
              <a:t>FHWA defines resilience as the ability to anticipate, prepare for, or adapt to conditions or withstand, respond to, or recover rapidly from disruptions.</a:t>
            </a:r>
          </a:p>
        </p:txBody>
      </p:sp>
      <p:sp>
        <p:nvSpPr>
          <p:cNvPr id="8" name="TextBox 7"/>
          <p:cNvSpPr txBox="1"/>
          <p:nvPr/>
        </p:nvSpPr>
        <p:spPr>
          <a:xfrm>
            <a:off x="612648" y="3017520"/>
            <a:ext cx="2880360" cy="228600"/>
          </a:xfrm>
          <a:prstGeom prst="rect">
            <a:avLst/>
          </a:prstGeom>
          <a:noFill/>
        </p:spPr>
        <p:txBody>
          <a:bodyPr wrap="square">
            <a:normAutofit/>
          </a:bodyPr>
          <a:lstStyle/>
          <a:p>
            <a:r>
              <a:rPr sz="800" b="0">
                <a:solidFill>
                  <a:srgbClr val="55606E"/>
                </a:solidFill>
                <a:latin typeface="Aptos"/>
              </a:rPr>
              <a:t>Source page: p. 10</a:t>
            </a:r>
          </a:p>
        </p:txBody>
      </p:sp>
      <p:sp>
        <p:nvSpPr>
          <p:cNvPr id="9" name="Rounded Rectangle 8"/>
          <p:cNvSpPr/>
          <p:nvPr/>
        </p:nvSpPr>
        <p:spPr>
          <a:xfrm>
            <a:off x="411480" y="3520440"/>
            <a:ext cx="3337560" cy="2240280"/>
          </a:xfrm>
          <a:prstGeom prst="roundRect">
            <a:avLst/>
          </a:prstGeom>
          <a:solidFill>
            <a:srgbClr val="FAFBFC"/>
          </a:solidFill>
          <a:ln w="9525">
            <a:solidFill>
              <a:srgbClr val="D2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2648" y="3675887"/>
            <a:ext cx="2926080" cy="228600"/>
          </a:xfrm>
          <a:prstGeom prst="rect">
            <a:avLst/>
          </a:prstGeom>
          <a:noFill/>
        </p:spPr>
        <p:txBody>
          <a:bodyPr wrap="square">
            <a:normAutofit/>
          </a:bodyPr>
          <a:lstStyle/>
          <a:p>
            <a:r>
              <a:rPr sz="1100" b="1">
                <a:solidFill>
                  <a:srgbClr val="1F6FEB"/>
                </a:solidFill>
                <a:latin typeface="Aptos"/>
              </a:rPr>
              <a:t>Risk scoring - summary</a:t>
            </a:r>
          </a:p>
        </p:txBody>
      </p:sp>
      <p:sp>
        <p:nvSpPr>
          <p:cNvPr id="11" name="TextBox 10"/>
          <p:cNvSpPr txBox="1"/>
          <p:nvPr/>
        </p:nvSpPr>
        <p:spPr>
          <a:xfrm>
            <a:off x="612648" y="3977639"/>
            <a:ext cx="2880360" cy="1143000"/>
          </a:xfrm>
          <a:prstGeom prst="rect">
            <a:avLst/>
          </a:prstGeom>
          <a:noFill/>
        </p:spPr>
        <p:txBody>
          <a:bodyPr wrap="square">
            <a:normAutofit/>
          </a:bodyPr>
          <a:lstStyle/>
          <a:p>
            <a:r>
              <a:rPr sz="1000" b="0">
                <a:solidFill>
                  <a:srgbClr val="232B37"/>
                </a:solidFill>
                <a:latin typeface="Aptos"/>
              </a:rPr>
              <a:t>score/rating / ??????: ?????? exposure/???, criticality/????</a:t>
            </a:r>
          </a:p>
        </p:txBody>
      </p:sp>
      <p:sp>
        <p:nvSpPr>
          <p:cNvPr id="12" name="TextBox 11"/>
          <p:cNvSpPr txBox="1"/>
          <p:nvPr/>
        </p:nvSpPr>
        <p:spPr>
          <a:xfrm>
            <a:off x="612648" y="5340096"/>
            <a:ext cx="2880360" cy="228600"/>
          </a:xfrm>
          <a:prstGeom prst="rect">
            <a:avLst/>
          </a:prstGeom>
          <a:noFill/>
        </p:spPr>
        <p:txBody>
          <a:bodyPr wrap="square">
            <a:normAutofit/>
          </a:bodyPr>
          <a:lstStyle/>
          <a:p>
            <a:r>
              <a:rPr sz="800" b="0">
                <a:solidFill>
                  <a:srgbClr val="55606E"/>
                </a:solidFill>
                <a:latin typeface="Aptos"/>
              </a:rPr>
              <a:t>Source page: p. 38</a:t>
            </a:r>
          </a:p>
        </p:txBody>
      </p:sp>
      <p:sp>
        <p:nvSpPr>
          <p:cNvPr id="13" name="TextBox 12"/>
          <p:cNvSpPr txBox="1"/>
          <p:nvPr/>
        </p:nvSpPr>
        <p:spPr>
          <a:xfrm>
            <a:off x="3977639" y="1115568"/>
            <a:ext cx="3383280" cy="201168"/>
          </a:xfrm>
          <a:prstGeom prst="rect">
            <a:avLst/>
          </a:prstGeom>
          <a:noFill/>
        </p:spPr>
        <p:txBody>
          <a:bodyPr wrap="square">
            <a:normAutofit/>
          </a:bodyPr>
          <a:lstStyle/>
          <a:p>
            <a:r>
              <a:rPr sz="900" b="1">
                <a:solidFill>
                  <a:srgbClr val="12202F"/>
                </a:solidFill>
                <a:latin typeface="Aptos"/>
              </a:rPr>
              <a:t>Original excerpt: definition</a:t>
            </a:r>
          </a:p>
        </p:txBody>
      </p:sp>
      <p:pic>
        <p:nvPicPr>
          <p:cNvPr id="14" name="Picture 13" descr="UT_UDOT_Resilience_Improvement_Plan_2024_definition.png"/>
          <p:cNvPicPr>
            <a:picLocks noChangeAspect="1"/>
          </p:cNvPicPr>
          <p:nvPr/>
        </p:nvPicPr>
        <p:blipFill>
          <a:blip r:embed="rId2"/>
          <a:stretch>
            <a:fillRect/>
          </a:stretch>
        </p:blipFill>
        <p:spPr>
          <a:xfrm>
            <a:off x="4233038" y="1353312"/>
            <a:ext cx="7215883" cy="1965960"/>
          </a:xfrm>
          <a:prstGeom prst="rect">
            <a:avLst/>
          </a:prstGeom>
        </p:spPr>
      </p:pic>
      <p:sp>
        <p:nvSpPr>
          <p:cNvPr id="15" name="TextBox 14"/>
          <p:cNvSpPr txBox="1"/>
          <p:nvPr/>
        </p:nvSpPr>
        <p:spPr>
          <a:xfrm>
            <a:off x="3977639" y="3456432"/>
            <a:ext cx="3383280" cy="201168"/>
          </a:xfrm>
          <a:prstGeom prst="rect">
            <a:avLst/>
          </a:prstGeom>
          <a:noFill/>
        </p:spPr>
        <p:txBody>
          <a:bodyPr wrap="square">
            <a:normAutofit/>
          </a:bodyPr>
          <a:lstStyle/>
          <a:p>
            <a:r>
              <a:rPr sz="900" b="1">
                <a:solidFill>
                  <a:srgbClr val="12202F"/>
                </a:solidFill>
                <a:latin typeface="Aptos"/>
              </a:rPr>
              <a:t>Original excerpt: risk scoring / assessment</a:t>
            </a:r>
          </a:p>
        </p:txBody>
      </p:sp>
      <p:pic>
        <p:nvPicPr>
          <p:cNvPr id="16" name="Picture 15" descr="UT_UDOT_Resilience_Improvement_Plan_2024_risk.png"/>
          <p:cNvPicPr>
            <a:picLocks noChangeAspect="1"/>
          </p:cNvPicPr>
          <p:nvPr/>
        </p:nvPicPr>
        <p:blipFill>
          <a:blip r:embed="rId3"/>
          <a:stretch>
            <a:fillRect/>
          </a:stretch>
        </p:blipFill>
        <p:spPr>
          <a:xfrm>
            <a:off x="5595739" y="3703320"/>
            <a:ext cx="4490481" cy="1965960"/>
          </a:xfrm>
          <a:prstGeom prst="rect">
            <a:avLst/>
          </a:prstGeom>
        </p:spPr>
      </p:pic>
      <p:sp>
        <p:nvSpPr>
          <p:cNvPr id="17" name="TextBox 16"/>
          <p:cNvSpPr txBox="1"/>
          <p:nvPr/>
        </p:nvSpPr>
        <p:spPr>
          <a:xfrm>
            <a:off x="411480" y="6327648"/>
            <a:ext cx="11201400" cy="228600"/>
          </a:xfrm>
          <a:prstGeom prst="rect">
            <a:avLst/>
          </a:prstGeom>
          <a:noFill/>
        </p:spPr>
        <p:txBody>
          <a:bodyPr wrap="square">
            <a:normAutofit/>
          </a:bodyPr>
          <a:lstStyle/>
          <a:p>
            <a:r>
              <a:rPr sz="600" b="0">
                <a:solidFill>
                  <a:srgbClr val="55606E"/>
                </a:solidFill>
                <a:latin typeface="Aptos"/>
              </a:rPr>
              <a:t>Source: UT_UDOT_Resilience_Improvement_Plan_2024.pdf; definition p.10, risk p.38; URL: https://www.erm-portal.com/wp-content/uploads/sites/15/2024/09/2024-05-07-FINAL-UDOT-RIP-eee071ab388ba424f01311f4404fd110.pdf</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28600"/>
            <a:ext cx="8961120" cy="411480"/>
          </a:xfrm>
          <a:prstGeom prst="rect">
            <a:avLst/>
          </a:prstGeom>
          <a:noFill/>
        </p:spPr>
        <p:txBody>
          <a:bodyPr wrap="square">
            <a:normAutofit/>
          </a:bodyPr>
          <a:lstStyle/>
          <a:p>
            <a:r>
              <a:rPr sz="2200" b="1">
                <a:solidFill>
                  <a:srgbClr val="12202F"/>
                </a:solidFill>
                <a:latin typeface="Aptos"/>
              </a:rPr>
              <a:t>Virginia / VDOT: definition and risk scoring</a:t>
            </a:r>
          </a:p>
        </p:txBody>
      </p:sp>
      <p:sp>
        <p:nvSpPr>
          <p:cNvPr id="3" name="TextBox 2"/>
          <p:cNvSpPr txBox="1"/>
          <p:nvPr/>
        </p:nvSpPr>
        <p:spPr>
          <a:xfrm>
            <a:off x="438912" y="667512"/>
            <a:ext cx="10881360" cy="256032"/>
          </a:xfrm>
          <a:prstGeom prst="rect">
            <a:avLst/>
          </a:prstGeom>
          <a:noFill/>
        </p:spPr>
        <p:txBody>
          <a:bodyPr wrap="square">
            <a:normAutofit/>
          </a:bodyPr>
          <a:lstStyle/>
          <a:p>
            <a:r>
              <a:rPr sz="800" b="0">
                <a:solidFill>
                  <a:srgbClr val="55606E"/>
                </a:solidFill>
                <a:latin typeface="Aptos"/>
              </a:rPr>
              <a:t>19/20 | VA_VDOT_Resilience_Plan_2022.pdf</a:t>
            </a:r>
          </a:p>
        </p:txBody>
      </p:sp>
      <p:sp>
        <p:nvSpPr>
          <p:cNvPr id="4" name="Rectangle 3"/>
          <p:cNvSpPr/>
          <p:nvPr/>
        </p:nvSpPr>
        <p:spPr>
          <a:xfrm>
            <a:off x="411480" y="969264"/>
            <a:ext cx="11384280" cy="18288"/>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11480" y="1170432"/>
            <a:ext cx="3337560" cy="2057400"/>
          </a:xfrm>
          <a:prstGeom prst="roundRect">
            <a:avLst/>
          </a:prstGeom>
          <a:solidFill>
            <a:srgbClr val="FAFBFC"/>
          </a:solidFill>
          <a:ln w="9525">
            <a:solidFill>
              <a:srgbClr val="D2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2648" y="1325880"/>
            <a:ext cx="2926080" cy="228600"/>
          </a:xfrm>
          <a:prstGeom prst="rect">
            <a:avLst/>
          </a:prstGeom>
          <a:noFill/>
        </p:spPr>
        <p:txBody>
          <a:bodyPr wrap="square">
            <a:normAutofit/>
          </a:bodyPr>
          <a:lstStyle/>
          <a:p>
            <a:r>
              <a:rPr sz="1100" b="1">
                <a:solidFill>
                  <a:srgbClr val="1F6FEB"/>
                </a:solidFill>
                <a:latin typeface="Aptos"/>
              </a:rPr>
              <a:t>Resilience definition - summary</a:t>
            </a:r>
          </a:p>
        </p:txBody>
      </p:sp>
      <p:sp>
        <p:nvSpPr>
          <p:cNvPr id="7" name="TextBox 6"/>
          <p:cNvSpPr txBox="1"/>
          <p:nvPr/>
        </p:nvSpPr>
        <p:spPr>
          <a:xfrm>
            <a:off x="612648" y="1627632"/>
            <a:ext cx="2880360" cy="1234440"/>
          </a:xfrm>
          <a:prstGeom prst="rect">
            <a:avLst/>
          </a:prstGeom>
          <a:noFill/>
        </p:spPr>
        <p:txBody>
          <a:bodyPr wrap="square">
            <a:normAutofit/>
          </a:bodyPr>
          <a:lstStyle/>
          <a:p>
            <a:r>
              <a:rPr sz="1000" b="0">
                <a:solidFill>
                  <a:srgbClr val="232B37"/>
                </a:solidFill>
                <a:latin typeface="Aptos"/>
              </a:rPr>
              <a:t>TABLE OF CONTENTS Resilience Plan Roadmap towards a resilient transportation system RESILIENCE PLAN November 2022 Version 1.0</a:t>
            </a:r>
          </a:p>
        </p:txBody>
      </p:sp>
      <p:sp>
        <p:nvSpPr>
          <p:cNvPr id="8" name="TextBox 7"/>
          <p:cNvSpPr txBox="1"/>
          <p:nvPr/>
        </p:nvSpPr>
        <p:spPr>
          <a:xfrm>
            <a:off x="612648" y="3017520"/>
            <a:ext cx="2880360" cy="228600"/>
          </a:xfrm>
          <a:prstGeom prst="rect">
            <a:avLst/>
          </a:prstGeom>
          <a:noFill/>
        </p:spPr>
        <p:txBody>
          <a:bodyPr wrap="square">
            <a:normAutofit/>
          </a:bodyPr>
          <a:lstStyle/>
          <a:p>
            <a:r>
              <a:rPr sz="800" b="0">
                <a:solidFill>
                  <a:srgbClr val="55606E"/>
                </a:solidFill>
                <a:latin typeface="Aptos"/>
              </a:rPr>
              <a:t>Source page: p. 1</a:t>
            </a:r>
          </a:p>
        </p:txBody>
      </p:sp>
      <p:sp>
        <p:nvSpPr>
          <p:cNvPr id="9" name="Rounded Rectangle 8"/>
          <p:cNvSpPr/>
          <p:nvPr/>
        </p:nvSpPr>
        <p:spPr>
          <a:xfrm>
            <a:off x="411480" y="3520440"/>
            <a:ext cx="3337560" cy="2240280"/>
          </a:xfrm>
          <a:prstGeom prst="roundRect">
            <a:avLst/>
          </a:prstGeom>
          <a:solidFill>
            <a:srgbClr val="FAFBFC"/>
          </a:solidFill>
          <a:ln w="9525">
            <a:solidFill>
              <a:srgbClr val="D2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2648" y="3675887"/>
            <a:ext cx="2926080" cy="228600"/>
          </a:xfrm>
          <a:prstGeom prst="rect">
            <a:avLst/>
          </a:prstGeom>
          <a:noFill/>
        </p:spPr>
        <p:txBody>
          <a:bodyPr wrap="square">
            <a:normAutofit/>
          </a:bodyPr>
          <a:lstStyle/>
          <a:p>
            <a:r>
              <a:rPr sz="1100" b="1">
                <a:solidFill>
                  <a:srgbClr val="1F6FEB"/>
                </a:solidFill>
                <a:latin typeface="Aptos"/>
              </a:rPr>
              <a:t>Risk scoring - summary</a:t>
            </a:r>
          </a:p>
        </p:txBody>
      </p:sp>
      <p:sp>
        <p:nvSpPr>
          <p:cNvPr id="11" name="TextBox 10"/>
          <p:cNvSpPr txBox="1"/>
          <p:nvPr/>
        </p:nvSpPr>
        <p:spPr>
          <a:xfrm>
            <a:off x="612648" y="3977639"/>
            <a:ext cx="2880360" cy="1143000"/>
          </a:xfrm>
          <a:prstGeom prst="rect">
            <a:avLst/>
          </a:prstGeom>
          <a:noFill/>
        </p:spPr>
        <p:txBody>
          <a:bodyPr wrap="square">
            <a:normAutofit/>
          </a:bodyPr>
          <a:lstStyle/>
          <a:p>
            <a:r>
              <a:rPr sz="1000" b="0">
                <a:solidFill>
                  <a:srgbClr val="232B37"/>
                </a:solidFill>
                <a:latin typeface="Aptos"/>
              </a:rPr>
              <a:t>risk-based assessment / ??????: ?????? exposure/???, sensitivity/???, adaptive capacity/????, criticality/???, vulnerability/????</a:t>
            </a:r>
          </a:p>
        </p:txBody>
      </p:sp>
      <p:sp>
        <p:nvSpPr>
          <p:cNvPr id="12" name="TextBox 11"/>
          <p:cNvSpPr txBox="1"/>
          <p:nvPr/>
        </p:nvSpPr>
        <p:spPr>
          <a:xfrm>
            <a:off x="612648" y="5340096"/>
            <a:ext cx="2880360" cy="228600"/>
          </a:xfrm>
          <a:prstGeom prst="rect">
            <a:avLst/>
          </a:prstGeom>
          <a:noFill/>
        </p:spPr>
        <p:txBody>
          <a:bodyPr wrap="square">
            <a:normAutofit/>
          </a:bodyPr>
          <a:lstStyle/>
          <a:p>
            <a:r>
              <a:rPr sz="800" b="0">
                <a:solidFill>
                  <a:srgbClr val="55606E"/>
                </a:solidFill>
                <a:latin typeface="Aptos"/>
              </a:rPr>
              <a:t>Source page: p. 6</a:t>
            </a:r>
          </a:p>
        </p:txBody>
      </p:sp>
      <p:sp>
        <p:nvSpPr>
          <p:cNvPr id="13" name="TextBox 12"/>
          <p:cNvSpPr txBox="1"/>
          <p:nvPr/>
        </p:nvSpPr>
        <p:spPr>
          <a:xfrm>
            <a:off x="3977639" y="1115568"/>
            <a:ext cx="3383280" cy="201168"/>
          </a:xfrm>
          <a:prstGeom prst="rect">
            <a:avLst/>
          </a:prstGeom>
          <a:noFill/>
        </p:spPr>
        <p:txBody>
          <a:bodyPr wrap="square">
            <a:normAutofit/>
          </a:bodyPr>
          <a:lstStyle/>
          <a:p>
            <a:r>
              <a:rPr sz="900" b="1">
                <a:solidFill>
                  <a:srgbClr val="12202F"/>
                </a:solidFill>
                <a:latin typeface="Aptos"/>
              </a:rPr>
              <a:t>Original excerpt: definition</a:t>
            </a:r>
          </a:p>
        </p:txBody>
      </p:sp>
      <p:pic>
        <p:nvPicPr>
          <p:cNvPr id="14" name="Picture 13" descr="VA_VDOT_Resilience_Plan_2022_definition.png"/>
          <p:cNvPicPr>
            <a:picLocks noChangeAspect="1"/>
          </p:cNvPicPr>
          <p:nvPr/>
        </p:nvPicPr>
        <p:blipFill>
          <a:blip r:embed="rId2"/>
          <a:stretch>
            <a:fillRect/>
          </a:stretch>
        </p:blipFill>
        <p:spPr>
          <a:xfrm>
            <a:off x="7081327" y="1353312"/>
            <a:ext cx="1519304" cy="1965960"/>
          </a:xfrm>
          <a:prstGeom prst="rect">
            <a:avLst/>
          </a:prstGeom>
        </p:spPr>
      </p:pic>
      <p:sp>
        <p:nvSpPr>
          <p:cNvPr id="15" name="TextBox 14"/>
          <p:cNvSpPr txBox="1"/>
          <p:nvPr/>
        </p:nvSpPr>
        <p:spPr>
          <a:xfrm>
            <a:off x="3977639" y="3456432"/>
            <a:ext cx="3383280" cy="201168"/>
          </a:xfrm>
          <a:prstGeom prst="rect">
            <a:avLst/>
          </a:prstGeom>
          <a:noFill/>
        </p:spPr>
        <p:txBody>
          <a:bodyPr wrap="square">
            <a:normAutofit/>
          </a:bodyPr>
          <a:lstStyle/>
          <a:p>
            <a:r>
              <a:rPr sz="900" b="1">
                <a:solidFill>
                  <a:srgbClr val="12202F"/>
                </a:solidFill>
                <a:latin typeface="Aptos"/>
              </a:rPr>
              <a:t>Original excerpt: risk scoring / assessment</a:t>
            </a:r>
          </a:p>
        </p:txBody>
      </p:sp>
      <p:pic>
        <p:nvPicPr>
          <p:cNvPr id="16" name="Picture 15" descr="VA_VDOT_Resilience_Plan_2022_risk.png"/>
          <p:cNvPicPr>
            <a:picLocks noChangeAspect="1"/>
          </p:cNvPicPr>
          <p:nvPr/>
        </p:nvPicPr>
        <p:blipFill>
          <a:blip r:embed="rId3"/>
          <a:stretch>
            <a:fillRect/>
          </a:stretch>
        </p:blipFill>
        <p:spPr>
          <a:xfrm>
            <a:off x="4622890" y="3703320"/>
            <a:ext cx="6436178" cy="1965960"/>
          </a:xfrm>
          <a:prstGeom prst="rect">
            <a:avLst/>
          </a:prstGeom>
        </p:spPr>
      </p:pic>
      <p:sp>
        <p:nvSpPr>
          <p:cNvPr id="17" name="TextBox 16"/>
          <p:cNvSpPr txBox="1"/>
          <p:nvPr/>
        </p:nvSpPr>
        <p:spPr>
          <a:xfrm>
            <a:off x="411480" y="6327648"/>
            <a:ext cx="11201400" cy="228600"/>
          </a:xfrm>
          <a:prstGeom prst="rect">
            <a:avLst/>
          </a:prstGeom>
          <a:noFill/>
        </p:spPr>
        <p:txBody>
          <a:bodyPr wrap="square">
            <a:normAutofit/>
          </a:bodyPr>
          <a:lstStyle/>
          <a:p>
            <a:r>
              <a:rPr sz="600" b="0">
                <a:solidFill>
                  <a:srgbClr val="55606E"/>
                </a:solidFill>
                <a:latin typeface="Aptos"/>
              </a:rPr>
              <a:t>Source: VA_VDOT_Resilience_Plan_2022.pdf; definition p.1, risk p.6; URL: https://www.erm-portal.com/wp-content/uploads/sites/15/2023/03/VDOT-Resilience-Plan_Nov_2022_FINAL-92cd22fca3674bdb5af0a3eb49a7e62d.pdf</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28600"/>
            <a:ext cx="8961120" cy="411480"/>
          </a:xfrm>
          <a:prstGeom prst="rect">
            <a:avLst/>
          </a:prstGeom>
          <a:noFill/>
        </p:spPr>
        <p:txBody>
          <a:bodyPr wrap="square">
            <a:normAutofit/>
          </a:bodyPr>
          <a:lstStyle/>
          <a:p>
            <a:r>
              <a:rPr sz="2200" b="1">
                <a:solidFill>
                  <a:srgbClr val="12202F"/>
                </a:solidFill>
                <a:latin typeface="Aptos"/>
              </a:rPr>
              <a:t>Vermont / VTrans: definition and risk scoring</a:t>
            </a:r>
          </a:p>
        </p:txBody>
      </p:sp>
      <p:sp>
        <p:nvSpPr>
          <p:cNvPr id="3" name="TextBox 2"/>
          <p:cNvSpPr txBox="1"/>
          <p:nvPr/>
        </p:nvSpPr>
        <p:spPr>
          <a:xfrm>
            <a:off x="438912" y="667512"/>
            <a:ext cx="10881360" cy="256032"/>
          </a:xfrm>
          <a:prstGeom prst="rect">
            <a:avLst/>
          </a:prstGeom>
          <a:noFill/>
        </p:spPr>
        <p:txBody>
          <a:bodyPr wrap="square">
            <a:normAutofit/>
          </a:bodyPr>
          <a:lstStyle/>
          <a:p>
            <a:r>
              <a:rPr sz="800" b="0">
                <a:solidFill>
                  <a:srgbClr val="55606E"/>
                </a:solidFill>
                <a:latin typeface="Aptos"/>
              </a:rPr>
              <a:t>20/20 | VT_VTrans_RIP_Process_2023.pdf</a:t>
            </a:r>
          </a:p>
        </p:txBody>
      </p:sp>
      <p:sp>
        <p:nvSpPr>
          <p:cNvPr id="4" name="Rectangle 3"/>
          <p:cNvSpPr/>
          <p:nvPr/>
        </p:nvSpPr>
        <p:spPr>
          <a:xfrm>
            <a:off x="411480" y="969264"/>
            <a:ext cx="11384280" cy="18288"/>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11480" y="1170432"/>
            <a:ext cx="3337560" cy="2057400"/>
          </a:xfrm>
          <a:prstGeom prst="roundRect">
            <a:avLst/>
          </a:prstGeom>
          <a:solidFill>
            <a:srgbClr val="FAFBFC"/>
          </a:solidFill>
          <a:ln w="9525">
            <a:solidFill>
              <a:srgbClr val="D2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2648" y="1325880"/>
            <a:ext cx="2926080" cy="228600"/>
          </a:xfrm>
          <a:prstGeom prst="rect">
            <a:avLst/>
          </a:prstGeom>
          <a:noFill/>
        </p:spPr>
        <p:txBody>
          <a:bodyPr wrap="square">
            <a:normAutofit/>
          </a:bodyPr>
          <a:lstStyle/>
          <a:p>
            <a:r>
              <a:rPr sz="1100" b="1">
                <a:solidFill>
                  <a:srgbClr val="1F6FEB"/>
                </a:solidFill>
                <a:latin typeface="Aptos"/>
              </a:rPr>
              <a:t>Resilience definition - summary</a:t>
            </a:r>
          </a:p>
        </p:txBody>
      </p:sp>
      <p:sp>
        <p:nvSpPr>
          <p:cNvPr id="7" name="TextBox 6"/>
          <p:cNvSpPr txBox="1"/>
          <p:nvPr/>
        </p:nvSpPr>
        <p:spPr>
          <a:xfrm>
            <a:off x="612648" y="1627632"/>
            <a:ext cx="2880360" cy="1234440"/>
          </a:xfrm>
          <a:prstGeom prst="rect">
            <a:avLst/>
          </a:prstGeom>
          <a:noFill/>
        </p:spPr>
        <p:txBody>
          <a:bodyPr wrap="square">
            <a:normAutofit/>
          </a:bodyPr>
          <a:lstStyle/>
          <a:p>
            <a:r>
              <a:rPr sz="1000" b="0">
                <a:solidFill>
                  <a:srgbClr val="232B37"/>
                </a:solidFill>
                <a:latin typeface="Aptos"/>
              </a:rPr>
              <a:t>Resilience Improvement Plan Draft Process Underway February 6, 2023</a:t>
            </a:r>
          </a:p>
        </p:txBody>
      </p:sp>
      <p:sp>
        <p:nvSpPr>
          <p:cNvPr id="8" name="TextBox 7"/>
          <p:cNvSpPr txBox="1"/>
          <p:nvPr/>
        </p:nvSpPr>
        <p:spPr>
          <a:xfrm>
            <a:off x="612648" y="3017520"/>
            <a:ext cx="2880360" cy="228600"/>
          </a:xfrm>
          <a:prstGeom prst="rect">
            <a:avLst/>
          </a:prstGeom>
          <a:noFill/>
        </p:spPr>
        <p:txBody>
          <a:bodyPr wrap="square">
            <a:normAutofit/>
          </a:bodyPr>
          <a:lstStyle/>
          <a:p>
            <a:r>
              <a:rPr sz="800" b="0">
                <a:solidFill>
                  <a:srgbClr val="55606E"/>
                </a:solidFill>
                <a:latin typeface="Aptos"/>
              </a:rPr>
              <a:t>Source page: p. 1</a:t>
            </a:r>
          </a:p>
        </p:txBody>
      </p:sp>
      <p:sp>
        <p:nvSpPr>
          <p:cNvPr id="9" name="Rounded Rectangle 8"/>
          <p:cNvSpPr/>
          <p:nvPr/>
        </p:nvSpPr>
        <p:spPr>
          <a:xfrm>
            <a:off x="411480" y="3520440"/>
            <a:ext cx="3337560" cy="2240280"/>
          </a:xfrm>
          <a:prstGeom prst="roundRect">
            <a:avLst/>
          </a:prstGeom>
          <a:solidFill>
            <a:srgbClr val="FAFBFC"/>
          </a:solidFill>
          <a:ln w="9525">
            <a:solidFill>
              <a:srgbClr val="D2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2648" y="3675887"/>
            <a:ext cx="2926080" cy="228600"/>
          </a:xfrm>
          <a:prstGeom prst="rect">
            <a:avLst/>
          </a:prstGeom>
          <a:noFill/>
        </p:spPr>
        <p:txBody>
          <a:bodyPr wrap="square">
            <a:normAutofit/>
          </a:bodyPr>
          <a:lstStyle/>
          <a:p>
            <a:r>
              <a:rPr sz="1100" b="1">
                <a:solidFill>
                  <a:srgbClr val="1F6FEB"/>
                </a:solidFill>
                <a:latin typeface="Aptos"/>
              </a:rPr>
              <a:t>Risk scoring - summary</a:t>
            </a:r>
          </a:p>
        </p:txBody>
      </p:sp>
      <p:sp>
        <p:nvSpPr>
          <p:cNvPr id="11" name="TextBox 10"/>
          <p:cNvSpPr txBox="1"/>
          <p:nvPr/>
        </p:nvSpPr>
        <p:spPr>
          <a:xfrm>
            <a:off x="612648" y="3977639"/>
            <a:ext cx="2880360" cy="1143000"/>
          </a:xfrm>
          <a:prstGeom prst="rect">
            <a:avLst/>
          </a:prstGeom>
          <a:noFill/>
        </p:spPr>
        <p:txBody>
          <a:bodyPr wrap="square">
            <a:normAutofit/>
          </a:bodyPr>
          <a:lstStyle/>
          <a:p>
            <a:r>
              <a:rPr sz="1000" b="0">
                <a:solidFill>
                  <a:srgbClr val="232B37"/>
                </a:solidFill>
                <a:latin typeface="Aptos"/>
              </a:rPr>
              <a:t>?????????????????????/????????????????</a:t>
            </a:r>
          </a:p>
        </p:txBody>
      </p:sp>
      <p:sp>
        <p:nvSpPr>
          <p:cNvPr id="12" name="TextBox 11"/>
          <p:cNvSpPr txBox="1"/>
          <p:nvPr/>
        </p:nvSpPr>
        <p:spPr>
          <a:xfrm>
            <a:off x="612648" y="5340096"/>
            <a:ext cx="2880360" cy="228600"/>
          </a:xfrm>
          <a:prstGeom prst="rect">
            <a:avLst/>
          </a:prstGeom>
          <a:noFill/>
        </p:spPr>
        <p:txBody>
          <a:bodyPr wrap="square">
            <a:normAutofit/>
          </a:bodyPr>
          <a:lstStyle/>
          <a:p>
            <a:r>
              <a:rPr sz="800" b="0">
                <a:solidFill>
                  <a:srgbClr val="55606E"/>
                </a:solidFill>
                <a:latin typeface="Aptos"/>
              </a:rPr>
              <a:t>Source page: p. 2</a:t>
            </a:r>
          </a:p>
        </p:txBody>
      </p:sp>
      <p:sp>
        <p:nvSpPr>
          <p:cNvPr id="13" name="TextBox 12"/>
          <p:cNvSpPr txBox="1"/>
          <p:nvPr/>
        </p:nvSpPr>
        <p:spPr>
          <a:xfrm>
            <a:off x="3977639" y="1115568"/>
            <a:ext cx="3383280" cy="201168"/>
          </a:xfrm>
          <a:prstGeom prst="rect">
            <a:avLst/>
          </a:prstGeom>
          <a:noFill/>
        </p:spPr>
        <p:txBody>
          <a:bodyPr wrap="square">
            <a:normAutofit/>
          </a:bodyPr>
          <a:lstStyle/>
          <a:p>
            <a:r>
              <a:rPr sz="900" b="1">
                <a:solidFill>
                  <a:srgbClr val="12202F"/>
                </a:solidFill>
                <a:latin typeface="Aptos"/>
              </a:rPr>
              <a:t>Original excerpt: definition</a:t>
            </a:r>
          </a:p>
        </p:txBody>
      </p:sp>
      <p:pic>
        <p:nvPicPr>
          <p:cNvPr id="14" name="Picture 13" descr="VT_VTrans_RIP_Process_2023_definition.png"/>
          <p:cNvPicPr>
            <a:picLocks noChangeAspect="1"/>
          </p:cNvPicPr>
          <p:nvPr/>
        </p:nvPicPr>
        <p:blipFill>
          <a:blip r:embed="rId2"/>
          <a:stretch>
            <a:fillRect/>
          </a:stretch>
        </p:blipFill>
        <p:spPr>
          <a:xfrm>
            <a:off x="6093459" y="1353312"/>
            <a:ext cx="3495039" cy="1965960"/>
          </a:xfrm>
          <a:prstGeom prst="rect">
            <a:avLst/>
          </a:prstGeom>
        </p:spPr>
      </p:pic>
      <p:sp>
        <p:nvSpPr>
          <p:cNvPr id="15" name="TextBox 14"/>
          <p:cNvSpPr txBox="1"/>
          <p:nvPr/>
        </p:nvSpPr>
        <p:spPr>
          <a:xfrm>
            <a:off x="3977639" y="3456432"/>
            <a:ext cx="3383280" cy="201168"/>
          </a:xfrm>
          <a:prstGeom prst="rect">
            <a:avLst/>
          </a:prstGeom>
          <a:noFill/>
        </p:spPr>
        <p:txBody>
          <a:bodyPr wrap="square">
            <a:normAutofit/>
          </a:bodyPr>
          <a:lstStyle/>
          <a:p>
            <a:r>
              <a:rPr sz="900" b="1">
                <a:solidFill>
                  <a:srgbClr val="12202F"/>
                </a:solidFill>
                <a:latin typeface="Aptos"/>
              </a:rPr>
              <a:t>Original excerpt: risk scoring / assessment</a:t>
            </a:r>
          </a:p>
        </p:txBody>
      </p:sp>
      <p:pic>
        <p:nvPicPr>
          <p:cNvPr id="16" name="Picture 15" descr="VT_VTrans_RIP_Process_2023_risk.png"/>
          <p:cNvPicPr>
            <a:picLocks noChangeAspect="1"/>
          </p:cNvPicPr>
          <p:nvPr/>
        </p:nvPicPr>
        <p:blipFill>
          <a:blip r:embed="rId3"/>
          <a:stretch>
            <a:fillRect/>
          </a:stretch>
        </p:blipFill>
        <p:spPr>
          <a:xfrm>
            <a:off x="6093459" y="3703320"/>
            <a:ext cx="3495039" cy="1965960"/>
          </a:xfrm>
          <a:prstGeom prst="rect">
            <a:avLst/>
          </a:prstGeom>
        </p:spPr>
      </p:pic>
      <p:sp>
        <p:nvSpPr>
          <p:cNvPr id="17" name="TextBox 16"/>
          <p:cNvSpPr txBox="1"/>
          <p:nvPr/>
        </p:nvSpPr>
        <p:spPr>
          <a:xfrm>
            <a:off x="411480" y="6327648"/>
            <a:ext cx="11201400" cy="228600"/>
          </a:xfrm>
          <a:prstGeom prst="rect">
            <a:avLst/>
          </a:prstGeom>
          <a:noFill/>
        </p:spPr>
        <p:txBody>
          <a:bodyPr wrap="square">
            <a:normAutofit/>
          </a:bodyPr>
          <a:lstStyle/>
          <a:p>
            <a:r>
              <a:rPr sz="600" b="0">
                <a:solidFill>
                  <a:srgbClr val="55606E"/>
                </a:solidFill>
                <a:latin typeface="Aptos"/>
              </a:rPr>
              <a:t>Source: VT_VTrans_RIP_Process_2023.pdf; definition p.1, risk p.2; URL: https://www.erm-portal.com/wp-content/uploads/sites/15/2023/03/2023-03-06-Vermont-RIP-Process-to-FHWA-VT-d6f8550d06fc4be24e33ab32ad4da7bd-1.pdf</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28600"/>
            <a:ext cx="8961120" cy="411480"/>
          </a:xfrm>
          <a:prstGeom prst="rect">
            <a:avLst/>
          </a:prstGeom>
          <a:noFill/>
        </p:spPr>
        <p:txBody>
          <a:bodyPr wrap="square">
            <a:normAutofit/>
          </a:bodyPr>
          <a:lstStyle/>
          <a:p>
            <a:r>
              <a:rPr sz="2200" b="1">
                <a:solidFill>
                  <a:srgbClr val="12202F"/>
                </a:solidFill>
                <a:latin typeface="Aptos"/>
              </a:rPr>
              <a:t>Source Appendix</a:t>
            </a:r>
          </a:p>
        </p:txBody>
      </p:sp>
      <p:sp>
        <p:nvSpPr>
          <p:cNvPr id="3" name="TextBox 2"/>
          <p:cNvSpPr txBox="1"/>
          <p:nvPr/>
        </p:nvSpPr>
        <p:spPr>
          <a:xfrm>
            <a:off x="438912" y="667512"/>
            <a:ext cx="10881360" cy="256032"/>
          </a:xfrm>
          <a:prstGeom prst="rect">
            <a:avLst/>
          </a:prstGeom>
          <a:noFill/>
        </p:spPr>
        <p:txBody>
          <a:bodyPr wrap="square">
            <a:normAutofit/>
          </a:bodyPr>
          <a:lstStyle/>
          <a:p>
            <a:r>
              <a:rPr sz="800" b="0">
                <a:solidFill>
                  <a:srgbClr val="55606E"/>
                </a:solidFill>
                <a:latin typeface="Aptos"/>
              </a:rPr>
              <a:t>Downloaded PDFs used in this deck.</a:t>
            </a:r>
          </a:p>
        </p:txBody>
      </p:sp>
      <p:sp>
        <p:nvSpPr>
          <p:cNvPr id="4" name="Rectangle 3"/>
          <p:cNvSpPr/>
          <p:nvPr/>
        </p:nvSpPr>
        <p:spPr>
          <a:xfrm>
            <a:off x="411480" y="969264"/>
            <a:ext cx="11384280" cy="18288"/>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914400" cy="164592"/>
          </a:xfrm>
          <a:prstGeom prst="rect">
            <a:avLst/>
          </a:prstGeom>
          <a:noFill/>
        </p:spPr>
        <p:txBody>
          <a:bodyPr wrap="square">
            <a:normAutofit/>
          </a:bodyPr>
          <a:lstStyle/>
          <a:p>
            <a:r>
              <a:rPr sz="700" b="1">
                <a:solidFill>
                  <a:srgbClr val="1F6FEB"/>
                </a:solidFill>
                <a:latin typeface="Aptos"/>
              </a:rPr>
              <a:t>CA</a:t>
            </a:r>
          </a:p>
        </p:txBody>
      </p:sp>
      <p:sp>
        <p:nvSpPr>
          <p:cNvPr id="6" name="TextBox 5"/>
          <p:cNvSpPr txBox="1"/>
          <p:nvPr/>
        </p:nvSpPr>
        <p:spPr>
          <a:xfrm>
            <a:off x="1051560" y="1143000"/>
            <a:ext cx="3840480" cy="164592"/>
          </a:xfrm>
          <a:prstGeom prst="rect">
            <a:avLst/>
          </a:prstGeom>
          <a:noFill/>
        </p:spPr>
        <p:txBody>
          <a:bodyPr wrap="square">
            <a:normAutofit/>
          </a:bodyPr>
          <a:lstStyle/>
          <a:p>
            <a:r>
              <a:rPr sz="600" b="0">
                <a:solidFill>
                  <a:srgbClr val="232B37"/>
                </a:solidFill>
                <a:latin typeface="Aptos"/>
              </a:rPr>
              <a:t>CA_Caltrans_SCRIPT_RIP_2023_Amendment1.pdf</a:t>
            </a:r>
          </a:p>
        </p:txBody>
      </p:sp>
      <p:sp>
        <p:nvSpPr>
          <p:cNvPr id="7" name="TextBox 6"/>
          <p:cNvSpPr txBox="1"/>
          <p:nvPr/>
        </p:nvSpPr>
        <p:spPr>
          <a:xfrm>
            <a:off x="4983480" y="1143000"/>
            <a:ext cx="6629400" cy="164592"/>
          </a:xfrm>
          <a:prstGeom prst="rect">
            <a:avLst/>
          </a:prstGeom>
          <a:noFill/>
        </p:spPr>
        <p:txBody>
          <a:bodyPr wrap="square">
            <a:normAutofit/>
          </a:bodyPr>
          <a:lstStyle/>
          <a:p>
            <a:r>
              <a:rPr sz="560" b="0">
                <a:solidFill>
                  <a:srgbClr val="55606E"/>
                </a:solidFill>
                <a:latin typeface="Aptos"/>
              </a:rPr>
              <a:t>https://dot.ca.gov/-/media/dot-media/programs/transportation-planning/documents/office-of-smart-mobility-and-climate-change/2023-script</a:t>
            </a:r>
          </a:p>
        </p:txBody>
      </p:sp>
      <p:sp>
        <p:nvSpPr>
          <p:cNvPr id="8" name="TextBox 7"/>
          <p:cNvSpPr txBox="1"/>
          <p:nvPr/>
        </p:nvSpPr>
        <p:spPr>
          <a:xfrm>
            <a:off x="502920" y="1399032"/>
            <a:ext cx="914400" cy="164592"/>
          </a:xfrm>
          <a:prstGeom prst="rect">
            <a:avLst/>
          </a:prstGeom>
          <a:noFill/>
        </p:spPr>
        <p:txBody>
          <a:bodyPr wrap="square">
            <a:normAutofit/>
          </a:bodyPr>
          <a:lstStyle/>
          <a:p>
            <a:r>
              <a:rPr sz="700" b="1">
                <a:solidFill>
                  <a:srgbClr val="1F6FEB"/>
                </a:solidFill>
                <a:latin typeface="Aptos"/>
              </a:rPr>
              <a:t>CO</a:t>
            </a:r>
          </a:p>
        </p:txBody>
      </p:sp>
      <p:sp>
        <p:nvSpPr>
          <p:cNvPr id="9" name="TextBox 8"/>
          <p:cNvSpPr txBox="1"/>
          <p:nvPr/>
        </p:nvSpPr>
        <p:spPr>
          <a:xfrm>
            <a:off x="1051560" y="1399032"/>
            <a:ext cx="3840480" cy="164592"/>
          </a:xfrm>
          <a:prstGeom prst="rect">
            <a:avLst/>
          </a:prstGeom>
          <a:noFill/>
        </p:spPr>
        <p:txBody>
          <a:bodyPr wrap="square">
            <a:normAutofit/>
          </a:bodyPr>
          <a:lstStyle/>
          <a:p>
            <a:r>
              <a:rPr sz="600" b="0">
                <a:solidFill>
                  <a:srgbClr val="232B37"/>
                </a:solidFill>
                <a:latin typeface="Aptos"/>
              </a:rPr>
              <a:t>CO_CDOT_Resilience_Improvement_Plan.pdf</a:t>
            </a:r>
          </a:p>
        </p:txBody>
      </p:sp>
      <p:sp>
        <p:nvSpPr>
          <p:cNvPr id="10" name="TextBox 9"/>
          <p:cNvSpPr txBox="1"/>
          <p:nvPr/>
        </p:nvSpPr>
        <p:spPr>
          <a:xfrm>
            <a:off x="4983480" y="1399032"/>
            <a:ext cx="6629400" cy="164592"/>
          </a:xfrm>
          <a:prstGeom prst="rect">
            <a:avLst/>
          </a:prstGeom>
          <a:noFill/>
        </p:spPr>
        <p:txBody>
          <a:bodyPr wrap="square">
            <a:normAutofit/>
          </a:bodyPr>
          <a:lstStyle/>
          <a:p>
            <a:r>
              <a:rPr sz="560" b="0">
                <a:solidFill>
                  <a:srgbClr val="55606E"/>
                </a:solidFill>
                <a:latin typeface="Aptos"/>
              </a:rPr>
              <a:t>https://www.tam-portal.com/wp-content/uploads/sites/12/2025/07/cdot-resilience-improvement-plan-final-02-10-2025.pdf</a:t>
            </a:r>
          </a:p>
        </p:txBody>
      </p:sp>
      <p:sp>
        <p:nvSpPr>
          <p:cNvPr id="11" name="TextBox 10"/>
          <p:cNvSpPr txBox="1"/>
          <p:nvPr/>
        </p:nvSpPr>
        <p:spPr>
          <a:xfrm>
            <a:off x="502920" y="1655064"/>
            <a:ext cx="914400" cy="164592"/>
          </a:xfrm>
          <a:prstGeom prst="rect">
            <a:avLst/>
          </a:prstGeom>
          <a:noFill/>
        </p:spPr>
        <p:txBody>
          <a:bodyPr wrap="square">
            <a:normAutofit/>
          </a:bodyPr>
          <a:lstStyle/>
          <a:p>
            <a:r>
              <a:rPr sz="700" b="1">
                <a:solidFill>
                  <a:srgbClr val="1F6FEB"/>
                </a:solidFill>
                <a:latin typeface="Aptos"/>
              </a:rPr>
              <a:t>CT</a:t>
            </a:r>
          </a:p>
        </p:txBody>
      </p:sp>
      <p:sp>
        <p:nvSpPr>
          <p:cNvPr id="12" name="TextBox 11"/>
          <p:cNvSpPr txBox="1"/>
          <p:nvPr/>
        </p:nvSpPr>
        <p:spPr>
          <a:xfrm>
            <a:off x="1051560" y="1655064"/>
            <a:ext cx="3840480" cy="164592"/>
          </a:xfrm>
          <a:prstGeom prst="rect">
            <a:avLst/>
          </a:prstGeom>
          <a:noFill/>
        </p:spPr>
        <p:txBody>
          <a:bodyPr wrap="square">
            <a:normAutofit/>
          </a:bodyPr>
          <a:lstStyle/>
          <a:p>
            <a:r>
              <a:rPr sz="600" b="0">
                <a:solidFill>
                  <a:srgbClr val="232B37"/>
                </a:solidFill>
                <a:latin typeface="Aptos"/>
              </a:rPr>
              <a:t>CT_CTDOT_Resilience_Improvement_Plan.pdf</a:t>
            </a:r>
          </a:p>
        </p:txBody>
      </p:sp>
      <p:sp>
        <p:nvSpPr>
          <p:cNvPr id="13" name="TextBox 12"/>
          <p:cNvSpPr txBox="1"/>
          <p:nvPr/>
        </p:nvSpPr>
        <p:spPr>
          <a:xfrm>
            <a:off x="4983480" y="1655064"/>
            <a:ext cx="6629400" cy="164592"/>
          </a:xfrm>
          <a:prstGeom prst="rect">
            <a:avLst/>
          </a:prstGeom>
          <a:noFill/>
        </p:spPr>
        <p:txBody>
          <a:bodyPr wrap="square">
            <a:normAutofit/>
          </a:bodyPr>
          <a:lstStyle/>
          <a:p>
            <a:r>
              <a:rPr sz="560" b="0">
                <a:solidFill>
                  <a:srgbClr val="55606E"/>
                </a:solidFill>
                <a:latin typeface="Aptos"/>
              </a:rPr>
              <a:t>https://portal.ct.gov/dot/-/media/dot/programs/rip/ctdot-resilience-improvement-plan.pdf</a:t>
            </a:r>
          </a:p>
        </p:txBody>
      </p:sp>
      <p:sp>
        <p:nvSpPr>
          <p:cNvPr id="14" name="TextBox 13"/>
          <p:cNvSpPr txBox="1"/>
          <p:nvPr/>
        </p:nvSpPr>
        <p:spPr>
          <a:xfrm>
            <a:off x="502920" y="1911095"/>
            <a:ext cx="914400" cy="164592"/>
          </a:xfrm>
          <a:prstGeom prst="rect">
            <a:avLst/>
          </a:prstGeom>
          <a:noFill/>
        </p:spPr>
        <p:txBody>
          <a:bodyPr wrap="square">
            <a:normAutofit/>
          </a:bodyPr>
          <a:lstStyle/>
          <a:p>
            <a:r>
              <a:rPr sz="700" b="1">
                <a:solidFill>
                  <a:srgbClr val="1F6FEB"/>
                </a:solidFill>
                <a:latin typeface="Aptos"/>
              </a:rPr>
              <a:t>DE</a:t>
            </a:r>
          </a:p>
        </p:txBody>
      </p:sp>
      <p:sp>
        <p:nvSpPr>
          <p:cNvPr id="15" name="TextBox 14"/>
          <p:cNvSpPr txBox="1"/>
          <p:nvPr/>
        </p:nvSpPr>
        <p:spPr>
          <a:xfrm>
            <a:off x="1051560" y="1911095"/>
            <a:ext cx="3840480" cy="164592"/>
          </a:xfrm>
          <a:prstGeom prst="rect">
            <a:avLst/>
          </a:prstGeom>
          <a:noFill/>
        </p:spPr>
        <p:txBody>
          <a:bodyPr wrap="square">
            <a:normAutofit/>
          </a:bodyPr>
          <a:lstStyle/>
          <a:p>
            <a:r>
              <a:rPr sz="600" b="0">
                <a:solidFill>
                  <a:srgbClr val="232B37"/>
                </a:solidFill>
                <a:latin typeface="Aptos"/>
              </a:rPr>
              <a:t>DE_DelDOT_DRIP_FHWA_Approved_2023.pdf</a:t>
            </a:r>
          </a:p>
        </p:txBody>
      </p:sp>
      <p:sp>
        <p:nvSpPr>
          <p:cNvPr id="16" name="TextBox 15"/>
          <p:cNvSpPr txBox="1"/>
          <p:nvPr/>
        </p:nvSpPr>
        <p:spPr>
          <a:xfrm>
            <a:off x="4983480" y="1911095"/>
            <a:ext cx="6629400" cy="164592"/>
          </a:xfrm>
          <a:prstGeom prst="rect">
            <a:avLst/>
          </a:prstGeom>
          <a:noFill/>
        </p:spPr>
        <p:txBody>
          <a:bodyPr wrap="square">
            <a:normAutofit/>
          </a:bodyPr>
          <a:lstStyle/>
          <a:p>
            <a:r>
              <a:rPr sz="560" b="0">
                <a:solidFill>
                  <a:srgbClr val="55606E"/>
                </a:solidFill>
                <a:latin typeface="Aptos"/>
              </a:rPr>
              <a:t>https://www.erm-portal.com/wp-content/uploads/sites/15/wpforms/7075-e1233af55e4247e91b2324b29a729bf8/DelDOT-DRIP-FHWA-Approved-09.07.23</a:t>
            </a:r>
          </a:p>
        </p:txBody>
      </p:sp>
      <p:sp>
        <p:nvSpPr>
          <p:cNvPr id="17" name="TextBox 16"/>
          <p:cNvSpPr txBox="1"/>
          <p:nvPr/>
        </p:nvSpPr>
        <p:spPr>
          <a:xfrm>
            <a:off x="502920" y="2167128"/>
            <a:ext cx="914400" cy="164592"/>
          </a:xfrm>
          <a:prstGeom prst="rect">
            <a:avLst/>
          </a:prstGeom>
          <a:noFill/>
        </p:spPr>
        <p:txBody>
          <a:bodyPr wrap="square">
            <a:normAutofit/>
          </a:bodyPr>
          <a:lstStyle/>
          <a:p>
            <a:r>
              <a:rPr sz="700" b="1">
                <a:solidFill>
                  <a:srgbClr val="1F6FEB"/>
                </a:solidFill>
                <a:latin typeface="Aptos"/>
              </a:rPr>
              <a:t>FL</a:t>
            </a:r>
          </a:p>
        </p:txBody>
      </p:sp>
      <p:sp>
        <p:nvSpPr>
          <p:cNvPr id="18" name="TextBox 17"/>
          <p:cNvSpPr txBox="1"/>
          <p:nvPr/>
        </p:nvSpPr>
        <p:spPr>
          <a:xfrm>
            <a:off x="1051560" y="2167128"/>
            <a:ext cx="3840480" cy="164592"/>
          </a:xfrm>
          <a:prstGeom prst="rect">
            <a:avLst/>
          </a:prstGeom>
          <a:noFill/>
        </p:spPr>
        <p:txBody>
          <a:bodyPr wrap="square">
            <a:normAutofit/>
          </a:bodyPr>
          <a:lstStyle/>
          <a:p>
            <a:r>
              <a:rPr sz="600" b="0">
                <a:solidFill>
                  <a:srgbClr val="232B37"/>
                </a:solidFill>
                <a:latin typeface="Aptos"/>
              </a:rPr>
              <a:t>FL_FDOT_RIP_CEP_Final.pdf</a:t>
            </a:r>
          </a:p>
        </p:txBody>
      </p:sp>
      <p:sp>
        <p:nvSpPr>
          <p:cNvPr id="19" name="TextBox 18"/>
          <p:cNvSpPr txBox="1"/>
          <p:nvPr/>
        </p:nvSpPr>
        <p:spPr>
          <a:xfrm>
            <a:off x="4983480" y="2167128"/>
            <a:ext cx="6629400" cy="164592"/>
          </a:xfrm>
          <a:prstGeom prst="rect">
            <a:avLst/>
          </a:prstGeom>
          <a:noFill/>
        </p:spPr>
        <p:txBody>
          <a:bodyPr wrap="square">
            <a:normAutofit/>
          </a:bodyPr>
          <a:lstStyle/>
          <a:p>
            <a:r>
              <a:rPr sz="560" b="0">
                <a:solidFill>
                  <a:srgbClr val="55606E"/>
                </a:solidFill>
                <a:latin typeface="Aptos"/>
              </a:rPr>
              <a:t>https://fdotwww.blob.core.windows.net/sitefinity/docs/default-source/planning/resilience-(opp)/resilience-improvement-plan/rip_cep_fina</a:t>
            </a:r>
          </a:p>
        </p:txBody>
      </p:sp>
      <p:sp>
        <p:nvSpPr>
          <p:cNvPr id="20" name="TextBox 19"/>
          <p:cNvSpPr txBox="1"/>
          <p:nvPr/>
        </p:nvSpPr>
        <p:spPr>
          <a:xfrm>
            <a:off x="502920" y="2423160"/>
            <a:ext cx="914400" cy="164592"/>
          </a:xfrm>
          <a:prstGeom prst="rect">
            <a:avLst/>
          </a:prstGeom>
          <a:noFill/>
        </p:spPr>
        <p:txBody>
          <a:bodyPr wrap="square">
            <a:normAutofit/>
          </a:bodyPr>
          <a:lstStyle/>
          <a:p>
            <a:r>
              <a:rPr sz="700" b="1">
                <a:solidFill>
                  <a:srgbClr val="1F6FEB"/>
                </a:solidFill>
                <a:latin typeface="Aptos"/>
              </a:rPr>
              <a:t>IA</a:t>
            </a:r>
          </a:p>
        </p:txBody>
      </p:sp>
      <p:sp>
        <p:nvSpPr>
          <p:cNvPr id="21" name="TextBox 20"/>
          <p:cNvSpPr txBox="1"/>
          <p:nvPr/>
        </p:nvSpPr>
        <p:spPr>
          <a:xfrm>
            <a:off x="1051560" y="2423160"/>
            <a:ext cx="3840480" cy="164592"/>
          </a:xfrm>
          <a:prstGeom prst="rect">
            <a:avLst/>
          </a:prstGeom>
          <a:noFill/>
        </p:spPr>
        <p:txBody>
          <a:bodyPr wrap="square">
            <a:normAutofit/>
          </a:bodyPr>
          <a:lstStyle/>
          <a:p>
            <a:r>
              <a:rPr sz="600" b="0">
                <a:solidFill>
                  <a:srgbClr val="232B37"/>
                </a:solidFill>
                <a:latin typeface="Aptos"/>
              </a:rPr>
              <a:t>IA_IowaDOT_2024_Resilience_Improvement_Plan.pdf</a:t>
            </a:r>
          </a:p>
        </p:txBody>
      </p:sp>
      <p:sp>
        <p:nvSpPr>
          <p:cNvPr id="22" name="TextBox 21"/>
          <p:cNvSpPr txBox="1"/>
          <p:nvPr/>
        </p:nvSpPr>
        <p:spPr>
          <a:xfrm>
            <a:off x="4983480" y="2423160"/>
            <a:ext cx="6629400" cy="164592"/>
          </a:xfrm>
          <a:prstGeom prst="rect">
            <a:avLst/>
          </a:prstGeom>
          <a:noFill/>
        </p:spPr>
        <p:txBody>
          <a:bodyPr wrap="square">
            <a:normAutofit/>
          </a:bodyPr>
          <a:lstStyle/>
          <a:p>
            <a:r>
              <a:rPr sz="560" b="0">
                <a:solidFill>
                  <a:srgbClr val="55606E"/>
                </a:solidFill>
                <a:latin typeface="Aptos"/>
              </a:rPr>
              <a:t>https://iowadot.gov/media/2596/download?inline=</a:t>
            </a:r>
          </a:p>
        </p:txBody>
      </p:sp>
      <p:sp>
        <p:nvSpPr>
          <p:cNvPr id="23" name="TextBox 22"/>
          <p:cNvSpPr txBox="1"/>
          <p:nvPr/>
        </p:nvSpPr>
        <p:spPr>
          <a:xfrm>
            <a:off x="502920" y="2679192"/>
            <a:ext cx="914400" cy="164592"/>
          </a:xfrm>
          <a:prstGeom prst="rect">
            <a:avLst/>
          </a:prstGeom>
          <a:noFill/>
        </p:spPr>
        <p:txBody>
          <a:bodyPr wrap="square">
            <a:normAutofit/>
          </a:bodyPr>
          <a:lstStyle/>
          <a:p>
            <a:r>
              <a:rPr sz="700" b="1">
                <a:solidFill>
                  <a:srgbClr val="1F6FEB"/>
                </a:solidFill>
                <a:latin typeface="Aptos"/>
              </a:rPr>
              <a:t>KY</a:t>
            </a:r>
          </a:p>
        </p:txBody>
      </p:sp>
      <p:sp>
        <p:nvSpPr>
          <p:cNvPr id="24" name="TextBox 23"/>
          <p:cNvSpPr txBox="1"/>
          <p:nvPr/>
        </p:nvSpPr>
        <p:spPr>
          <a:xfrm>
            <a:off x="1051560" y="2679192"/>
            <a:ext cx="3840480" cy="164592"/>
          </a:xfrm>
          <a:prstGeom prst="rect">
            <a:avLst/>
          </a:prstGeom>
          <a:noFill/>
        </p:spPr>
        <p:txBody>
          <a:bodyPr wrap="square">
            <a:normAutofit/>
          </a:bodyPr>
          <a:lstStyle/>
          <a:p>
            <a:r>
              <a:rPr sz="600" b="0">
                <a:solidFill>
                  <a:srgbClr val="232B37"/>
                </a:solidFill>
                <a:latin typeface="Aptos"/>
              </a:rPr>
              <a:t>KY_KYTC_Resiliency_Improvement_Plan_2023.pdf</a:t>
            </a:r>
          </a:p>
        </p:txBody>
      </p:sp>
      <p:sp>
        <p:nvSpPr>
          <p:cNvPr id="25" name="TextBox 24"/>
          <p:cNvSpPr txBox="1"/>
          <p:nvPr/>
        </p:nvSpPr>
        <p:spPr>
          <a:xfrm>
            <a:off x="4983480" y="2679192"/>
            <a:ext cx="6629400" cy="164592"/>
          </a:xfrm>
          <a:prstGeom prst="rect">
            <a:avLst/>
          </a:prstGeom>
          <a:noFill/>
        </p:spPr>
        <p:txBody>
          <a:bodyPr wrap="square">
            <a:normAutofit/>
          </a:bodyPr>
          <a:lstStyle/>
          <a:p>
            <a:r>
              <a:rPr sz="560" b="0">
                <a:solidFill>
                  <a:srgbClr val="55606E"/>
                </a:solidFill>
                <a:latin typeface="Aptos"/>
              </a:rPr>
              <a:t>https://www.erm-portal.com/wp-content/uploads/sites/15/2024/08/KYTC-Resiliency-Improvement-Plan-202306-bfe355f2a24c9e7591e4146a5b7226e1</a:t>
            </a:r>
          </a:p>
        </p:txBody>
      </p:sp>
      <p:sp>
        <p:nvSpPr>
          <p:cNvPr id="26" name="TextBox 25"/>
          <p:cNvSpPr txBox="1"/>
          <p:nvPr/>
        </p:nvSpPr>
        <p:spPr>
          <a:xfrm>
            <a:off x="502920" y="2935224"/>
            <a:ext cx="914400" cy="164592"/>
          </a:xfrm>
          <a:prstGeom prst="rect">
            <a:avLst/>
          </a:prstGeom>
          <a:noFill/>
        </p:spPr>
        <p:txBody>
          <a:bodyPr wrap="square">
            <a:normAutofit/>
          </a:bodyPr>
          <a:lstStyle/>
          <a:p>
            <a:r>
              <a:rPr sz="700" b="1">
                <a:solidFill>
                  <a:srgbClr val="1F6FEB"/>
                </a:solidFill>
                <a:latin typeface="Aptos"/>
              </a:rPr>
              <a:t>MD</a:t>
            </a:r>
          </a:p>
        </p:txBody>
      </p:sp>
      <p:sp>
        <p:nvSpPr>
          <p:cNvPr id="27" name="TextBox 26"/>
          <p:cNvSpPr txBox="1"/>
          <p:nvPr/>
        </p:nvSpPr>
        <p:spPr>
          <a:xfrm>
            <a:off x="1051560" y="2935224"/>
            <a:ext cx="3840480" cy="164592"/>
          </a:xfrm>
          <a:prstGeom prst="rect">
            <a:avLst/>
          </a:prstGeom>
          <a:noFill/>
        </p:spPr>
        <p:txBody>
          <a:bodyPr wrap="square">
            <a:normAutofit/>
          </a:bodyPr>
          <a:lstStyle/>
          <a:p>
            <a:r>
              <a:rPr sz="600" b="0">
                <a:solidFill>
                  <a:srgbClr val="232B37"/>
                </a:solidFill>
                <a:latin typeface="Aptos"/>
              </a:rPr>
              <a:t>MD_MDOT_Transportation_Resilience_Improvement_Plan_2024.pdf</a:t>
            </a:r>
          </a:p>
        </p:txBody>
      </p:sp>
      <p:sp>
        <p:nvSpPr>
          <p:cNvPr id="28" name="TextBox 27"/>
          <p:cNvSpPr txBox="1"/>
          <p:nvPr/>
        </p:nvSpPr>
        <p:spPr>
          <a:xfrm>
            <a:off x="4983480" y="2935224"/>
            <a:ext cx="6629400" cy="164592"/>
          </a:xfrm>
          <a:prstGeom prst="rect">
            <a:avLst/>
          </a:prstGeom>
          <a:noFill/>
        </p:spPr>
        <p:txBody>
          <a:bodyPr wrap="square">
            <a:normAutofit/>
          </a:bodyPr>
          <a:lstStyle/>
          <a:p>
            <a:r>
              <a:rPr sz="560" b="0">
                <a:solidFill>
                  <a:srgbClr val="55606E"/>
                </a:solidFill>
                <a:latin typeface="Aptos"/>
              </a:rPr>
              <a:t>https://www.mdot.maryland.gov/OPCP/MDOT_TRIP_Report_2024_Final.pdf</a:t>
            </a:r>
          </a:p>
        </p:txBody>
      </p:sp>
      <p:sp>
        <p:nvSpPr>
          <p:cNvPr id="29" name="TextBox 28"/>
          <p:cNvSpPr txBox="1"/>
          <p:nvPr/>
        </p:nvSpPr>
        <p:spPr>
          <a:xfrm>
            <a:off x="502920" y="3191256"/>
            <a:ext cx="914400" cy="164592"/>
          </a:xfrm>
          <a:prstGeom prst="rect">
            <a:avLst/>
          </a:prstGeom>
          <a:noFill/>
        </p:spPr>
        <p:txBody>
          <a:bodyPr wrap="square">
            <a:normAutofit/>
          </a:bodyPr>
          <a:lstStyle/>
          <a:p>
            <a:r>
              <a:rPr sz="700" b="1">
                <a:solidFill>
                  <a:srgbClr val="1F6FEB"/>
                </a:solidFill>
                <a:latin typeface="Aptos"/>
              </a:rPr>
              <a:t>MI</a:t>
            </a:r>
          </a:p>
        </p:txBody>
      </p:sp>
      <p:sp>
        <p:nvSpPr>
          <p:cNvPr id="30" name="TextBox 29"/>
          <p:cNvSpPr txBox="1"/>
          <p:nvPr/>
        </p:nvSpPr>
        <p:spPr>
          <a:xfrm>
            <a:off x="1051560" y="3191256"/>
            <a:ext cx="3840480" cy="164592"/>
          </a:xfrm>
          <a:prstGeom prst="rect">
            <a:avLst/>
          </a:prstGeom>
          <a:noFill/>
        </p:spPr>
        <p:txBody>
          <a:bodyPr wrap="square">
            <a:normAutofit/>
          </a:bodyPr>
          <a:lstStyle/>
          <a:p>
            <a:r>
              <a:rPr sz="600" b="0">
                <a:solidFill>
                  <a:srgbClr val="232B37"/>
                </a:solidFill>
                <a:latin typeface="Aptos"/>
              </a:rPr>
              <a:t>MI_MDOT_Resilience_Improvement_Plan_2024.pdf</a:t>
            </a:r>
          </a:p>
        </p:txBody>
      </p:sp>
      <p:sp>
        <p:nvSpPr>
          <p:cNvPr id="31" name="TextBox 30"/>
          <p:cNvSpPr txBox="1"/>
          <p:nvPr/>
        </p:nvSpPr>
        <p:spPr>
          <a:xfrm>
            <a:off x="4983480" y="3191256"/>
            <a:ext cx="6629400" cy="164592"/>
          </a:xfrm>
          <a:prstGeom prst="rect">
            <a:avLst/>
          </a:prstGeom>
          <a:noFill/>
        </p:spPr>
        <p:txBody>
          <a:bodyPr wrap="square">
            <a:normAutofit/>
          </a:bodyPr>
          <a:lstStyle/>
          <a:p>
            <a:r>
              <a:rPr sz="560" b="0">
                <a:solidFill>
                  <a:srgbClr val="55606E"/>
                </a:solidFill>
                <a:latin typeface="Aptos"/>
              </a:rPr>
              <a:t>https://www.michigan.gov/mdot/-/media/Project/Websites/MDOT/Programs/Planning/Resilience-Improvement-Plan/Plan.pdf</a:t>
            </a:r>
          </a:p>
        </p:txBody>
      </p:sp>
      <p:sp>
        <p:nvSpPr>
          <p:cNvPr id="32" name="TextBox 31"/>
          <p:cNvSpPr txBox="1"/>
          <p:nvPr/>
        </p:nvSpPr>
        <p:spPr>
          <a:xfrm>
            <a:off x="502920" y="3447288"/>
            <a:ext cx="914400" cy="164592"/>
          </a:xfrm>
          <a:prstGeom prst="rect">
            <a:avLst/>
          </a:prstGeom>
          <a:noFill/>
        </p:spPr>
        <p:txBody>
          <a:bodyPr wrap="square">
            <a:normAutofit/>
          </a:bodyPr>
          <a:lstStyle/>
          <a:p>
            <a:r>
              <a:rPr sz="700" b="1">
                <a:solidFill>
                  <a:srgbClr val="1F6FEB"/>
                </a:solidFill>
                <a:latin typeface="Aptos"/>
              </a:rPr>
              <a:t>MN</a:t>
            </a:r>
          </a:p>
        </p:txBody>
      </p:sp>
      <p:sp>
        <p:nvSpPr>
          <p:cNvPr id="33" name="TextBox 32"/>
          <p:cNvSpPr txBox="1"/>
          <p:nvPr/>
        </p:nvSpPr>
        <p:spPr>
          <a:xfrm>
            <a:off x="1051560" y="3447288"/>
            <a:ext cx="3840480" cy="164592"/>
          </a:xfrm>
          <a:prstGeom prst="rect">
            <a:avLst/>
          </a:prstGeom>
          <a:noFill/>
        </p:spPr>
        <p:txBody>
          <a:bodyPr wrap="square">
            <a:normAutofit/>
          </a:bodyPr>
          <a:lstStyle/>
          <a:p>
            <a:r>
              <a:rPr sz="600" b="0">
                <a:solidFill>
                  <a:srgbClr val="232B37"/>
                </a:solidFill>
                <a:latin typeface="Aptos"/>
              </a:rPr>
              <a:t>MN_MnDOT_Resilience_Improvement_Plan_2024.pdf</a:t>
            </a:r>
          </a:p>
        </p:txBody>
      </p:sp>
      <p:sp>
        <p:nvSpPr>
          <p:cNvPr id="34" name="TextBox 33"/>
          <p:cNvSpPr txBox="1"/>
          <p:nvPr/>
        </p:nvSpPr>
        <p:spPr>
          <a:xfrm>
            <a:off x="4983480" y="3447288"/>
            <a:ext cx="6629400" cy="164592"/>
          </a:xfrm>
          <a:prstGeom prst="rect">
            <a:avLst/>
          </a:prstGeom>
          <a:noFill/>
        </p:spPr>
        <p:txBody>
          <a:bodyPr wrap="square">
            <a:normAutofit/>
          </a:bodyPr>
          <a:lstStyle/>
          <a:p>
            <a:r>
              <a:rPr sz="560" b="0">
                <a:solidFill>
                  <a:srgbClr val="55606E"/>
                </a:solidFill>
                <a:latin typeface="Aptos"/>
              </a:rPr>
              <a:t>https://www.tam-portal.com/wp-content/uploads/sites/12/2025/07/2024-Resilience-Improvement-Plan-ADA-FINAL-38633998-v2.pdf</a:t>
            </a:r>
          </a:p>
        </p:txBody>
      </p:sp>
      <p:sp>
        <p:nvSpPr>
          <p:cNvPr id="35" name="TextBox 34"/>
          <p:cNvSpPr txBox="1"/>
          <p:nvPr/>
        </p:nvSpPr>
        <p:spPr>
          <a:xfrm>
            <a:off x="502920" y="3703320"/>
            <a:ext cx="914400" cy="164592"/>
          </a:xfrm>
          <a:prstGeom prst="rect">
            <a:avLst/>
          </a:prstGeom>
          <a:noFill/>
        </p:spPr>
        <p:txBody>
          <a:bodyPr wrap="square">
            <a:normAutofit/>
          </a:bodyPr>
          <a:lstStyle/>
          <a:p>
            <a:r>
              <a:rPr sz="700" b="1">
                <a:solidFill>
                  <a:srgbClr val="1F6FEB"/>
                </a:solidFill>
                <a:latin typeface="Aptos"/>
              </a:rPr>
              <a:t>MS</a:t>
            </a:r>
          </a:p>
        </p:txBody>
      </p:sp>
      <p:sp>
        <p:nvSpPr>
          <p:cNvPr id="36" name="TextBox 35"/>
          <p:cNvSpPr txBox="1"/>
          <p:nvPr/>
        </p:nvSpPr>
        <p:spPr>
          <a:xfrm>
            <a:off x="1051560" y="3703320"/>
            <a:ext cx="3840480" cy="164592"/>
          </a:xfrm>
          <a:prstGeom prst="rect">
            <a:avLst/>
          </a:prstGeom>
          <a:noFill/>
        </p:spPr>
        <p:txBody>
          <a:bodyPr wrap="square">
            <a:normAutofit/>
          </a:bodyPr>
          <a:lstStyle/>
          <a:p>
            <a:r>
              <a:rPr sz="600" b="0">
                <a:solidFill>
                  <a:srgbClr val="232B37"/>
                </a:solidFill>
                <a:latin typeface="Aptos"/>
              </a:rPr>
              <a:t>MS_MDOT_Resilience_Improvement_Plan.pdf</a:t>
            </a:r>
          </a:p>
        </p:txBody>
      </p:sp>
      <p:sp>
        <p:nvSpPr>
          <p:cNvPr id="37" name="TextBox 36"/>
          <p:cNvSpPr txBox="1"/>
          <p:nvPr/>
        </p:nvSpPr>
        <p:spPr>
          <a:xfrm>
            <a:off x="4983480" y="3703320"/>
            <a:ext cx="6629400" cy="164592"/>
          </a:xfrm>
          <a:prstGeom prst="rect">
            <a:avLst/>
          </a:prstGeom>
          <a:noFill/>
        </p:spPr>
        <p:txBody>
          <a:bodyPr wrap="square">
            <a:normAutofit/>
          </a:bodyPr>
          <a:lstStyle/>
          <a:p>
            <a:r>
              <a:rPr sz="560" b="0">
                <a:solidFill>
                  <a:srgbClr val="55606E"/>
                </a:solidFill>
                <a:latin typeface="Aptos"/>
              </a:rPr>
              <a:t>https://mdot.ms.gov/documents/Planning/Resilience%20Planning/MDOT%20Resilience%20Improvement%20Plan.pdf</a:t>
            </a:r>
          </a:p>
        </p:txBody>
      </p:sp>
      <p:sp>
        <p:nvSpPr>
          <p:cNvPr id="38" name="TextBox 37"/>
          <p:cNvSpPr txBox="1"/>
          <p:nvPr/>
        </p:nvSpPr>
        <p:spPr>
          <a:xfrm>
            <a:off x="502920" y="3959352"/>
            <a:ext cx="914400" cy="164592"/>
          </a:xfrm>
          <a:prstGeom prst="rect">
            <a:avLst/>
          </a:prstGeom>
          <a:noFill/>
        </p:spPr>
        <p:txBody>
          <a:bodyPr wrap="square">
            <a:normAutofit/>
          </a:bodyPr>
          <a:lstStyle/>
          <a:p>
            <a:r>
              <a:rPr sz="700" b="1">
                <a:solidFill>
                  <a:srgbClr val="1F6FEB"/>
                </a:solidFill>
                <a:latin typeface="Aptos"/>
              </a:rPr>
              <a:t>NC</a:t>
            </a:r>
          </a:p>
        </p:txBody>
      </p:sp>
      <p:sp>
        <p:nvSpPr>
          <p:cNvPr id="39" name="TextBox 38"/>
          <p:cNvSpPr txBox="1"/>
          <p:nvPr/>
        </p:nvSpPr>
        <p:spPr>
          <a:xfrm>
            <a:off x="1051560" y="3959352"/>
            <a:ext cx="3840480" cy="164592"/>
          </a:xfrm>
          <a:prstGeom prst="rect">
            <a:avLst/>
          </a:prstGeom>
          <a:noFill/>
        </p:spPr>
        <p:txBody>
          <a:bodyPr wrap="square">
            <a:normAutofit/>
          </a:bodyPr>
          <a:lstStyle/>
          <a:p>
            <a:r>
              <a:rPr sz="600" b="0">
                <a:solidFill>
                  <a:srgbClr val="232B37"/>
                </a:solidFill>
                <a:latin typeface="Aptos"/>
              </a:rPr>
              <a:t>NC_NCDOT_Resilience_Strategy_Report.pdf</a:t>
            </a:r>
          </a:p>
        </p:txBody>
      </p:sp>
      <p:sp>
        <p:nvSpPr>
          <p:cNvPr id="40" name="TextBox 39"/>
          <p:cNvSpPr txBox="1"/>
          <p:nvPr/>
        </p:nvSpPr>
        <p:spPr>
          <a:xfrm>
            <a:off x="4983480" y="3959352"/>
            <a:ext cx="6629400" cy="164592"/>
          </a:xfrm>
          <a:prstGeom prst="rect">
            <a:avLst/>
          </a:prstGeom>
          <a:noFill/>
        </p:spPr>
        <p:txBody>
          <a:bodyPr wrap="square">
            <a:normAutofit/>
          </a:bodyPr>
          <a:lstStyle/>
          <a:p>
            <a:r>
              <a:rPr sz="560" b="0">
                <a:solidFill>
                  <a:srgbClr val="55606E"/>
                </a:solidFill>
                <a:latin typeface="Aptos"/>
              </a:rPr>
              <a:t>https://www.ncdot.gov/initiatives-policies/Transportation/transportation-resilience/Documents/resilience-plan.pdf</a:t>
            </a:r>
          </a:p>
        </p:txBody>
      </p:sp>
      <p:sp>
        <p:nvSpPr>
          <p:cNvPr id="41" name="TextBox 40"/>
          <p:cNvSpPr txBox="1"/>
          <p:nvPr/>
        </p:nvSpPr>
        <p:spPr>
          <a:xfrm>
            <a:off x="502920" y="4215384"/>
            <a:ext cx="914400" cy="164592"/>
          </a:xfrm>
          <a:prstGeom prst="rect">
            <a:avLst/>
          </a:prstGeom>
          <a:noFill/>
        </p:spPr>
        <p:txBody>
          <a:bodyPr wrap="square">
            <a:normAutofit/>
          </a:bodyPr>
          <a:lstStyle/>
          <a:p>
            <a:r>
              <a:rPr sz="700" b="1">
                <a:solidFill>
                  <a:srgbClr val="1F6FEB"/>
                </a:solidFill>
                <a:latin typeface="Aptos"/>
              </a:rPr>
              <a:t>NM</a:t>
            </a:r>
          </a:p>
        </p:txBody>
      </p:sp>
      <p:sp>
        <p:nvSpPr>
          <p:cNvPr id="42" name="TextBox 41"/>
          <p:cNvSpPr txBox="1"/>
          <p:nvPr/>
        </p:nvSpPr>
        <p:spPr>
          <a:xfrm>
            <a:off x="1051560" y="4215384"/>
            <a:ext cx="3840480" cy="164592"/>
          </a:xfrm>
          <a:prstGeom prst="rect">
            <a:avLst/>
          </a:prstGeom>
          <a:noFill/>
        </p:spPr>
        <p:txBody>
          <a:bodyPr wrap="square">
            <a:normAutofit/>
          </a:bodyPr>
          <a:lstStyle/>
          <a:p>
            <a:r>
              <a:rPr sz="600" b="0">
                <a:solidFill>
                  <a:srgbClr val="232B37"/>
                </a:solidFill>
                <a:latin typeface="Aptos"/>
              </a:rPr>
              <a:t>NM_NMDOT_Resilience_Improvement_Plan_2024.pdf</a:t>
            </a:r>
          </a:p>
        </p:txBody>
      </p:sp>
      <p:sp>
        <p:nvSpPr>
          <p:cNvPr id="43" name="TextBox 42"/>
          <p:cNvSpPr txBox="1"/>
          <p:nvPr/>
        </p:nvSpPr>
        <p:spPr>
          <a:xfrm>
            <a:off x="4983480" y="4215384"/>
            <a:ext cx="6629400" cy="164592"/>
          </a:xfrm>
          <a:prstGeom prst="rect">
            <a:avLst/>
          </a:prstGeom>
          <a:noFill/>
        </p:spPr>
        <p:txBody>
          <a:bodyPr wrap="square">
            <a:normAutofit/>
          </a:bodyPr>
          <a:lstStyle/>
          <a:p>
            <a:r>
              <a:rPr sz="560" b="0">
                <a:solidFill>
                  <a:srgbClr val="55606E"/>
                </a:solidFill>
                <a:latin typeface="Aptos"/>
              </a:rPr>
              <a:t>https://www.erm-portal.com/wp-content/uploads/sites/15/2024/08/2024_0324_NMDOT-RIP_Final-3e0d72b101139cc6da2af69c7c26a4d5.pdf</a:t>
            </a:r>
          </a:p>
        </p:txBody>
      </p:sp>
      <p:sp>
        <p:nvSpPr>
          <p:cNvPr id="44" name="TextBox 43"/>
          <p:cNvSpPr txBox="1"/>
          <p:nvPr/>
        </p:nvSpPr>
        <p:spPr>
          <a:xfrm>
            <a:off x="502920" y="4471416"/>
            <a:ext cx="914400" cy="164592"/>
          </a:xfrm>
          <a:prstGeom prst="rect">
            <a:avLst/>
          </a:prstGeom>
          <a:noFill/>
        </p:spPr>
        <p:txBody>
          <a:bodyPr wrap="square">
            <a:normAutofit/>
          </a:bodyPr>
          <a:lstStyle/>
          <a:p>
            <a:r>
              <a:rPr sz="700" b="1">
                <a:solidFill>
                  <a:srgbClr val="1F6FEB"/>
                </a:solidFill>
                <a:latin typeface="Aptos"/>
              </a:rPr>
              <a:t>OH</a:t>
            </a:r>
          </a:p>
        </p:txBody>
      </p:sp>
      <p:sp>
        <p:nvSpPr>
          <p:cNvPr id="45" name="TextBox 44"/>
          <p:cNvSpPr txBox="1"/>
          <p:nvPr/>
        </p:nvSpPr>
        <p:spPr>
          <a:xfrm>
            <a:off x="1051560" y="4471416"/>
            <a:ext cx="3840480" cy="164592"/>
          </a:xfrm>
          <a:prstGeom prst="rect">
            <a:avLst/>
          </a:prstGeom>
          <a:noFill/>
        </p:spPr>
        <p:txBody>
          <a:bodyPr wrap="square">
            <a:normAutofit/>
          </a:bodyPr>
          <a:lstStyle/>
          <a:p>
            <a:r>
              <a:rPr sz="600" b="0">
                <a:solidFill>
                  <a:srgbClr val="232B37"/>
                </a:solidFill>
                <a:latin typeface="Aptos"/>
              </a:rPr>
              <a:t>OH_ODOT_Resilience_Improvement_Plan.pdf</a:t>
            </a:r>
          </a:p>
        </p:txBody>
      </p:sp>
      <p:sp>
        <p:nvSpPr>
          <p:cNvPr id="46" name="TextBox 45"/>
          <p:cNvSpPr txBox="1"/>
          <p:nvPr/>
        </p:nvSpPr>
        <p:spPr>
          <a:xfrm>
            <a:off x="4983480" y="4471416"/>
            <a:ext cx="6629400" cy="164592"/>
          </a:xfrm>
          <a:prstGeom prst="rect">
            <a:avLst/>
          </a:prstGeom>
          <a:noFill/>
        </p:spPr>
        <p:txBody>
          <a:bodyPr wrap="square">
            <a:normAutofit/>
          </a:bodyPr>
          <a:lstStyle/>
          <a:p>
            <a:r>
              <a:rPr sz="560" b="0">
                <a:solidFill>
                  <a:srgbClr val="55606E"/>
                </a:solidFill>
                <a:latin typeface="Aptos"/>
              </a:rPr>
              <a:t>https://dam.assets.ohio.gov/image/upload/transportation.ohio.gov/statewide-planning/resilience/Resilience-Improvement-Plan.pdf</a:t>
            </a:r>
          </a:p>
        </p:txBody>
      </p:sp>
      <p:sp>
        <p:nvSpPr>
          <p:cNvPr id="47" name="TextBox 46"/>
          <p:cNvSpPr txBox="1"/>
          <p:nvPr/>
        </p:nvSpPr>
        <p:spPr>
          <a:xfrm>
            <a:off x="502920" y="4727448"/>
            <a:ext cx="914400" cy="164592"/>
          </a:xfrm>
          <a:prstGeom prst="rect">
            <a:avLst/>
          </a:prstGeom>
          <a:noFill/>
        </p:spPr>
        <p:txBody>
          <a:bodyPr wrap="square">
            <a:normAutofit/>
          </a:bodyPr>
          <a:lstStyle/>
          <a:p>
            <a:r>
              <a:rPr sz="700" b="1">
                <a:solidFill>
                  <a:srgbClr val="1F6FEB"/>
                </a:solidFill>
                <a:latin typeface="Aptos"/>
              </a:rPr>
              <a:t>OR</a:t>
            </a:r>
          </a:p>
        </p:txBody>
      </p:sp>
      <p:sp>
        <p:nvSpPr>
          <p:cNvPr id="48" name="TextBox 47"/>
          <p:cNvSpPr txBox="1"/>
          <p:nvPr/>
        </p:nvSpPr>
        <p:spPr>
          <a:xfrm>
            <a:off x="1051560" y="4727448"/>
            <a:ext cx="3840480" cy="164592"/>
          </a:xfrm>
          <a:prstGeom prst="rect">
            <a:avLst/>
          </a:prstGeom>
          <a:noFill/>
        </p:spPr>
        <p:txBody>
          <a:bodyPr wrap="square">
            <a:normAutofit/>
          </a:bodyPr>
          <a:lstStyle/>
          <a:p>
            <a:r>
              <a:rPr sz="600" b="0">
                <a:solidFill>
                  <a:srgbClr val="232B37"/>
                </a:solidFill>
                <a:latin typeface="Aptos"/>
              </a:rPr>
              <a:t>OR_ODOT_Climate_Adaptation_Resilience_Roadmap.pdf</a:t>
            </a:r>
          </a:p>
        </p:txBody>
      </p:sp>
      <p:sp>
        <p:nvSpPr>
          <p:cNvPr id="49" name="TextBox 48"/>
          <p:cNvSpPr txBox="1"/>
          <p:nvPr/>
        </p:nvSpPr>
        <p:spPr>
          <a:xfrm>
            <a:off x="4983480" y="4727448"/>
            <a:ext cx="6629400" cy="164592"/>
          </a:xfrm>
          <a:prstGeom prst="rect">
            <a:avLst/>
          </a:prstGeom>
          <a:noFill/>
        </p:spPr>
        <p:txBody>
          <a:bodyPr wrap="square">
            <a:normAutofit/>
          </a:bodyPr>
          <a:lstStyle/>
          <a:p>
            <a:r>
              <a:rPr sz="560" b="0">
                <a:solidFill>
                  <a:srgbClr val="55606E"/>
                </a:solidFill>
                <a:latin typeface="Aptos"/>
              </a:rPr>
              <a:t>https://www.tam-portal.com/wp-content/uploads/sites/12/2025/01/ClimateAdaptation_andResilienceRoadmap.pdf</a:t>
            </a:r>
          </a:p>
        </p:txBody>
      </p:sp>
      <p:sp>
        <p:nvSpPr>
          <p:cNvPr id="50" name="TextBox 49"/>
          <p:cNvSpPr txBox="1"/>
          <p:nvPr/>
        </p:nvSpPr>
        <p:spPr>
          <a:xfrm>
            <a:off x="502920" y="4983480"/>
            <a:ext cx="914400" cy="164592"/>
          </a:xfrm>
          <a:prstGeom prst="rect">
            <a:avLst/>
          </a:prstGeom>
          <a:noFill/>
        </p:spPr>
        <p:txBody>
          <a:bodyPr wrap="square">
            <a:normAutofit/>
          </a:bodyPr>
          <a:lstStyle/>
          <a:p>
            <a:r>
              <a:rPr sz="700" b="1">
                <a:solidFill>
                  <a:srgbClr val="1F6FEB"/>
                </a:solidFill>
                <a:latin typeface="Aptos"/>
              </a:rPr>
              <a:t>RI</a:t>
            </a:r>
          </a:p>
        </p:txBody>
      </p:sp>
      <p:sp>
        <p:nvSpPr>
          <p:cNvPr id="51" name="TextBox 50"/>
          <p:cNvSpPr txBox="1"/>
          <p:nvPr/>
        </p:nvSpPr>
        <p:spPr>
          <a:xfrm>
            <a:off x="1051560" y="4983480"/>
            <a:ext cx="3840480" cy="164592"/>
          </a:xfrm>
          <a:prstGeom prst="rect">
            <a:avLst/>
          </a:prstGeom>
          <a:noFill/>
        </p:spPr>
        <p:txBody>
          <a:bodyPr wrap="square">
            <a:normAutofit/>
          </a:bodyPr>
          <a:lstStyle/>
          <a:p>
            <a:r>
              <a:rPr sz="600" b="0">
                <a:solidFill>
                  <a:srgbClr val="232B37"/>
                </a:solidFill>
                <a:latin typeface="Aptos"/>
              </a:rPr>
              <a:t>RI_RIDOT_Approved_RIP.pdf</a:t>
            </a:r>
          </a:p>
        </p:txBody>
      </p:sp>
      <p:sp>
        <p:nvSpPr>
          <p:cNvPr id="52" name="TextBox 51"/>
          <p:cNvSpPr txBox="1"/>
          <p:nvPr/>
        </p:nvSpPr>
        <p:spPr>
          <a:xfrm>
            <a:off x="4983480" y="4983480"/>
            <a:ext cx="6629400" cy="164592"/>
          </a:xfrm>
          <a:prstGeom prst="rect">
            <a:avLst/>
          </a:prstGeom>
          <a:noFill/>
        </p:spPr>
        <p:txBody>
          <a:bodyPr wrap="square">
            <a:normAutofit/>
          </a:bodyPr>
          <a:lstStyle/>
          <a:p>
            <a:r>
              <a:rPr sz="560" b="0">
                <a:solidFill>
                  <a:srgbClr val="55606E"/>
                </a:solidFill>
                <a:latin typeface="Aptos"/>
              </a:rPr>
              <a:t>https://www.dot.ri.gov/rhodeworks/docs/RIDOT_Approved_RIP.pdf</a:t>
            </a:r>
          </a:p>
        </p:txBody>
      </p:sp>
      <p:sp>
        <p:nvSpPr>
          <p:cNvPr id="53" name="TextBox 52"/>
          <p:cNvSpPr txBox="1"/>
          <p:nvPr/>
        </p:nvSpPr>
        <p:spPr>
          <a:xfrm>
            <a:off x="502920" y="5239512"/>
            <a:ext cx="914400" cy="164592"/>
          </a:xfrm>
          <a:prstGeom prst="rect">
            <a:avLst/>
          </a:prstGeom>
          <a:noFill/>
        </p:spPr>
        <p:txBody>
          <a:bodyPr wrap="square">
            <a:normAutofit/>
          </a:bodyPr>
          <a:lstStyle/>
          <a:p>
            <a:r>
              <a:rPr sz="700" b="1">
                <a:solidFill>
                  <a:srgbClr val="1F6FEB"/>
                </a:solidFill>
                <a:latin typeface="Aptos"/>
              </a:rPr>
              <a:t>TX</a:t>
            </a:r>
          </a:p>
        </p:txBody>
      </p:sp>
      <p:sp>
        <p:nvSpPr>
          <p:cNvPr id="54" name="TextBox 53"/>
          <p:cNvSpPr txBox="1"/>
          <p:nvPr/>
        </p:nvSpPr>
        <p:spPr>
          <a:xfrm>
            <a:off x="1051560" y="5239512"/>
            <a:ext cx="3840480" cy="164592"/>
          </a:xfrm>
          <a:prstGeom prst="rect">
            <a:avLst/>
          </a:prstGeom>
          <a:noFill/>
        </p:spPr>
        <p:txBody>
          <a:bodyPr wrap="square">
            <a:normAutofit/>
          </a:bodyPr>
          <a:lstStyle/>
          <a:p>
            <a:r>
              <a:rPr sz="600" b="0">
                <a:solidFill>
                  <a:srgbClr val="232B37"/>
                </a:solidFill>
                <a:latin typeface="Aptos"/>
              </a:rPr>
              <a:t>TX_TxDOT_Statewide_Transportation_Resilience_Plan_2025.pdf</a:t>
            </a:r>
          </a:p>
        </p:txBody>
      </p:sp>
      <p:sp>
        <p:nvSpPr>
          <p:cNvPr id="55" name="TextBox 54"/>
          <p:cNvSpPr txBox="1"/>
          <p:nvPr/>
        </p:nvSpPr>
        <p:spPr>
          <a:xfrm>
            <a:off x="4983480" y="5239512"/>
            <a:ext cx="6629400" cy="164592"/>
          </a:xfrm>
          <a:prstGeom prst="rect">
            <a:avLst/>
          </a:prstGeom>
          <a:noFill/>
        </p:spPr>
        <p:txBody>
          <a:bodyPr wrap="square">
            <a:normAutofit/>
          </a:bodyPr>
          <a:lstStyle/>
          <a:p>
            <a:r>
              <a:rPr sz="560" b="0">
                <a:solidFill>
                  <a:srgbClr val="55606E"/>
                </a:solidFill>
                <a:latin typeface="Aptos"/>
              </a:rPr>
              <a:t>https://www.txdot.gov/content/dam/docs/division/tpp/2025-statewide-resiliency-plan.pdf</a:t>
            </a:r>
          </a:p>
        </p:txBody>
      </p:sp>
      <p:sp>
        <p:nvSpPr>
          <p:cNvPr id="56" name="TextBox 55"/>
          <p:cNvSpPr txBox="1"/>
          <p:nvPr/>
        </p:nvSpPr>
        <p:spPr>
          <a:xfrm>
            <a:off x="502920" y="5495544"/>
            <a:ext cx="914400" cy="164592"/>
          </a:xfrm>
          <a:prstGeom prst="rect">
            <a:avLst/>
          </a:prstGeom>
          <a:noFill/>
        </p:spPr>
        <p:txBody>
          <a:bodyPr wrap="square">
            <a:normAutofit/>
          </a:bodyPr>
          <a:lstStyle/>
          <a:p>
            <a:r>
              <a:rPr sz="700" b="1">
                <a:solidFill>
                  <a:srgbClr val="1F6FEB"/>
                </a:solidFill>
                <a:latin typeface="Aptos"/>
              </a:rPr>
              <a:t>UT</a:t>
            </a:r>
          </a:p>
        </p:txBody>
      </p:sp>
      <p:sp>
        <p:nvSpPr>
          <p:cNvPr id="57" name="TextBox 56"/>
          <p:cNvSpPr txBox="1"/>
          <p:nvPr/>
        </p:nvSpPr>
        <p:spPr>
          <a:xfrm>
            <a:off x="1051560" y="5495544"/>
            <a:ext cx="3840480" cy="164592"/>
          </a:xfrm>
          <a:prstGeom prst="rect">
            <a:avLst/>
          </a:prstGeom>
          <a:noFill/>
        </p:spPr>
        <p:txBody>
          <a:bodyPr wrap="square">
            <a:normAutofit/>
          </a:bodyPr>
          <a:lstStyle/>
          <a:p>
            <a:r>
              <a:rPr sz="600" b="0">
                <a:solidFill>
                  <a:srgbClr val="232B37"/>
                </a:solidFill>
                <a:latin typeface="Aptos"/>
              </a:rPr>
              <a:t>UT_UDOT_Resilience_Improvement_Plan_2024.pdf</a:t>
            </a:r>
          </a:p>
        </p:txBody>
      </p:sp>
      <p:sp>
        <p:nvSpPr>
          <p:cNvPr id="58" name="TextBox 57"/>
          <p:cNvSpPr txBox="1"/>
          <p:nvPr/>
        </p:nvSpPr>
        <p:spPr>
          <a:xfrm>
            <a:off x="4983480" y="5495544"/>
            <a:ext cx="6629400" cy="164592"/>
          </a:xfrm>
          <a:prstGeom prst="rect">
            <a:avLst/>
          </a:prstGeom>
          <a:noFill/>
        </p:spPr>
        <p:txBody>
          <a:bodyPr wrap="square">
            <a:normAutofit/>
          </a:bodyPr>
          <a:lstStyle/>
          <a:p>
            <a:r>
              <a:rPr sz="560" b="0">
                <a:solidFill>
                  <a:srgbClr val="55606E"/>
                </a:solidFill>
                <a:latin typeface="Aptos"/>
              </a:rPr>
              <a:t>https://www.erm-portal.com/wp-content/uploads/sites/15/2024/09/2024-05-07-FINAL-UDOT-RIP-eee071ab388ba424f01311f4404fd110.pdf</a:t>
            </a:r>
          </a:p>
        </p:txBody>
      </p:sp>
      <p:sp>
        <p:nvSpPr>
          <p:cNvPr id="59" name="TextBox 58"/>
          <p:cNvSpPr txBox="1"/>
          <p:nvPr/>
        </p:nvSpPr>
        <p:spPr>
          <a:xfrm>
            <a:off x="502920" y="5751576"/>
            <a:ext cx="914400" cy="164592"/>
          </a:xfrm>
          <a:prstGeom prst="rect">
            <a:avLst/>
          </a:prstGeom>
          <a:noFill/>
        </p:spPr>
        <p:txBody>
          <a:bodyPr wrap="square">
            <a:normAutofit/>
          </a:bodyPr>
          <a:lstStyle/>
          <a:p>
            <a:r>
              <a:rPr sz="700" b="1">
                <a:solidFill>
                  <a:srgbClr val="1F6FEB"/>
                </a:solidFill>
                <a:latin typeface="Aptos"/>
              </a:rPr>
              <a:t>VA</a:t>
            </a:r>
          </a:p>
        </p:txBody>
      </p:sp>
      <p:sp>
        <p:nvSpPr>
          <p:cNvPr id="60" name="TextBox 59"/>
          <p:cNvSpPr txBox="1"/>
          <p:nvPr/>
        </p:nvSpPr>
        <p:spPr>
          <a:xfrm>
            <a:off x="1051560" y="5751576"/>
            <a:ext cx="3840480" cy="164592"/>
          </a:xfrm>
          <a:prstGeom prst="rect">
            <a:avLst/>
          </a:prstGeom>
          <a:noFill/>
        </p:spPr>
        <p:txBody>
          <a:bodyPr wrap="square">
            <a:normAutofit/>
          </a:bodyPr>
          <a:lstStyle/>
          <a:p>
            <a:r>
              <a:rPr sz="600" b="0">
                <a:solidFill>
                  <a:srgbClr val="232B37"/>
                </a:solidFill>
                <a:latin typeface="Aptos"/>
              </a:rPr>
              <a:t>VA_VDOT_Resilience_Plan_2022.pdf</a:t>
            </a:r>
          </a:p>
        </p:txBody>
      </p:sp>
      <p:sp>
        <p:nvSpPr>
          <p:cNvPr id="61" name="TextBox 60"/>
          <p:cNvSpPr txBox="1"/>
          <p:nvPr/>
        </p:nvSpPr>
        <p:spPr>
          <a:xfrm>
            <a:off x="4983480" y="5751576"/>
            <a:ext cx="6629400" cy="164592"/>
          </a:xfrm>
          <a:prstGeom prst="rect">
            <a:avLst/>
          </a:prstGeom>
          <a:noFill/>
        </p:spPr>
        <p:txBody>
          <a:bodyPr wrap="square">
            <a:normAutofit/>
          </a:bodyPr>
          <a:lstStyle/>
          <a:p>
            <a:r>
              <a:rPr sz="560" b="0">
                <a:solidFill>
                  <a:srgbClr val="55606E"/>
                </a:solidFill>
                <a:latin typeface="Aptos"/>
              </a:rPr>
              <a:t>https://www.erm-portal.com/wp-content/uploads/sites/15/2023/03/VDOT-Resilience-Plan_Nov_2022_FINAL-92cd22fca3674bdb5af0a3eb49a7e62d.pdf</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28600"/>
            <a:ext cx="8961120" cy="411480"/>
          </a:xfrm>
          <a:prstGeom prst="rect">
            <a:avLst/>
          </a:prstGeom>
          <a:noFill/>
        </p:spPr>
        <p:txBody>
          <a:bodyPr wrap="square">
            <a:normAutofit/>
          </a:bodyPr>
          <a:lstStyle/>
          <a:p>
            <a:r>
              <a:rPr sz="2200" b="1">
                <a:solidFill>
                  <a:srgbClr val="12202F"/>
                </a:solidFill>
                <a:latin typeface="Aptos"/>
              </a:rPr>
              <a:t>Source Appendix</a:t>
            </a:r>
          </a:p>
        </p:txBody>
      </p:sp>
      <p:sp>
        <p:nvSpPr>
          <p:cNvPr id="3" name="TextBox 2"/>
          <p:cNvSpPr txBox="1"/>
          <p:nvPr/>
        </p:nvSpPr>
        <p:spPr>
          <a:xfrm>
            <a:off x="438912" y="667512"/>
            <a:ext cx="10881360" cy="256032"/>
          </a:xfrm>
          <a:prstGeom prst="rect">
            <a:avLst/>
          </a:prstGeom>
          <a:noFill/>
        </p:spPr>
        <p:txBody>
          <a:bodyPr wrap="square">
            <a:normAutofit/>
          </a:bodyPr>
          <a:lstStyle/>
          <a:p>
            <a:r>
              <a:rPr sz="800" b="0">
                <a:solidFill>
                  <a:srgbClr val="55606E"/>
                </a:solidFill>
                <a:latin typeface="Aptos"/>
              </a:rPr>
              <a:t>Continued</a:t>
            </a:r>
          </a:p>
        </p:txBody>
      </p:sp>
      <p:sp>
        <p:nvSpPr>
          <p:cNvPr id="4" name="Rectangle 3"/>
          <p:cNvSpPr/>
          <p:nvPr/>
        </p:nvSpPr>
        <p:spPr>
          <a:xfrm>
            <a:off x="411480" y="969264"/>
            <a:ext cx="11384280" cy="18288"/>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914400" cy="164592"/>
          </a:xfrm>
          <a:prstGeom prst="rect">
            <a:avLst/>
          </a:prstGeom>
          <a:noFill/>
        </p:spPr>
        <p:txBody>
          <a:bodyPr wrap="square">
            <a:normAutofit/>
          </a:bodyPr>
          <a:lstStyle/>
          <a:p>
            <a:r>
              <a:rPr sz="700" b="1">
                <a:solidFill>
                  <a:srgbClr val="1F6FEB"/>
                </a:solidFill>
                <a:latin typeface="Aptos"/>
              </a:rPr>
              <a:t>VT</a:t>
            </a:r>
          </a:p>
        </p:txBody>
      </p:sp>
      <p:sp>
        <p:nvSpPr>
          <p:cNvPr id="6" name="TextBox 5"/>
          <p:cNvSpPr txBox="1"/>
          <p:nvPr/>
        </p:nvSpPr>
        <p:spPr>
          <a:xfrm>
            <a:off x="1051560" y="1143000"/>
            <a:ext cx="3840480" cy="164592"/>
          </a:xfrm>
          <a:prstGeom prst="rect">
            <a:avLst/>
          </a:prstGeom>
          <a:noFill/>
        </p:spPr>
        <p:txBody>
          <a:bodyPr wrap="square">
            <a:normAutofit/>
          </a:bodyPr>
          <a:lstStyle/>
          <a:p>
            <a:r>
              <a:rPr sz="600" b="0">
                <a:solidFill>
                  <a:srgbClr val="232B37"/>
                </a:solidFill>
                <a:latin typeface="Aptos"/>
              </a:rPr>
              <a:t>VT_VTrans_RIP_Process_2023.pdf</a:t>
            </a:r>
          </a:p>
        </p:txBody>
      </p:sp>
      <p:sp>
        <p:nvSpPr>
          <p:cNvPr id="7" name="TextBox 6"/>
          <p:cNvSpPr txBox="1"/>
          <p:nvPr/>
        </p:nvSpPr>
        <p:spPr>
          <a:xfrm>
            <a:off x="4983480" y="1143000"/>
            <a:ext cx="6629400" cy="164592"/>
          </a:xfrm>
          <a:prstGeom prst="rect">
            <a:avLst/>
          </a:prstGeom>
          <a:noFill/>
        </p:spPr>
        <p:txBody>
          <a:bodyPr wrap="square">
            <a:normAutofit/>
          </a:bodyPr>
          <a:lstStyle/>
          <a:p>
            <a:r>
              <a:rPr sz="560" b="0">
                <a:solidFill>
                  <a:srgbClr val="55606E"/>
                </a:solidFill>
                <a:latin typeface="Aptos"/>
              </a:rPr>
              <a:t>https://www.erm-portal.com/wp-content/uploads/sites/15/2023/03/2023-03-06-Vermont-RIP-Process-to-FHWA-VT-d6f8550d06fc4be24e33ab32ad4da7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