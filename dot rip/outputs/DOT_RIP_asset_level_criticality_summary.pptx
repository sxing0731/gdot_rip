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07899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12202F"/>
                </a:solidFill>
                <a:latin typeface="Aptos"/>
              </a:rPr>
              <a:t>Asset-Level Criticality in State DOT RIPs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389888"/>
            <a:ext cx="10241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55606E"/>
                </a:solidFill>
                <a:latin typeface="Aptos"/>
              </a:rPr>
              <a:t>How DOTs calculate criticality, what data they use, and why statewide asset-level scoring is usually staged.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743200"/>
            <a:ext cx="32918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2907792"/>
            <a:ext cx="28895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6FEB"/>
                </a:solidFill>
                <a:latin typeface="Aptos"/>
              </a:rPr>
              <a:t>Main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273552"/>
            <a:ext cx="2889504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2202F"/>
                </a:solidFill>
                <a:latin typeface="Aptos"/>
              </a:rPr>
              <a:t>Most scoring is not TAZ-level. It is usually asset, segment, corridor, or project-footprint level.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743200"/>
            <a:ext cx="32918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7" y="2907792"/>
            <a:ext cx="28895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883D"/>
                </a:solidFill>
                <a:latin typeface="Aptos"/>
              </a:rPr>
              <a:t>Practical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7" y="3273552"/>
            <a:ext cx="2889504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2202F"/>
                </a:solidFill>
                <a:latin typeface="Aptos"/>
              </a:rPr>
              <a:t>Screen corridors first, then refine only high-risk/high-criticality assets.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2743200"/>
            <a:ext cx="32918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5048" y="2907792"/>
            <a:ext cx="28895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BF6100"/>
                </a:solidFill>
                <a:latin typeface="Aptos"/>
              </a:rPr>
              <a:t>Data reality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3273552"/>
            <a:ext cx="2889504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2202F"/>
                </a:solidFill>
                <a:latin typeface="Aptos"/>
              </a:rPr>
              <a:t>Full bridge + every highway segment scoring is possible, but not efficient as a first pass.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217920"/>
            <a:ext cx="10698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55606E"/>
                </a:solidFill>
                <a:latin typeface="Aptos"/>
              </a:rPr>
              <a:t>Source: downloaded DOT RIP PDFs and compiled summary workbook in Desktop/dot rip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607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00" b="1">
                <a:solidFill>
                  <a:srgbClr val="12202F"/>
                </a:solidFill>
                <a:latin typeface="Aptos"/>
              </a:rPr>
              <a:t>What ?Criticality? Usually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698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55606E"/>
                </a:solidFill>
                <a:latin typeface="Aptos"/>
              </a:rPr>
              <a:t>Criticality is the importance of an asset to system function, emergency access, economy, and community resilience.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1155680" cy="228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984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2202F"/>
                </a:solidFill>
                <a:latin typeface="Aptos"/>
              </a:rPr>
              <a:t>Traffic importance: AADT, truck AADT, freight value, functional class, NHS status.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2202F"/>
                </a:solidFill>
                <a:latin typeface="Aptos"/>
              </a:rPr>
              <a:t>Network importance: redundancy, detour availability, alternate routes, evacuation route status.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2202F"/>
                </a:solidFill>
                <a:latin typeface="Aptos"/>
              </a:rPr>
              <a:t>Community importance: access to hospitals, emergency facilities, shelters, jobs, transit, freight distribution.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2202F"/>
                </a:solidFill>
                <a:latin typeface="Aptos"/>
              </a:rPr>
              <a:t>Equity importance: disadvantaged communities, social vulnerability, communities with lower recovery capacity.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2202F"/>
                </a:solidFill>
                <a:latin typeface="Aptos"/>
              </a:rPr>
              <a:t>Operational importance: route role in statewide mobility, maintenance access, tourism, and incident response.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577840"/>
            <a:ext cx="1069848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5742431"/>
            <a:ext cx="1029614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6FEB"/>
                </a:solidFill>
                <a:latin typeface="Aptos"/>
              </a:rPr>
              <a:t>Planning implication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6108192"/>
            <a:ext cx="10296144" cy="-6400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12202F"/>
                </a:solidFill>
                <a:latin typeface="Aptos"/>
              </a:rPr>
              <a:t>Criticality is often a consequence/proxy layer. It says: if this asset fails, how bad is the disruption?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607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00" b="1">
                <a:solidFill>
                  <a:srgbClr val="12202F"/>
                </a:solidFill>
                <a:latin typeface="Aptos"/>
              </a:rPr>
              <a:t>Common Data Used for Asset-Level Criticality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698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55606E"/>
                </a:solidFill>
                <a:latin typeface="Aptos"/>
              </a:rPr>
              <a:t>These are the recurring data layers across DOT methods.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1155680" cy="228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578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90472"/>
            <a:ext cx="485546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6FEB"/>
                </a:solidFill>
                <a:latin typeface="Aptos"/>
              </a:rPr>
              <a:t>Traffic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56231"/>
            <a:ext cx="4855464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2202F"/>
                </a:solidFill>
                <a:latin typeface="Aptos"/>
              </a:rPr>
              <a:t>AADT; truck AADT; congestion/reliability; route class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51760"/>
            <a:ext cx="52578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816352"/>
            <a:ext cx="485546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6FEB"/>
                </a:solidFill>
                <a:latin typeface="Aptos"/>
              </a:rPr>
              <a:t>Freight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82112"/>
            <a:ext cx="4855464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2202F"/>
                </a:solidFill>
                <a:latin typeface="Aptos"/>
              </a:rPr>
              <a:t>Freight network tier; truck flow; intermodal connectors; goods movement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977639"/>
            <a:ext cx="52578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4142231"/>
            <a:ext cx="485546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6FEB"/>
                </a:solidFill>
                <a:latin typeface="Aptos"/>
              </a:rPr>
              <a:t>Network redundancy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507992"/>
            <a:ext cx="4855464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2202F"/>
                </a:solidFill>
                <a:latin typeface="Aptos"/>
              </a:rPr>
              <a:t>Detour length; alternate routes; network density; route redundancy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25880"/>
            <a:ext cx="52578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1490472"/>
            <a:ext cx="485546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883D"/>
                </a:solidFill>
                <a:latin typeface="Aptos"/>
              </a:rPr>
              <a:t>Emergency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1856231"/>
            <a:ext cx="4855464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2202F"/>
                </a:solidFill>
                <a:latin typeface="Aptos"/>
              </a:rPr>
              <a:t>Evacuation routes; hospitals; fire/EMS; shelters; critical facilities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651760"/>
            <a:ext cx="52578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2816352"/>
            <a:ext cx="485546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883D"/>
                </a:solidFill>
                <a:latin typeface="Aptos"/>
              </a:rPr>
              <a:t>Equity/community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3182112"/>
            <a:ext cx="4855464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2202F"/>
                </a:solidFill>
                <a:latin typeface="Aptos"/>
              </a:rPr>
              <a:t>Social vulnerability; disadvantaged community index; population/job density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977639"/>
            <a:ext cx="52578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4142231"/>
            <a:ext cx="485546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883D"/>
                </a:solidFill>
                <a:latin typeface="Aptos"/>
              </a:rPr>
              <a:t>Asset/system 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4507992"/>
            <a:ext cx="4855464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2202F"/>
                </a:solidFill>
                <a:latin typeface="Aptos"/>
              </a:rPr>
              <a:t>NHS; functional class; bridge/roadway role; tourism; regional/statewide mobility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607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00" b="1">
                <a:solidFill>
                  <a:srgbClr val="12202F"/>
                </a:solidFill>
                <a:latin typeface="Aptos"/>
              </a:rPr>
              <a:t>States With Explicit Asset / Segment Criticality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698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55606E"/>
                </a:solidFill>
                <a:latin typeface="Aptos"/>
              </a:rPr>
              <a:t>These DOTs publish clear criticality criteria or formulas.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1155680" cy="228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08356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99032"/>
            <a:ext cx="640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1F6FEB"/>
                </a:solidFill>
                <a:latin typeface="Aptos"/>
              </a:rPr>
              <a:t>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380744"/>
            <a:ext cx="35661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2202F"/>
                </a:solidFill>
                <a:latin typeface="Aptos"/>
              </a:rPr>
              <a:t>Criticality = 25% of total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380744"/>
            <a:ext cx="5943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0">
                <a:solidFill>
                  <a:srgbClr val="12202F"/>
                </a:solidFill>
                <a:latin typeface="Aptos"/>
              </a:rPr>
              <a:t>AADT, truck AADT, functional class, NHS, CEJEST disadvantaged communities; asset score 1-4.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77440"/>
            <a:ext cx="108356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542032"/>
            <a:ext cx="640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1F6FEB"/>
                </a:solidFill>
                <a:latin typeface="Aptos"/>
              </a:rPr>
              <a:t>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523744"/>
            <a:ext cx="35661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2202F"/>
                </a:solidFill>
                <a:latin typeface="Aptos"/>
              </a:rPr>
              <a:t>Criticality criteria normalized 1-4 and summed equally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523744"/>
            <a:ext cx="5943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0">
                <a:solidFill>
                  <a:srgbClr val="12202F"/>
                </a:solidFill>
                <a:latin typeface="Aptos"/>
              </a:rPr>
              <a:t>System redundancy, AADT, truck AADT, disadvantaged community index, community assets, transit/bike service.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0440"/>
            <a:ext cx="108356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685032"/>
            <a:ext cx="640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1F6FEB"/>
                </a:solidFill>
                <a:latin typeface="Aptos"/>
              </a:rPr>
              <a:t>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666744"/>
            <a:ext cx="35661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2202F"/>
                </a:solidFill>
                <a:latin typeface="Aptos"/>
              </a:rPr>
              <a:t>Criticality = Usage/Ops 60% + Socioeconomic 20% + Health/Safety 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666744"/>
            <a:ext cx="5943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0">
                <a:solidFill>
                  <a:srgbClr val="12202F"/>
                </a:solidFill>
                <a:latin typeface="Aptos"/>
              </a:rPr>
              <a:t>Scores classified High / Medium / Low by percentile.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663440"/>
            <a:ext cx="108356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1"/>
            <a:ext cx="640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1F6FEB"/>
                </a:solidFill>
                <a:latin typeface="Aptos"/>
              </a:rPr>
              <a:t>NM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809744"/>
            <a:ext cx="35661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2202F"/>
                </a:solidFill>
                <a:latin typeface="Aptos"/>
              </a:rPr>
              <a:t>Criticality binned High / Medium / Low by percentile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809744"/>
            <a:ext cx="5943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0">
                <a:solidFill>
                  <a:srgbClr val="12202F"/>
                </a:solidFill>
                <a:latin typeface="Aptos"/>
              </a:rPr>
              <a:t>Freight network roads/structures automatically receive High criticality.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607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00" b="1">
                <a:solidFill>
                  <a:srgbClr val="12202F"/>
                </a:solidFill>
                <a:latin typeface="Aptos"/>
              </a:rPr>
              <a:t>States Using Criticality as Consequence or Proxy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698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55606E"/>
                </a:solidFill>
                <a:latin typeface="Aptos"/>
              </a:rPr>
              <a:t>Not always called ?criticality,? but the function is similar.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1155680" cy="228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08356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99032"/>
            <a:ext cx="640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1F883D"/>
                </a:solidFill>
                <a:latin typeface="Aptos"/>
              </a:rPr>
              <a:t>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380744"/>
            <a:ext cx="30632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2202F"/>
                </a:solidFill>
                <a:latin typeface="Aptos"/>
              </a:rPr>
              <a:t>Criticality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380744"/>
            <a:ext cx="6355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0">
                <a:solidFill>
                  <a:srgbClr val="12202F"/>
                </a:solidFill>
                <a:latin typeface="Aptos"/>
              </a:rPr>
              <a:t>AADT, redundancy, roadway classification, freight value, social vulnerability, tourism value.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77440"/>
            <a:ext cx="108356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542032"/>
            <a:ext cx="640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1F883D"/>
                </a:solidFill>
                <a:latin typeface="Aptos"/>
              </a:rPr>
              <a:t>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523744"/>
            <a:ext cx="30632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2202F"/>
                </a:solidFill>
                <a:latin typeface="Aptos"/>
              </a:rPr>
              <a:t>Consequence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523744"/>
            <a:ext cx="6355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0">
                <a:solidFill>
                  <a:srgbClr val="12202F"/>
                </a:solidFill>
                <a:latin typeface="Aptos"/>
              </a:rPr>
              <a:t>Functional class + AADT/truck flow; combined with exposure in a 1-5 risk matrix.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0440"/>
            <a:ext cx="108356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685032"/>
            <a:ext cx="640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1F883D"/>
                </a:solidFill>
                <a:latin typeface="Aptos"/>
              </a:rPr>
              <a:t>MN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666744"/>
            <a:ext cx="30632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2202F"/>
                </a:solidFill>
                <a:latin typeface="Aptos"/>
              </a:rPr>
              <a:t>Traveler impact proxy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666744"/>
            <a:ext cx="6355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0">
                <a:solidFill>
                  <a:srgbClr val="12202F"/>
                </a:solidFill>
                <a:latin typeface="Aptos"/>
              </a:rPr>
              <a:t>Federal functional class estimates travelers affected; network density estimates detour/redundancy.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663440"/>
            <a:ext cx="108356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1"/>
            <a:ext cx="640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1F883D"/>
                </a:solidFill>
                <a:latin typeface="Aptos"/>
              </a:rPr>
              <a:t>OH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809744"/>
            <a:ext cx="30632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2202F"/>
                </a:solidFill>
                <a:latin typeface="Aptos"/>
              </a:rPr>
              <a:t>User cost / detour consequence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4809744"/>
            <a:ext cx="63550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0">
                <a:solidFill>
                  <a:srgbClr val="12202F"/>
                </a:solidFill>
                <a:latin typeface="Aptos"/>
              </a:rPr>
              <a:t>Criticality embedded in owner/user cost, detour length, and staff input on critical sites.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607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00" b="1">
                <a:solidFill>
                  <a:srgbClr val="12202F"/>
                </a:solidFill>
                <a:latin typeface="Aptos"/>
              </a:rPr>
              <a:t>States With Partial or Project-Level Criticality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698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55606E"/>
                </a:solidFill>
                <a:latin typeface="Aptos"/>
              </a:rPr>
              <a:t>Useful, but not a fully published asset-level formula.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1155680" cy="228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08356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99032"/>
            <a:ext cx="640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BF6100"/>
                </a:solidFill>
                <a:latin typeface="Aptos"/>
              </a:rPr>
              <a:t>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380744"/>
            <a:ext cx="3200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2202F"/>
                </a:solidFill>
                <a:latin typeface="Aptos"/>
              </a:rPr>
              <a:t>Roadway segment/project factors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380744"/>
            <a:ext cx="6172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0">
                <a:solidFill>
                  <a:srgbClr val="12202F"/>
                </a:solidFill>
                <a:latin typeface="Aptos"/>
              </a:rPr>
              <a:t>Evacuation routes, essential facilities, AADT, DTC ridership, community size, employment density.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77440"/>
            <a:ext cx="108356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542032"/>
            <a:ext cx="640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BF6100"/>
                </a:solidFill>
                <a:latin typeface="Aptos"/>
              </a:rPr>
              <a:t>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523744"/>
            <a:ext cx="3200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2202F"/>
                </a:solidFill>
                <a:latin typeface="Aptos"/>
              </a:rPr>
              <a:t>Criticality Map component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523744"/>
            <a:ext cx="6172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0">
                <a:solidFill>
                  <a:srgbClr val="12202F"/>
                </a:solidFill>
                <a:latin typeface="Aptos"/>
              </a:rPr>
              <a:t>Criticality is one part of 3-12 point prioritization; full map formula not in extracted pages.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0440"/>
            <a:ext cx="108356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685032"/>
            <a:ext cx="640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BF6100"/>
                </a:solidFill>
                <a:latin typeface="Aptos"/>
              </a:rPr>
              <a:t>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666744"/>
            <a:ext cx="3200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2202F"/>
                </a:solidFill>
                <a:latin typeface="Aptos"/>
              </a:rPr>
              <a:t>APR / project prioritization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3666744"/>
            <a:ext cx="6172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0">
                <a:solidFill>
                  <a:srgbClr val="12202F"/>
                </a:solidFill>
                <a:latin typeface="Aptos"/>
              </a:rPr>
              <a:t>Users affected, redundancy, mobility/economy/safety benefits, community and critical infrastructure benefits.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663440"/>
            <a:ext cx="108356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1"/>
            <a:ext cx="640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BF6100"/>
                </a:solidFill>
                <a:latin typeface="Aptos"/>
              </a:rPr>
              <a:t>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809744"/>
            <a:ext cx="3200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2202F"/>
                </a:solidFill>
                <a:latin typeface="Aptos"/>
              </a:rPr>
              <a:t>Project location criticality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4809744"/>
            <a:ext cx="6172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0">
                <a:solidFill>
                  <a:srgbClr val="12202F"/>
                </a:solidFill>
                <a:latin typeface="Aptos"/>
              </a:rPr>
              <a:t>Used with cost effectiveness for candidate project ranking; exact formula not disclosed.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607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00" b="1">
                <a:solidFill>
                  <a:srgbClr val="12202F"/>
                </a:solidFill>
                <a:latin typeface="Aptos"/>
              </a:rPr>
              <a:t>States Where Criticality Is Planned or Not Published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698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55606E"/>
                </a:solidFill>
                <a:latin typeface="Aptos"/>
              </a:rPr>
              <a:t>These should not be treated as confirmed formulas.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1155680" cy="228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08356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99032"/>
            <a:ext cx="10058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CF222E"/>
                </a:solidFill>
                <a:latin typeface="Aptos"/>
              </a:rPr>
              <a:t>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380744"/>
            <a:ext cx="30175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2202F"/>
                </a:solidFill>
                <a:latin typeface="Aptos"/>
              </a:rPr>
              <a:t>Asset-level VAST assessment in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380744"/>
            <a:ext cx="5989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0">
                <a:solidFill>
                  <a:srgbClr val="12202F"/>
                </a:solidFill>
                <a:latin typeface="Aptos"/>
              </a:rPr>
              <a:t>Exposure, sensitivity, adaptive capacity are planned; no final criticality matrix.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77440"/>
            <a:ext cx="108356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542032"/>
            <a:ext cx="10058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CF222E"/>
                </a:solidFill>
                <a:latin typeface="Aptos"/>
              </a:rPr>
              <a:t>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523744"/>
            <a:ext cx="30175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2202F"/>
                </a:solidFill>
                <a:latin typeface="Aptos"/>
              </a:rPr>
              <a:t>Framework planned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2523744"/>
            <a:ext cx="5989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0">
                <a:solidFill>
                  <a:srgbClr val="12202F"/>
                </a:solidFill>
                <a:latin typeface="Aptos"/>
              </a:rPr>
              <a:t>AADT, roadway designation, redundancy, evacuation route, important infrastructure; weights not finalized.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0440"/>
            <a:ext cx="108356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685032"/>
            <a:ext cx="10058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CF222E"/>
                </a:solidFill>
                <a:latin typeface="Aptos"/>
              </a:rPr>
              <a:t>TX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666744"/>
            <a:ext cx="30175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2202F"/>
                </a:solidFill>
                <a:latin typeface="Aptos"/>
              </a:rPr>
              <a:t>Asset vulnerability exists, criticality formula not published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666744"/>
            <a:ext cx="5989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0">
                <a:solidFill>
                  <a:srgbClr val="12202F"/>
                </a:solidFill>
                <a:latin typeface="Aptos"/>
              </a:rPr>
              <a:t>Evacuation route status and critical assets are used, but no numeric criticality matrix found.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663440"/>
            <a:ext cx="10835640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828031"/>
            <a:ext cx="10058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CF222E"/>
                </a:solidFill>
                <a:latin typeface="Aptos"/>
              </a:rPr>
              <a:t>FL / 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809744"/>
            <a:ext cx="30175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2202F"/>
                </a:solidFill>
                <a:latin typeface="Aptos"/>
              </a:rPr>
              <a:t>No full asset criticality model in downloaded 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4809744"/>
            <a:ext cx="5989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0">
                <a:solidFill>
                  <a:srgbClr val="12202F"/>
                </a:solidFill>
                <a:latin typeface="Aptos"/>
              </a:rPr>
              <a:t>FL is engagement plan only; VT is draft project screening with Yes=1 flags.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607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00" b="1">
                <a:solidFill>
                  <a:srgbClr val="12202F"/>
                </a:solidFill>
                <a:latin typeface="Aptos"/>
              </a:rPr>
              <a:t>Answer to the Asset-Level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698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55606E"/>
                </a:solidFill>
                <a:latin typeface="Aptos"/>
              </a:rPr>
              <a:t>You do not need to score every asset in full detail at the start.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1155680" cy="228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74420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399032"/>
            <a:ext cx="1034186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6FEB"/>
                </a:solidFill>
                <a:latin typeface="Aptos"/>
              </a:rPr>
              <a:t>Recommended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764792"/>
            <a:ext cx="10341864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2202F"/>
                </a:solidFill>
                <a:latin typeface="Aptos"/>
              </a:rPr>
              <a:t>Use a staged screening workflow: broad network screen first, then asset-level refinement only where it matters.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1074420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96312"/>
            <a:ext cx="1034186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883D"/>
                </a:solidFill>
                <a:latin typeface="Aptos"/>
              </a:rPr>
              <a:t>1. Network / corridor screen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62072"/>
            <a:ext cx="1034186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0">
                <a:solidFill>
                  <a:srgbClr val="12202F"/>
                </a:solidFill>
                <a:latin typeface="Aptos"/>
              </a:rPr>
              <a:t>Use AADT, truck AADT, functional class, freight, evacuation routes, redundancy, and social vulnerability to find critical corridors.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79"/>
            <a:ext cx="1074420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547872"/>
            <a:ext cx="1034186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883D"/>
                </a:solidFill>
                <a:latin typeface="Aptos"/>
              </a:rPr>
              <a:t>2. Asset-level refinement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913631"/>
            <a:ext cx="1034186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0">
                <a:solidFill>
                  <a:srgbClr val="12202F"/>
                </a:solidFill>
                <a:latin typeface="Aptos"/>
              </a:rPr>
              <a:t>For high-criticality corridors only, add bridge condition, scour, culvert size, pavement condition, hydraulic exposure, replacement cost, and detour cost.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34840"/>
            <a:ext cx="1074420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599431"/>
            <a:ext cx="1034186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883D"/>
                </a:solidFill>
                <a:latin typeface="Aptos"/>
              </a:rPr>
              <a:t>3. Project aggregation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965192"/>
            <a:ext cx="1034186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0">
                <a:solidFill>
                  <a:srgbClr val="12202F"/>
                </a:solidFill>
                <a:latin typeface="Aptos"/>
              </a:rPr>
              <a:t>Bundle nearby high-risk assets into candidate projects; rank by resilience benefit, readiness, cost effectiveness, equity, and PROTECT eligibility.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607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00" b="1">
                <a:solidFill>
                  <a:srgbClr val="12202F"/>
                </a:solidFill>
                <a:latin typeface="Aptos"/>
              </a:rPr>
              <a:t>A Practical Criticality Formula You Could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698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55606E"/>
                </a:solidFill>
                <a:latin typeface="Aptos"/>
              </a:rPr>
              <a:t>This is a defensible planning-level formula inspired by DOT examples.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1155680" cy="228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74420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399032"/>
            <a:ext cx="1034186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6FEB"/>
                </a:solidFill>
                <a:latin typeface="Aptos"/>
              </a:rPr>
              <a:t>Example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764792"/>
            <a:ext cx="10341864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2202F"/>
                </a:solidFill>
                <a:latin typeface="Aptos"/>
              </a:rPr>
              <a:t>Criticality Score = 25% Traffic + 20% Freight + 20% Redundancy + 15% Emergency Access + 10% Equity + 10% Strategic Route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10332720" cy="3566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580">
                <a:solidFill>
                  <a:srgbClr val="12202F"/>
                </a:solidFill>
                <a:latin typeface="Aptos"/>
              </a:rPr>
              <a:t>Traffic: normalize AADT into 1-4 or percentile bins.</a:t>
            </a:r>
          </a:p>
          <a:p>
            <a:pPr>
              <a:spcAft>
                <a:spcPts val="600"/>
              </a:spcAft>
            </a:pPr>
            <a:r>
              <a:rPr sz="1580">
                <a:solidFill>
                  <a:srgbClr val="12202F"/>
                </a:solidFill>
                <a:latin typeface="Aptos"/>
              </a:rPr>
              <a:t>Freight: truck AADT, freight network tier, intermodal connector flag.</a:t>
            </a:r>
          </a:p>
          <a:p>
            <a:pPr>
              <a:spcAft>
                <a:spcPts val="600"/>
              </a:spcAft>
            </a:pPr>
            <a:r>
              <a:rPr sz="1580">
                <a:solidFill>
                  <a:srgbClr val="12202F"/>
                </a:solidFill>
                <a:latin typeface="Aptos"/>
              </a:rPr>
              <a:t>Redundancy: detour length or network density; less redundancy = higher score.</a:t>
            </a:r>
          </a:p>
          <a:p>
            <a:pPr>
              <a:spcAft>
                <a:spcPts val="600"/>
              </a:spcAft>
            </a:pPr>
            <a:r>
              <a:rPr sz="1580">
                <a:solidFill>
                  <a:srgbClr val="12202F"/>
                </a:solidFill>
                <a:latin typeface="Aptos"/>
              </a:rPr>
              <a:t>Emergency access: evacuation route, hospital/fire/EMS/shelter access.</a:t>
            </a:r>
          </a:p>
          <a:p>
            <a:pPr>
              <a:spcAft>
                <a:spcPts val="600"/>
              </a:spcAft>
            </a:pPr>
            <a:r>
              <a:rPr sz="1580">
                <a:solidFill>
                  <a:srgbClr val="12202F"/>
                </a:solidFill>
                <a:latin typeface="Aptos"/>
              </a:rPr>
              <a:t>Equity: disadvantaged community or social vulnerability index.</a:t>
            </a:r>
          </a:p>
          <a:p>
            <a:pPr>
              <a:spcAft>
                <a:spcPts val="600"/>
              </a:spcAft>
            </a:pPr>
            <a:r>
              <a:rPr sz="1580">
                <a:solidFill>
                  <a:srgbClr val="12202F"/>
                </a:solidFill>
                <a:latin typeface="Aptos"/>
              </a:rPr>
              <a:t>Strategic route role: NHS, functional class, statewide corridor, tourism/economic route.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6070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00" b="1">
                <a:solidFill>
                  <a:srgbClr val="12202F"/>
                </a:solidFill>
                <a:latin typeface="Aptos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698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55606E"/>
                </a:solidFill>
                <a:latin typeface="Aptos"/>
              </a:rPr>
              <a:t>What to carry forward for a statewide resilience screening method.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1155680" cy="228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9848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2202F"/>
                </a:solidFill>
                <a:latin typeface="Aptos"/>
              </a:rPr>
              <a:t>Criticality is usually not TAZ-level. It is asset, segment, corridor, or project-footprint level.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2202F"/>
                </a:solidFill>
                <a:latin typeface="Aptos"/>
              </a:rPr>
              <a:t>Do not fully engineer-score every bridge and every segment first. Use corridor screening to narrow the universe.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2202F"/>
                </a:solidFill>
                <a:latin typeface="Aptos"/>
              </a:rPr>
              <a:t>AADT, truck AADT, functional class, redundancy, evacuation route, essential facilities, and equity are the most reusable data layers.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2202F"/>
                </a:solidFill>
                <a:latin typeface="Aptos"/>
              </a:rPr>
              <a:t>The strongest published examples are MI, UT, RI, NM, CO, OR, and OH.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2202F"/>
                </a:solidFill>
                <a:latin typeface="Aptos"/>
              </a:rPr>
              <a:t>For planning, a normalized 1-4 or percentile-based criticality score is easier to maintain than a complex asset-by-asset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106984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55606E"/>
                </a:solidFill>
                <a:latin typeface="Aptos"/>
              </a:rPr>
              <a:t>Local file: C:\Users\xings\Desktop\dot rip\DOT_RIP_asset_level_criticality_summary.pptx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