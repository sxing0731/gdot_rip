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548640" y="502920"/>
            <a:ext cx="10515600" cy="685800"/>
          </a:xfrm>
          <a:prstGeom prst="rect">
            <a:avLst/>
          </a:prstGeom>
          <a:noFill/>
        </p:spPr>
        <p:txBody>
          <a:bodyPr wrap="square">
            <a:normAutofit/>
          </a:bodyPr>
          <a:lstStyle/>
          <a:p>
            <a:r>
              <a:rPr sz="3000" b="1">
                <a:solidFill>
                  <a:srgbClr val="12202F"/>
                </a:solidFill>
                <a:latin typeface="Aptos"/>
              </a:rPr>
              <a:t>State DOT Resilience Improvement Plans</a:t>
            </a:r>
          </a:p>
        </p:txBody>
      </p:sp>
      <p:sp>
        <p:nvSpPr>
          <p:cNvPr id="3" name="TextBox 2"/>
          <p:cNvSpPr txBox="1"/>
          <p:nvPr/>
        </p:nvSpPr>
        <p:spPr>
          <a:xfrm>
            <a:off x="566928" y="1225296"/>
            <a:ext cx="10241280" cy="411480"/>
          </a:xfrm>
          <a:prstGeom prst="rect">
            <a:avLst/>
          </a:prstGeom>
          <a:noFill/>
        </p:spPr>
        <p:txBody>
          <a:bodyPr wrap="square">
            <a:normAutofit/>
          </a:bodyPr>
          <a:lstStyle/>
          <a:p>
            <a:r>
              <a:rPr sz="1500" b="0">
                <a:solidFill>
                  <a:srgbClr val="414C5A"/>
                </a:solidFill>
                <a:latin typeface="Aptos"/>
              </a:rPr>
              <a:t>Verbatim English resilience definitions and risk scoring evidence from source PDFs</a:t>
            </a:r>
          </a:p>
        </p:txBody>
      </p:sp>
      <p:sp>
        <p:nvSpPr>
          <p:cNvPr id="4" name="TextBox 3"/>
          <p:cNvSpPr txBox="1"/>
          <p:nvPr/>
        </p:nvSpPr>
        <p:spPr>
          <a:xfrm>
            <a:off x="566928" y="6108192"/>
            <a:ext cx="10789920" cy="228600"/>
          </a:xfrm>
          <a:prstGeom prst="rect">
            <a:avLst/>
          </a:prstGeom>
          <a:noFill/>
        </p:spPr>
        <p:txBody>
          <a:bodyPr wrap="square">
            <a:normAutofit/>
          </a:bodyPr>
          <a:lstStyle/>
          <a:p>
            <a:r>
              <a:rPr sz="750" b="0">
                <a:solidFill>
                  <a:srgbClr val="55606E"/>
                </a:solidFill>
                <a:latin typeface="Aptos"/>
              </a:rPr>
              <a:t>Output generated from downloaded PDFs in C:\Users\xings\Desktop\dot rip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Reading Guide</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Definition text is verbatim English from the PDF where a formal definition was found.</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325880"/>
            <a:ext cx="10789920" cy="786384"/>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44752"/>
            <a:ext cx="2011680" cy="237744"/>
          </a:xfrm>
          <a:prstGeom prst="rect">
            <a:avLst/>
          </a:prstGeom>
          <a:noFill/>
        </p:spPr>
        <p:txBody>
          <a:bodyPr wrap="square">
            <a:normAutofit/>
          </a:bodyPr>
          <a:lstStyle/>
          <a:p>
            <a:r>
              <a:rPr sz="1300" b="1">
                <a:solidFill>
                  <a:srgbClr val="1F6FEB"/>
                </a:solidFill>
                <a:latin typeface="Aptos"/>
              </a:rPr>
              <a:t>Definition box</a:t>
            </a:r>
          </a:p>
        </p:txBody>
      </p:sp>
      <p:sp>
        <p:nvSpPr>
          <p:cNvPr id="7" name="TextBox 6"/>
          <p:cNvSpPr txBox="1"/>
          <p:nvPr/>
        </p:nvSpPr>
        <p:spPr>
          <a:xfrm>
            <a:off x="2743200" y="1426464"/>
            <a:ext cx="8046720" cy="329184"/>
          </a:xfrm>
          <a:prstGeom prst="rect">
            <a:avLst/>
          </a:prstGeom>
          <a:noFill/>
        </p:spPr>
        <p:txBody>
          <a:bodyPr wrap="square">
            <a:normAutofit/>
          </a:bodyPr>
          <a:lstStyle/>
          <a:p>
            <a:r>
              <a:rPr sz="1150" b="0">
                <a:solidFill>
                  <a:srgbClr val="232B37"/>
                </a:solidFill>
                <a:latin typeface="Aptos"/>
              </a:rPr>
              <a:t>Uses original English wording. If the source PDF did not contain a formal definition, the slide says so explicitly.</a:t>
            </a:r>
          </a:p>
        </p:txBody>
      </p:sp>
      <p:sp>
        <p:nvSpPr>
          <p:cNvPr id="8" name="Rounded Rectangle 7"/>
          <p:cNvSpPr/>
          <p:nvPr/>
        </p:nvSpPr>
        <p:spPr>
          <a:xfrm>
            <a:off x="685800" y="2450591"/>
            <a:ext cx="10789920" cy="786384"/>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9464"/>
            <a:ext cx="2011680" cy="237744"/>
          </a:xfrm>
          <a:prstGeom prst="rect">
            <a:avLst/>
          </a:prstGeom>
          <a:noFill/>
        </p:spPr>
        <p:txBody>
          <a:bodyPr wrap="square">
            <a:normAutofit/>
          </a:bodyPr>
          <a:lstStyle/>
          <a:p>
            <a:r>
              <a:rPr sz="1300" b="1">
                <a:solidFill>
                  <a:srgbClr val="1F6FEB"/>
                </a:solidFill>
                <a:latin typeface="Aptos"/>
              </a:rPr>
              <a:t>Evidence screenshots</a:t>
            </a:r>
          </a:p>
        </p:txBody>
      </p:sp>
      <p:sp>
        <p:nvSpPr>
          <p:cNvPr id="10" name="TextBox 9"/>
          <p:cNvSpPr txBox="1"/>
          <p:nvPr/>
        </p:nvSpPr>
        <p:spPr>
          <a:xfrm>
            <a:off x="2743200" y="2551176"/>
            <a:ext cx="8046720" cy="329184"/>
          </a:xfrm>
          <a:prstGeom prst="rect">
            <a:avLst/>
          </a:prstGeom>
          <a:noFill/>
        </p:spPr>
        <p:txBody>
          <a:bodyPr wrap="square">
            <a:normAutofit/>
          </a:bodyPr>
          <a:lstStyle/>
          <a:p>
            <a:r>
              <a:rPr sz="1150" b="0">
                <a:solidFill>
                  <a:srgbClr val="232B37"/>
                </a:solidFill>
                <a:latin typeface="Aptos"/>
              </a:rPr>
              <a:t>Both definition and risk sections include cropped screenshots from the PDF, with page number and URL in the footer.</a:t>
            </a:r>
          </a:p>
        </p:txBody>
      </p:sp>
      <p:sp>
        <p:nvSpPr>
          <p:cNvPr id="11" name="Rounded Rectangle 10"/>
          <p:cNvSpPr/>
          <p:nvPr/>
        </p:nvSpPr>
        <p:spPr>
          <a:xfrm>
            <a:off x="685800" y="3575304"/>
            <a:ext cx="10789920" cy="786384"/>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694176"/>
            <a:ext cx="2011680" cy="237744"/>
          </a:xfrm>
          <a:prstGeom prst="rect">
            <a:avLst/>
          </a:prstGeom>
          <a:noFill/>
        </p:spPr>
        <p:txBody>
          <a:bodyPr wrap="square">
            <a:normAutofit/>
          </a:bodyPr>
          <a:lstStyle/>
          <a:p>
            <a:r>
              <a:rPr sz="1300" b="1">
                <a:solidFill>
                  <a:srgbClr val="1F6FEB"/>
                </a:solidFill>
                <a:latin typeface="Aptos"/>
              </a:rPr>
              <a:t>Risk scoring box</a:t>
            </a:r>
          </a:p>
        </p:txBody>
      </p:sp>
      <p:sp>
        <p:nvSpPr>
          <p:cNvPr id="13" name="TextBox 12"/>
          <p:cNvSpPr txBox="1"/>
          <p:nvPr/>
        </p:nvSpPr>
        <p:spPr>
          <a:xfrm>
            <a:off x="2743200" y="3675887"/>
            <a:ext cx="8046720" cy="329184"/>
          </a:xfrm>
          <a:prstGeom prst="rect">
            <a:avLst/>
          </a:prstGeom>
          <a:noFill/>
        </p:spPr>
        <p:txBody>
          <a:bodyPr wrap="square">
            <a:normAutofit/>
          </a:bodyPr>
          <a:lstStyle/>
          <a:p>
            <a:r>
              <a:rPr sz="1150" b="0">
                <a:solidFill>
                  <a:srgbClr val="232B37"/>
                </a:solidFill>
                <a:latin typeface="Aptos"/>
              </a:rPr>
              <a:t>Summarizes the scoring method in English, then relies on the source screenshot for the original method details.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Definition Index</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Verbatim source definitions, rows 1-10.</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15568"/>
            <a:ext cx="502920" cy="164592"/>
          </a:xfrm>
          <a:prstGeom prst="rect">
            <a:avLst/>
          </a:prstGeom>
          <a:noFill/>
        </p:spPr>
        <p:txBody>
          <a:bodyPr wrap="square">
            <a:normAutofit/>
          </a:bodyPr>
          <a:lstStyle/>
          <a:p>
            <a:r>
              <a:rPr sz="750" b="1">
                <a:solidFill>
                  <a:srgbClr val="1F6FEB"/>
                </a:solidFill>
                <a:latin typeface="Aptos"/>
              </a:rPr>
              <a:t>CA</a:t>
            </a:r>
          </a:p>
        </p:txBody>
      </p:sp>
      <p:sp>
        <p:nvSpPr>
          <p:cNvPr id="6" name="TextBox 5"/>
          <p:cNvSpPr txBox="1"/>
          <p:nvPr/>
        </p:nvSpPr>
        <p:spPr>
          <a:xfrm>
            <a:off x="1024128" y="1115568"/>
            <a:ext cx="1508760" cy="164592"/>
          </a:xfrm>
          <a:prstGeom prst="rect">
            <a:avLst/>
          </a:prstGeom>
          <a:noFill/>
        </p:spPr>
        <p:txBody>
          <a:bodyPr wrap="square">
            <a:normAutofit/>
          </a:bodyPr>
          <a:lstStyle/>
          <a:p>
            <a:r>
              <a:rPr sz="730" b="1">
                <a:solidFill>
                  <a:srgbClr val="12202F"/>
                </a:solidFill>
                <a:latin typeface="Aptos"/>
              </a:rPr>
              <a:t>California</a:t>
            </a:r>
          </a:p>
        </p:txBody>
      </p:sp>
      <p:sp>
        <p:nvSpPr>
          <p:cNvPr id="7" name="TextBox 6"/>
          <p:cNvSpPr txBox="1"/>
          <p:nvPr/>
        </p:nvSpPr>
        <p:spPr>
          <a:xfrm>
            <a:off x="2514600" y="1115568"/>
            <a:ext cx="9006840" cy="310896"/>
          </a:xfrm>
          <a:prstGeom prst="rect">
            <a:avLst/>
          </a:prstGeom>
          <a:noFill/>
        </p:spPr>
        <p:txBody>
          <a:bodyPr wrap="square">
            <a:normAutofit/>
          </a:bodyPr>
          <a:lstStyle/>
          <a:p>
            <a:r>
              <a:rPr sz="680" b="0">
                <a:solidFill>
                  <a:srgbClr val="232B37"/>
                </a:solidFill>
                <a:latin typeface="Aptos"/>
              </a:rPr>
              <a:t>No formal resilience definition found in the downloaded PDF.</a:t>
            </a:r>
          </a:p>
        </p:txBody>
      </p:sp>
      <p:sp>
        <p:nvSpPr>
          <p:cNvPr id="8" name="TextBox 7"/>
          <p:cNvSpPr txBox="1"/>
          <p:nvPr/>
        </p:nvSpPr>
        <p:spPr>
          <a:xfrm>
            <a:off x="502920" y="1627632"/>
            <a:ext cx="502920" cy="164592"/>
          </a:xfrm>
          <a:prstGeom prst="rect">
            <a:avLst/>
          </a:prstGeom>
          <a:noFill/>
        </p:spPr>
        <p:txBody>
          <a:bodyPr wrap="square">
            <a:normAutofit/>
          </a:bodyPr>
          <a:lstStyle/>
          <a:p>
            <a:r>
              <a:rPr sz="750" b="1">
                <a:solidFill>
                  <a:srgbClr val="1F6FEB"/>
                </a:solidFill>
                <a:latin typeface="Aptos"/>
              </a:rPr>
              <a:t>CO</a:t>
            </a:r>
          </a:p>
        </p:txBody>
      </p:sp>
      <p:sp>
        <p:nvSpPr>
          <p:cNvPr id="9" name="TextBox 8"/>
          <p:cNvSpPr txBox="1"/>
          <p:nvPr/>
        </p:nvSpPr>
        <p:spPr>
          <a:xfrm>
            <a:off x="1024128" y="1627632"/>
            <a:ext cx="1508760" cy="164592"/>
          </a:xfrm>
          <a:prstGeom prst="rect">
            <a:avLst/>
          </a:prstGeom>
          <a:noFill/>
        </p:spPr>
        <p:txBody>
          <a:bodyPr wrap="square">
            <a:normAutofit/>
          </a:bodyPr>
          <a:lstStyle/>
          <a:p>
            <a:r>
              <a:rPr sz="730" b="1">
                <a:solidFill>
                  <a:srgbClr val="12202F"/>
                </a:solidFill>
                <a:latin typeface="Aptos"/>
              </a:rPr>
              <a:t>Colorado</a:t>
            </a:r>
          </a:p>
        </p:txBody>
      </p:sp>
      <p:sp>
        <p:nvSpPr>
          <p:cNvPr id="10" name="TextBox 9"/>
          <p:cNvSpPr txBox="1"/>
          <p:nvPr/>
        </p:nvSpPr>
        <p:spPr>
          <a:xfrm>
            <a:off x="2514600" y="1627632"/>
            <a:ext cx="9006840" cy="310896"/>
          </a:xfrm>
          <a:prstGeom prst="rect">
            <a:avLst/>
          </a:prstGeom>
          <a:noFill/>
        </p:spPr>
        <p:txBody>
          <a:bodyPr wrap="square">
            <a:normAutofit/>
          </a:bodyPr>
          <a:lstStyle/>
          <a:p>
            <a:r>
              <a:rPr sz="680" b="0">
                <a:solidFill>
                  <a:srgbClr val="232B37"/>
                </a:solidFill>
                <a:latin typeface="Aptos"/>
              </a:rPr>
              <a:t>What is Resilience? Developing CDOT’s Risk and Resilience Program The State of Colorado defines resilience as “the ability of communities to rebound, positively adapt to, or thrive amidst changing conditions or challenges—including human-caused and natural disasters—and to maintain quality of life, healthy growth, durable systems, economic vitality, and conservation of resources for present and future generations.</a:t>
            </a:r>
          </a:p>
        </p:txBody>
      </p:sp>
      <p:sp>
        <p:nvSpPr>
          <p:cNvPr id="11" name="TextBox 10"/>
          <p:cNvSpPr txBox="1"/>
          <p:nvPr/>
        </p:nvSpPr>
        <p:spPr>
          <a:xfrm>
            <a:off x="502920" y="2139696"/>
            <a:ext cx="502920" cy="164592"/>
          </a:xfrm>
          <a:prstGeom prst="rect">
            <a:avLst/>
          </a:prstGeom>
          <a:noFill/>
        </p:spPr>
        <p:txBody>
          <a:bodyPr wrap="square">
            <a:normAutofit/>
          </a:bodyPr>
          <a:lstStyle/>
          <a:p>
            <a:r>
              <a:rPr sz="750" b="1">
                <a:solidFill>
                  <a:srgbClr val="1F6FEB"/>
                </a:solidFill>
                <a:latin typeface="Aptos"/>
              </a:rPr>
              <a:t>CT</a:t>
            </a:r>
          </a:p>
        </p:txBody>
      </p:sp>
      <p:sp>
        <p:nvSpPr>
          <p:cNvPr id="12" name="TextBox 11"/>
          <p:cNvSpPr txBox="1"/>
          <p:nvPr/>
        </p:nvSpPr>
        <p:spPr>
          <a:xfrm>
            <a:off x="1024128" y="2139696"/>
            <a:ext cx="1508760" cy="164592"/>
          </a:xfrm>
          <a:prstGeom prst="rect">
            <a:avLst/>
          </a:prstGeom>
          <a:noFill/>
        </p:spPr>
        <p:txBody>
          <a:bodyPr wrap="square">
            <a:normAutofit/>
          </a:bodyPr>
          <a:lstStyle/>
          <a:p>
            <a:r>
              <a:rPr sz="730" b="1">
                <a:solidFill>
                  <a:srgbClr val="12202F"/>
                </a:solidFill>
                <a:latin typeface="Aptos"/>
              </a:rPr>
              <a:t>Connecticut</a:t>
            </a:r>
          </a:p>
        </p:txBody>
      </p:sp>
      <p:sp>
        <p:nvSpPr>
          <p:cNvPr id="13" name="TextBox 12"/>
          <p:cNvSpPr txBox="1"/>
          <p:nvPr/>
        </p:nvSpPr>
        <p:spPr>
          <a:xfrm>
            <a:off x="2514600" y="2139696"/>
            <a:ext cx="9006840" cy="310896"/>
          </a:xfrm>
          <a:prstGeom prst="rect">
            <a:avLst/>
          </a:prstGeom>
          <a:noFill/>
        </p:spPr>
        <p:txBody>
          <a:bodyPr wrap="square">
            <a:normAutofit/>
          </a:bodyPr>
          <a:lstStyle/>
          <a:p>
            <a:r>
              <a:rPr sz="680" b="0">
                <a:solidFill>
                  <a:srgbClr val="232B37"/>
                </a:solidFill>
                <a:latin typeface="Aptos"/>
              </a:rPr>
              <a:t>The ability to anticipate, prepare for, and adapt to changing conditions and withstand, respond to, and recover rapidly from disruptions.</a:t>
            </a:r>
          </a:p>
        </p:txBody>
      </p:sp>
      <p:sp>
        <p:nvSpPr>
          <p:cNvPr id="14" name="TextBox 13"/>
          <p:cNvSpPr txBox="1"/>
          <p:nvPr/>
        </p:nvSpPr>
        <p:spPr>
          <a:xfrm>
            <a:off x="502920" y="2651760"/>
            <a:ext cx="502920" cy="164592"/>
          </a:xfrm>
          <a:prstGeom prst="rect">
            <a:avLst/>
          </a:prstGeom>
          <a:noFill/>
        </p:spPr>
        <p:txBody>
          <a:bodyPr wrap="square">
            <a:normAutofit/>
          </a:bodyPr>
          <a:lstStyle/>
          <a:p>
            <a:r>
              <a:rPr sz="750" b="1">
                <a:solidFill>
                  <a:srgbClr val="1F6FEB"/>
                </a:solidFill>
                <a:latin typeface="Aptos"/>
              </a:rPr>
              <a:t>DE</a:t>
            </a:r>
          </a:p>
        </p:txBody>
      </p:sp>
      <p:sp>
        <p:nvSpPr>
          <p:cNvPr id="15" name="TextBox 14"/>
          <p:cNvSpPr txBox="1"/>
          <p:nvPr/>
        </p:nvSpPr>
        <p:spPr>
          <a:xfrm>
            <a:off x="1024128" y="2651760"/>
            <a:ext cx="1508760" cy="164592"/>
          </a:xfrm>
          <a:prstGeom prst="rect">
            <a:avLst/>
          </a:prstGeom>
          <a:noFill/>
        </p:spPr>
        <p:txBody>
          <a:bodyPr wrap="square">
            <a:normAutofit/>
          </a:bodyPr>
          <a:lstStyle/>
          <a:p>
            <a:r>
              <a:rPr sz="730" b="1">
                <a:solidFill>
                  <a:srgbClr val="12202F"/>
                </a:solidFill>
                <a:latin typeface="Aptos"/>
              </a:rPr>
              <a:t>Delaware</a:t>
            </a:r>
          </a:p>
        </p:txBody>
      </p:sp>
      <p:sp>
        <p:nvSpPr>
          <p:cNvPr id="16" name="TextBox 15"/>
          <p:cNvSpPr txBox="1"/>
          <p:nvPr/>
        </p:nvSpPr>
        <p:spPr>
          <a:xfrm>
            <a:off x="2514600" y="2651760"/>
            <a:ext cx="9006840" cy="310896"/>
          </a:xfrm>
          <a:prstGeom prst="rect">
            <a:avLst/>
          </a:prstGeom>
          <a:noFill/>
        </p:spPr>
        <p:txBody>
          <a:bodyPr wrap="square">
            <a:normAutofit/>
          </a:bodyPr>
          <a:lstStyle/>
          <a:p>
            <a:r>
              <a:rPr sz="680" b="0">
                <a:solidFill>
                  <a:srgbClr val="232B37"/>
                </a:solidFill>
                <a:latin typeface="Aptos"/>
              </a:rPr>
              <a:t>resiliency is the ability to anticipate, prepare for, and adapt to changing conditions and withstand, respond to, and recover rapidly from disruptions.</a:t>
            </a:r>
          </a:p>
        </p:txBody>
      </p:sp>
      <p:sp>
        <p:nvSpPr>
          <p:cNvPr id="17" name="TextBox 16"/>
          <p:cNvSpPr txBox="1"/>
          <p:nvPr/>
        </p:nvSpPr>
        <p:spPr>
          <a:xfrm>
            <a:off x="502920" y="3163824"/>
            <a:ext cx="502920" cy="164592"/>
          </a:xfrm>
          <a:prstGeom prst="rect">
            <a:avLst/>
          </a:prstGeom>
          <a:noFill/>
        </p:spPr>
        <p:txBody>
          <a:bodyPr wrap="square">
            <a:normAutofit/>
          </a:bodyPr>
          <a:lstStyle/>
          <a:p>
            <a:r>
              <a:rPr sz="750" b="1">
                <a:solidFill>
                  <a:srgbClr val="1F6FEB"/>
                </a:solidFill>
                <a:latin typeface="Aptos"/>
              </a:rPr>
              <a:t>FL</a:t>
            </a:r>
          </a:p>
        </p:txBody>
      </p:sp>
      <p:sp>
        <p:nvSpPr>
          <p:cNvPr id="18" name="TextBox 17"/>
          <p:cNvSpPr txBox="1"/>
          <p:nvPr/>
        </p:nvSpPr>
        <p:spPr>
          <a:xfrm>
            <a:off x="1024128" y="3163824"/>
            <a:ext cx="1508760" cy="164592"/>
          </a:xfrm>
          <a:prstGeom prst="rect">
            <a:avLst/>
          </a:prstGeom>
          <a:noFill/>
        </p:spPr>
        <p:txBody>
          <a:bodyPr wrap="square">
            <a:normAutofit/>
          </a:bodyPr>
          <a:lstStyle/>
          <a:p>
            <a:r>
              <a:rPr sz="730" b="1">
                <a:solidFill>
                  <a:srgbClr val="12202F"/>
                </a:solidFill>
                <a:latin typeface="Aptos"/>
              </a:rPr>
              <a:t>Florida</a:t>
            </a:r>
          </a:p>
        </p:txBody>
      </p:sp>
      <p:sp>
        <p:nvSpPr>
          <p:cNvPr id="19" name="TextBox 18"/>
          <p:cNvSpPr txBox="1"/>
          <p:nvPr/>
        </p:nvSpPr>
        <p:spPr>
          <a:xfrm>
            <a:off x="2514600" y="3163824"/>
            <a:ext cx="9006840" cy="310896"/>
          </a:xfrm>
          <a:prstGeom prst="rect">
            <a:avLst/>
          </a:prstGeom>
          <a:noFill/>
        </p:spPr>
        <p:txBody>
          <a:bodyPr wrap="square">
            <a:normAutofit/>
          </a:bodyPr>
          <a:lstStyle/>
          <a:p>
            <a:r>
              <a:rPr sz="680" b="0">
                <a:solidFill>
                  <a:srgbClr val="232B37"/>
                </a:solidFill>
                <a:latin typeface="Aptos"/>
              </a:rPr>
              <a:t>No formal resilience definition found in the downloaded PDF.</a:t>
            </a:r>
          </a:p>
        </p:txBody>
      </p:sp>
      <p:sp>
        <p:nvSpPr>
          <p:cNvPr id="20" name="TextBox 19"/>
          <p:cNvSpPr txBox="1"/>
          <p:nvPr/>
        </p:nvSpPr>
        <p:spPr>
          <a:xfrm>
            <a:off x="502920" y="3675887"/>
            <a:ext cx="502920" cy="164592"/>
          </a:xfrm>
          <a:prstGeom prst="rect">
            <a:avLst/>
          </a:prstGeom>
          <a:noFill/>
        </p:spPr>
        <p:txBody>
          <a:bodyPr wrap="square">
            <a:normAutofit/>
          </a:bodyPr>
          <a:lstStyle/>
          <a:p>
            <a:r>
              <a:rPr sz="750" b="1">
                <a:solidFill>
                  <a:srgbClr val="1F6FEB"/>
                </a:solidFill>
                <a:latin typeface="Aptos"/>
              </a:rPr>
              <a:t>IA</a:t>
            </a:r>
          </a:p>
        </p:txBody>
      </p:sp>
      <p:sp>
        <p:nvSpPr>
          <p:cNvPr id="21" name="TextBox 20"/>
          <p:cNvSpPr txBox="1"/>
          <p:nvPr/>
        </p:nvSpPr>
        <p:spPr>
          <a:xfrm>
            <a:off x="1024128" y="3675887"/>
            <a:ext cx="1508760" cy="164592"/>
          </a:xfrm>
          <a:prstGeom prst="rect">
            <a:avLst/>
          </a:prstGeom>
          <a:noFill/>
        </p:spPr>
        <p:txBody>
          <a:bodyPr wrap="square">
            <a:normAutofit/>
          </a:bodyPr>
          <a:lstStyle/>
          <a:p>
            <a:r>
              <a:rPr sz="730" b="1">
                <a:solidFill>
                  <a:srgbClr val="12202F"/>
                </a:solidFill>
                <a:latin typeface="Aptos"/>
              </a:rPr>
              <a:t>Iowa</a:t>
            </a:r>
          </a:p>
        </p:txBody>
      </p:sp>
      <p:sp>
        <p:nvSpPr>
          <p:cNvPr id="22" name="TextBox 21"/>
          <p:cNvSpPr txBox="1"/>
          <p:nvPr/>
        </p:nvSpPr>
        <p:spPr>
          <a:xfrm>
            <a:off x="2514600" y="3675887"/>
            <a:ext cx="9006840" cy="310896"/>
          </a:xfrm>
          <a:prstGeom prst="rect">
            <a:avLst/>
          </a:prstGeom>
          <a:noFill/>
        </p:spPr>
        <p:txBody>
          <a:bodyPr wrap="square">
            <a:normAutofit/>
          </a:bodyPr>
          <a:lstStyle/>
          <a:p>
            <a:r>
              <a:rPr sz="680" b="0">
                <a:solidFill>
                  <a:srgbClr val="232B37"/>
                </a:solidFill>
                <a:latin typeface="Aptos"/>
              </a:rPr>
              <a:t>INTRODUCTION Defining Resiliency The Iowa DOT defines resiliency as the ability to anticipate, prepare for, and adapt to changing conditions and withstand, respond to, and quickly recover from disruptions.</a:t>
            </a:r>
          </a:p>
        </p:txBody>
      </p:sp>
      <p:sp>
        <p:nvSpPr>
          <p:cNvPr id="23" name="TextBox 22"/>
          <p:cNvSpPr txBox="1"/>
          <p:nvPr/>
        </p:nvSpPr>
        <p:spPr>
          <a:xfrm>
            <a:off x="502920" y="4187952"/>
            <a:ext cx="502920" cy="164592"/>
          </a:xfrm>
          <a:prstGeom prst="rect">
            <a:avLst/>
          </a:prstGeom>
          <a:noFill/>
        </p:spPr>
        <p:txBody>
          <a:bodyPr wrap="square">
            <a:normAutofit/>
          </a:bodyPr>
          <a:lstStyle/>
          <a:p>
            <a:r>
              <a:rPr sz="750" b="1">
                <a:solidFill>
                  <a:srgbClr val="1F6FEB"/>
                </a:solidFill>
                <a:latin typeface="Aptos"/>
              </a:rPr>
              <a:t>KY</a:t>
            </a:r>
          </a:p>
        </p:txBody>
      </p:sp>
      <p:sp>
        <p:nvSpPr>
          <p:cNvPr id="24" name="TextBox 23"/>
          <p:cNvSpPr txBox="1"/>
          <p:nvPr/>
        </p:nvSpPr>
        <p:spPr>
          <a:xfrm>
            <a:off x="1024128" y="4187952"/>
            <a:ext cx="1508760" cy="164592"/>
          </a:xfrm>
          <a:prstGeom prst="rect">
            <a:avLst/>
          </a:prstGeom>
          <a:noFill/>
        </p:spPr>
        <p:txBody>
          <a:bodyPr wrap="square">
            <a:normAutofit/>
          </a:bodyPr>
          <a:lstStyle/>
          <a:p>
            <a:r>
              <a:rPr sz="730" b="1">
                <a:solidFill>
                  <a:srgbClr val="12202F"/>
                </a:solidFill>
                <a:latin typeface="Aptos"/>
              </a:rPr>
              <a:t>Kentucky</a:t>
            </a:r>
          </a:p>
        </p:txBody>
      </p:sp>
      <p:sp>
        <p:nvSpPr>
          <p:cNvPr id="25" name="TextBox 24"/>
          <p:cNvSpPr txBox="1"/>
          <p:nvPr/>
        </p:nvSpPr>
        <p:spPr>
          <a:xfrm>
            <a:off x="2514600" y="4187952"/>
            <a:ext cx="9006840" cy="310896"/>
          </a:xfrm>
          <a:prstGeom prst="rect">
            <a:avLst/>
          </a:prstGeom>
          <a:noFill/>
        </p:spPr>
        <p:txBody>
          <a:bodyPr wrap="square">
            <a:normAutofit/>
          </a:bodyPr>
          <a:lstStyle/>
          <a:p>
            <a:r>
              <a:rPr sz="680" b="0">
                <a:solidFill>
                  <a:srgbClr val="232B37"/>
                </a:solidFill>
                <a:latin typeface="Aptos"/>
              </a:rPr>
              <a:t>resilience, defined by the Federal Highway Administration (FHWA) as the ability to anticipate, prepare for, and adapt to changing conditions and withstand, respond to, and recover rapidly from disruptions, is an important component of KYTC’s mission.</a:t>
            </a:r>
          </a:p>
        </p:txBody>
      </p:sp>
      <p:sp>
        <p:nvSpPr>
          <p:cNvPr id="26" name="TextBox 25"/>
          <p:cNvSpPr txBox="1"/>
          <p:nvPr/>
        </p:nvSpPr>
        <p:spPr>
          <a:xfrm>
            <a:off x="502920" y="4700016"/>
            <a:ext cx="502920" cy="164592"/>
          </a:xfrm>
          <a:prstGeom prst="rect">
            <a:avLst/>
          </a:prstGeom>
          <a:noFill/>
        </p:spPr>
        <p:txBody>
          <a:bodyPr wrap="square">
            <a:normAutofit/>
          </a:bodyPr>
          <a:lstStyle/>
          <a:p>
            <a:r>
              <a:rPr sz="750" b="1">
                <a:solidFill>
                  <a:srgbClr val="1F6FEB"/>
                </a:solidFill>
                <a:latin typeface="Aptos"/>
              </a:rPr>
              <a:t>MD</a:t>
            </a:r>
          </a:p>
        </p:txBody>
      </p:sp>
      <p:sp>
        <p:nvSpPr>
          <p:cNvPr id="27" name="TextBox 26"/>
          <p:cNvSpPr txBox="1"/>
          <p:nvPr/>
        </p:nvSpPr>
        <p:spPr>
          <a:xfrm>
            <a:off x="1024128" y="4700016"/>
            <a:ext cx="1508760" cy="164592"/>
          </a:xfrm>
          <a:prstGeom prst="rect">
            <a:avLst/>
          </a:prstGeom>
          <a:noFill/>
        </p:spPr>
        <p:txBody>
          <a:bodyPr wrap="square">
            <a:normAutofit/>
          </a:bodyPr>
          <a:lstStyle/>
          <a:p>
            <a:r>
              <a:rPr sz="730" b="1">
                <a:solidFill>
                  <a:srgbClr val="12202F"/>
                </a:solidFill>
                <a:latin typeface="Aptos"/>
              </a:rPr>
              <a:t>Maryland</a:t>
            </a:r>
          </a:p>
        </p:txBody>
      </p:sp>
      <p:sp>
        <p:nvSpPr>
          <p:cNvPr id="28" name="TextBox 27"/>
          <p:cNvSpPr txBox="1"/>
          <p:nvPr/>
        </p:nvSpPr>
        <p:spPr>
          <a:xfrm>
            <a:off x="2514600" y="4700016"/>
            <a:ext cx="9006840" cy="310896"/>
          </a:xfrm>
          <a:prstGeom prst="rect">
            <a:avLst/>
          </a:prstGeom>
          <a:noFill/>
        </p:spPr>
        <p:txBody>
          <a:bodyPr wrap="square">
            <a:normAutofit/>
          </a:bodyPr>
          <a:lstStyle/>
          <a:p>
            <a:r>
              <a:rPr sz="680" b="0">
                <a:solidFill>
                  <a:srgbClr val="232B37"/>
                </a:solidFill>
                <a:latin typeface="Aptos"/>
              </a:rPr>
              <a:t>resilience-focused activities across four main areas of focus: • Planning: Resilience planning activities to assess surface transportation infrastructure vulnerabilities from the impacts of natural hazards.</a:t>
            </a:r>
          </a:p>
        </p:txBody>
      </p:sp>
      <p:sp>
        <p:nvSpPr>
          <p:cNvPr id="29" name="TextBox 28"/>
          <p:cNvSpPr txBox="1"/>
          <p:nvPr/>
        </p:nvSpPr>
        <p:spPr>
          <a:xfrm>
            <a:off x="502920" y="5212080"/>
            <a:ext cx="502920" cy="164592"/>
          </a:xfrm>
          <a:prstGeom prst="rect">
            <a:avLst/>
          </a:prstGeom>
          <a:noFill/>
        </p:spPr>
        <p:txBody>
          <a:bodyPr wrap="square">
            <a:normAutofit/>
          </a:bodyPr>
          <a:lstStyle/>
          <a:p>
            <a:r>
              <a:rPr sz="750" b="1">
                <a:solidFill>
                  <a:srgbClr val="1F6FEB"/>
                </a:solidFill>
                <a:latin typeface="Aptos"/>
              </a:rPr>
              <a:t>MI</a:t>
            </a:r>
          </a:p>
        </p:txBody>
      </p:sp>
      <p:sp>
        <p:nvSpPr>
          <p:cNvPr id="30" name="TextBox 29"/>
          <p:cNvSpPr txBox="1"/>
          <p:nvPr/>
        </p:nvSpPr>
        <p:spPr>
          <a:xfrm>
            <a:off x="1024128" y="5212080"/>
            <a:ext cx="1508760" cy="164592"/>
          </a:xfrm>
          <a:prstGeom prst="rect">
            <a:avLst/>
          </a:prstGeom>
          <a:noFill/>
        </p:spPr>
        <p:txBody>
          <a:bodyPr wrap="square">
            <a:normAutofit/>
          </a:bodyPr>
          <a:lstStyle/>
          <a:p>
            <a:r>
              <a:rPr sz="730" b="1">
                <a:solidFill>
                  <a:srgbClr val="12202F"/>
                </a:solidFill>
                <a:latin typeface="Aptos"/>
              </a:rPr>
              <a:t>Michigan</a:t>
            </a:r>
          </a:p>
        </p:txBody>
      </p:sp>
      <p:sp>
        <p:nvSpPr>
          <p:cNvPr id="31" name="TextBox 30"/>
          <p:cNvSpPr txBox="1"/>
          <p:nvPr/>
        </p:nvSpPr>
        <p:spPr>
          <a:xfrm>
            <a:off x="2514600" y="5212080"/>
            <a:ext cx="9006840" cy="310896"/>
          </a:xfrm>
          <a:prstGeom prst="rect">
            <a:avLst/>
          </a:prstGeom>
          <a:noFill/>
        </p:spPr>
        <p:txBody>
          <a:bodyPr wrap="square">
            <a:normAutofit/>
          </a:bodyPr>
          <a:lstStyle/>
          <a:p>
            <a:r>
              <a:rPr sz="680" b="0">
                <a:solidFill>
                  <a:srgbClr val="232B37"/>
                </a:solidFill>
                <a:latin typeface="Aptos"/>
              </a:rPr>
              <a:t>resilience is critical to the ongoing resilience of statewide and community assets, such as housing, emergency management assets, energy, water, and communication infrastructure.</a:t>
            </a:r>
          </a:p>
        </p:txBody>
      </p:sp>
      <p:sp>
        <p:nvSpPr>
          <p:cNvPr id="32" name="TextBox 31"/>
          <p:cNvSpPr txBox="1"/>
          <p:nvPr/>
        </p:nvSpPr>
        <p:spPr>
          <a:xfrm>
            <a:off x="502920" y="5724144"/>
            <a:ext cx="502920" cy="164592"/>
          </a:xfrm>
          <a:prstGeom prst="rect">
            <a:avLst/>
          </a:prstGeom>
          <a:noFill/>
        </p:spPr>
        <p:txBody>
          <a:bodyPr wrap="square">
            <a:normAutofit/>
          </a:bodyPr>
          <a:lstStyle/>
          <a:p>
            <a:r>
              <a:rPr sz="750" b="1">
                <a:solidFill>
                  <a:srgbClr val="1F6FEB"/>
                </a:solidFill>
                <a:latin typeface="Aptos"/>
              </a:rPr>
              <a:t>MN</a:t>
            </a:r>
          </a:p>
        </p:txBody>
      </p:sp>
      <p:sp>
        <p:nvSpPr>
          <p:cNvPr id="33" name="TextBox 32"/>
          <p:cNvSpPr txBox="1"/>
          <p:nvPr/>
        </p:nvSpPr>
        <p:spPr>
          <a:xfrm>
            <a:off x="1024128" y="5724144"/>
            <a:ext cx="1508760" cy="164592"/>
          </a:xfrm>
          <a:prstGeom prst="rect">
            <a:avLst/>
          </a:prstGeom>
          <a:noFill/>
        </p:spPr>
        <p:txBody>
          <a:bodyPr wrap="square">
            <a:normAutofit/>
          </a:bodyPr>
          <a:lstStyle/>
          <a:p>
            <a:r>
              <a:rPr sz="730" b="1">
                <a:solidFill>
                  <a:srgbClr val="12202F"/>
                </a:solidFill>
                <a:latin typeface="Aptos"/>
              </a:rPr>
              <a:t>Minnesota</a:t>
            </a:r>
          </a:p>
        </p:txBody>
      </p:sp>
      <p:sp>
        <p:nvSpPr>
          <p:cNvPr id="34" name="TextBox 33"/>
          <p:cNvSpPr txBox="1"/>
          <p:nvPr/>
        </p:nvSpPr>
        <p:spPr>
          <a:xfrm>
            <a:off x="2514600" y="5724144"/>
            <a:ext cx="9006840" cy="310896"/>
          </a:xfrm>
          <a:prstGeom prst="rect">
            <a:avLst/>
          </a:prstGeom>
          <a:noFill/>
        </p:spPr>
        <p:txBody>
          <a:bodyPr wrap="square">
            <a:normAutofit/>
          </a:bodyPr>
          <a:lstStyle/>
          <a:p>
            <a:r>
              <a:rPr sz="680" b="0">
                <a:solidFill>
                  <a:srgbClr val="232B37"/>
                </a:solidFill>
                <a:latin typeface="Aptos"/>
              </a:rPr>
              <a:t>RESILIENCE? There are immediate opportunities for MnDOT and partners to invest in climate resilience projects.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Definition Index</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Verbatim source definitions, rows 11-20.</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15568"/>
            <a:ext cx="502920" cy="164592"/>
          </a:xfrm>
          <a:prstGeom prst="rect">
            <a:avLst/>
          </a:prstGeom>
          <a:noFill/>
        </p:spPr>
        <p:txBody>
          <a:bodyPr wrap="square">
            <a:normAutofit/>
          </a:bodyPr>
          <a:lstStyle/>
          <a:p>
            <a:r>
              <a:rPr sz="750" b="1">
                <a:solidFill>
                  <a:srgbClr val="1F6FEB"/>
                </a:solidFill>
                <a:latin typeface="Aptos"/>
              </a:rPr>
              <a:t>MS</a:t>
            </a:r>
          </a:p>
        </p:txBody>
      </p:sp>
      <p:sp>
        <p:nvSpPr>
          <p:cNvPr id="6" name="TextBox 5"/>
          <p:cNvSpPr txBox="1"/>
          <p:nvPr/>
        </p:nvSpPr>
        <p:spPr>
          <a:xfrm>
            <a:off x="1024128" y="1115568"/>
            <a:ext cx="1508760" cy="164592"/>
          </a:xfrm>
          <a:prstGeom prst="rect">
            <a:avLst/>
          </a:prstGeom>
          <a:noFill/>
        </p:spPr>
        <p:txBody>
          <a:bodyPr wrap="square">
            <a:normAutofit/>
          </a:bodyPr>
          <a:lstStyle/>
          <a:p>
            <a:r>
              <a:rPr sz="730" b="1">
                <a:solidFill>
                  <a:srgbClr val="12202F"/>
                </a:solidFill>
                <a:latin typeface="Aptos"/>
              </a:rPr>
              <a:t>Mississippi</a:t>
            </a:r>
          </a:p>
        </p:txBody>
      </p:sp>
      <p:sp>
        <p:nvSpPr>
          <p:cNvPr id="7" name="TextBox 6"/>
          <p:cNvSpPr txBox="1"/>
          <p:nvPr/>
        </p:nvSpPr>
        <p:spPr>
          <a:xfrm>
            <a:off x="2514600" y="1115568"/>
            <a:ext cx="9006840" cy="310896"/>
          </a:xfrm>
          <a:prstGeom prst="rect">
            <a:avLst/>
          </a:prstGeom>
          <a:noFill/>
        </p:spPr>
        <p:txBody>
          <a:bodyPr wrap="square">
            <a:normAutofit/>
          </a:bodyPr>
          <a:lstStyle/>
          <a:p>
            <a:r>
              <a:rPr sz="680" b="0">
                <a:solidFill>
                  <a:srgbClr val="232B37"/>
                </a:solidFill>
                <a:latin typeface="Aptos"/>
              </a:rPr>
              <a:t>resilience-enhancing projects, thereby reducing the financial burden on state government.</a:t>
            </a:r>
          </a:p>
        </p:txBody>
      </p:sp>
      <p:sp>
        <p:nvSpPr>
          <p:cNvPr id="8" name="TextBox 7"/>
          <p:cNvSpPr txBox="1"/>
          <p:nvPr/>
        </p:nvSpPr>
        <p:spPr>
          <a:xfrm>
            <a:off x="502920" y="1627632"/>
            <a:ext cx="502920" cy="164592"/>
          </a:xfrm>
          <a:prstGeom prst="rect">
            <a:avLst/>
          </a:prstGeom>
          <a:noFill/>
        </p:spPr>
        <p:txBody>
          <a:bodyPr wrap="square">
            <a:normAutofit/>
          </a:bodyPr>
          <a:lstStyle/>
          <a:p>
            <a:r>
              <a:rPr sz="750" b="1">
                <a:solidFill>
                  <a:srgbClr val="1F6FEB"/>
                </a:solidFill>
                <a:latin typeface="Aptos"/>
              </a:rPr>
              <a:t>NC</a:t>
            </a:r>
          </a:p>
        </p:txBody>
      </p:sp>
      <p:sp>
        <p:nvSpPr>
          <p:cNvPr id="9" name="TextBox 8"/>
          <p:cNvSpPr txBox="1"/>
          <p:nvPr/>
        </p:nvSpPr>
        <p:spPr>
          <a:xfrm>
            <a:off x="1024128" y="1627632"/>
            <a:ext cx="1508760" cy="164592"/>
          </a:xfrm>
          <a:prstGeom prst="rect">
            <a:avLst/>
          </a:prstGeom>
          <a:noFill/>
        </p:spPr>
        <p:txBody>
          <a:bodyPr wrap="square">
            <a:normAutofit/>
          </a:bodyPr>
          <a:lstStyle/>
          <a:p>
            <a:r>
              <a:rPr sz="730" b="1">
                <a:solidFill>
                  <a:srgbClr val="12202F"/>
                </a:solidFill>
                <a:latin typeface="Aptos"/>
              </a:rPr>
              <a:t>North Carolina</a:t>
            </a:r>
          </a:p>
        </p:txBody>
      </p:sp>
      <p:sp>
        <p:nvSpPr>
          <p:cNvPr id="10" name="TextBox 9"/>
          <p:cNvSpPr txBox="1"/>
          <p:nvPr/>
        </p:nvSpPr>
        <p:spPr>
          <a:xfrm>
            <a:off x="2514600" y="1627632"/>
            <a:ext cx="9006840" cy="310896"/>
          </a:xfrm>
          <a:prstGeom prst="rect">
            <a:avLst/>
          </a:prstGeom>
          <a:noFill/>
        </p:spPr>
        <p:txBody>
          <a:bodyPr wrap="square">
            <a:normAutofit/>
          </a:bodyPr>
          <a:lstStyle/>
          <a:p>
            <a:r>
              <a:rPr sz="680" b="0">
                <a:solidFill>
                  <a:srgbClr val="232B37"/>
                </a:solidFill>
                <a:latin typeface="Aptos"/>
              </a:rPr>
              <a:t>resiliency is “the ability to anticipate, prepare for, and adapt to changing conditions and withstand, respond to, and recover rapidly from disruptions”.</a:t>
            </a:r>
          </a:p>
        </p:txBody>
      </p:sp>
      <p:sp>
        <p:nvSpPr>
          <p:cNvPr id="11" name="TextBox 10"/>
          <p:cNvSpPr txBox="1"/>
          <p:nvPr/>
        </p:nvSpPr>
        <p:spPr>
          <a:xfrm>
            <a:off x="502920" y="2139696"/>
            <a:ext cx="502920" cy="164592"/>
          </a:xfrm>
          <a:prstGeom prst="rect">
            <a:avLst/>
          </a:prstGeom>
          <a:noFill/>
        </p:spPr>
        <p:txBody>
          <a:bodyPr wrap="square">
            <a:normAutofit/>
          </a:bodyPr>
          <a:lstStyle/>
          <a:p>
            <a:r>
              <a:rPr sz="750" b="1">
                <a:solidFill>
                  <a:srgbClr val="1F6FEB"/>
                </a:solidFill>
                <a:latin typeface="Aptos"/>
              </a:rPr>
              <a:t>NM</a:t>
            </a:r>
          </a:p>
        </p:txBody>
      </p:sp>
      <p:sp>
        <p:nvSpPr>
          <p:cNvPr id="12" name="TextBox 11"/>
          <p:cNvSpPr txBox="1"/>
          <p:nvPr/>
        </p:nvSpPr>
        <p:spPr>
          <a:xfrm>
            <a:off x="1024128" y="2139696"/>
            <a:ext cx="1508760" cy="164592"/>
          </a:xfrm>
          <a:prstGeom prst="rect">
            <a:avLst/>
          </a:prstGeom>
          <a:noFill/>
        </p:spPr>
        <p:txBody>
          <a:bodyPr wrap="square">
            <a:normAutofit/>
          </a:bodyPr>
          <a:lstStyle/>
          <a:p>
            <a:r>
              <a:rPr sz="730" b="1">
                <a:solidFill>
                  <a:srgbClr val="12202F"/>
                </a:solidFill>
                <a:latin typeface="Aptos"/>
              </a:rPr>
              <a:t>New Mexico</a:t>
            </a:r>
          </a:p>
        </p:txBody>
      </p:sp>
      <p:sp>
        <p:nvSpPr>
          <p:cNvPr id="13" name="TextBox 12"/>
          <p:cNvSpPr txBox="1"/>
          <p:nvPr/>
        </p:nvSpPr>
        <p:spPr>
          <a:xfrm>
            <a:off x="2514600" y="2139696"/>
            <a:ext cx="9006840" cy="310896"/>
          </a:xfrm>
          <a:prstGeom prst="rect">
            <a:avLst/>
          </a:prstGeom>
          <a:noFill/>
        </p:spPr>
        <p:txBody>
          <a:bodyPr wrap="square">
            <a:normAutofit/>
          </a:bodyPr>
          <a:lstStyle/>
          <a:p>
            <a:r>
              <a:rPr sz="680" b="0">
                <a:solidFill>
                  <a:srgbClr val="232B37"/>
                </a:solidFill>
                <a:latin typeface="Aptos"/>
              </a:rPr>
              <a:t>resilience is the ability to avoid, anticipate, absorb, adapt to, and/or rapidly recover from current and future hazards.</a:t>
            </a:r>
          </a:p>
        </p:txBody>
      </p:sp>
      <p:sp>
        <p:nvSpPr>
          <p:cNvPr id="14" name="TextBox 13"/>
          <p:cNvSpPr txBox="1"/>
          <p:nvPr/>
        </p:nvSpPr>
        <p:spPr>
          <a:xfrm>
            <a:off x="502920" y="2651760"/>
            <a:ext cx="502920" cy="164592"/>
          </a:xfrm>
          <a:prstGeom prst="rect">
            <a:avLst/>
          </a:prstGeom>
          <a:noFill/>
        </p:spPr>
        <p:txBody>
          <a:bodyPr wrap="square">
            <a:normAutofit/>
          </a:bodyPr>
          <a:lstStyle/>
          <a:p>
            <a:r>
              <a:rPr sz="750" b="1">
                <a:solidFill>
                  <a:srgbClr val="1F6FEB"/>
                </a:solidFill>
                <a:latin typeface="Aptos"/>
              </a:rPr>
              <a:t>OH</a:t>
            </a:r>
          </a:p>
        </p:txBody>
      </p:sp>
      <p:sp>
        <p:nvSpPr>
          <p:cNvPr id="15" name="TextBox 14"/>
          <p:cNvSpPr txBox="1"/>
          <p:nvPr/>
        </p:nvSpPr>
        <p:spPr>
          <a:xfrm>
            <a:off x="1024128" y="2651760"/>
            <a:ext cx="1508760" cy="164592"/>
          </a:xfrm>
          <a:prstGeom prst="rect">
            <a:avLst/>
          </a:prstGeom>
          <a:noFill/>
        </p:spPr>
        <p:txBody>
          <a:bodyPr wrap="square">
            <a:normAutofit/>
          </a:bodyPr>
          <a:lstStyle/>
          <a:p>
            <a:r>
              <a:rPr sz="730" b="1">
                <a:solidFill>
                  <a:srgbClr val="12202F"/>
                </a:solidFill>
                <a:latin typeface="Aptos"/>
              </a:rPr>
              <a:t>Ohio</a:t>
            </a:r>
          </a:p>
        </p:txBody>
      </p:sp>
      <p:sp>
        <p:nvSpPr>
          <p:cNvPr id="16" name="TextBox 15"/>
          <p:cNvSpPr txBox="1"/>
          <p:nvPr/>
        </p:nvSpPr>
        <p:spPr>
          <a:xfrm>
            <a:off x="2514600" y="2651760"/>
            <a:ext cx="9006840" cy="310896"/>
          </a:xfrm>
          <a:prstGeom prst="rect">
            <a:avLst/>
          </a:prstGeom>
          <a:noFill/>
        </p:spPr>
        <p:txBody>
          <a:bodyPr wrap="square">
            <a:normAutofit/>
          </a:bodyPr>
          <a:lstStyle/>
          <a:p>
            <a:r>
              <a:rPr sz="680" b="0">
                <a:solidFill>
                  <a:srgbClr val="232B37"/>
                </a:solidFill>
                <a:latin typeface="Aptos"/>
              </a:rPr>
              <a:t>Resilience is central to ODOT’s mission of providing a transportation system that is safe, accessible, well maintained, and positioned for the future.</a:t>
            </a:r>
          </a:p>
        </p:txBody>
      </p:sp>
      <p:sp>
        <p:nvSpPr>
          <p:cNvPr id="17" name="TextBox 16"/>
          <p:cNvSpPr txBox="1"/>
          <p:nvPr/>
        </p:nvSpPr>
        <p:spPr>
          <a:xfrm>
            <a:off x="502920" y="3163824"/>
            <a:ext cx="502920" cy="164592"/>
          </a:xfrm>
          <a:prstGeom prst="rect">
            <a:avLst/>
          </a:prstGeom>
          <a:noFill/>
        </p:spPr>
        <p:txBody>
          <a:bodyPr wrap="square">
            <a:normAutofit/>
          </a:bodyPr>
          <a:lstStyle/>
          <a:p>
            <a:r>
              <a:rPr sz="750" b="1">
                <a:solidFill>
                  <a:srgbClr val="1F6FEB"/>
                </a:solidFill>
                <a:latin typeface="Aptos"/>
              </a:rPr>
              <a:t>OR</a:t>
            </a:r>
          </a:p>
        </p:txBody>
      </p:sp>
      <p:sp>
        <p:nvSpPr>
          <p:cNvPr id="18" name="TextBox 17"/>
          <p:cNvSpPr txBox="1"/>
          <p:nvPr/>
        </p:nvSpPr>
        <p:spPr>
          <a:xfrm>
            <a:off x="1024128" y="3163824"/>
            <a:ext cx="1508760" cy="164592"/>
          </a:xfrm>
          <a:prstGeom prst="rect">
            <a:avLst/>
          </a:prstGeom>
          <a:noFill/>
        </p:spPr>
        <p:txBody>
          <a:bodyPr wrap="square">
            <a:normAutofit/>
          </a:bodyPr>
          <a:lstStyle/>
          <a:p>
            <a:r>
              <a:rPr sz="730" b="1">
                <a:solidFill>
                  <a:srgbClr val="12202F"/>
                </a:solidFill>
                <a:latin typeface="Aptos"/>
              </a:rPr>
              <a:t>Oregon</a:t>
            </a:r>
          </a:p>
        </p:txBody>
      </p:sp>
      <p:sp>
        <p:nvSpPr>
          <p:cNvPr id="19" name="TextBox 18"/>
          <p:cNvSpPr txBox="1"/>
          <p:nvPr/>
        </p:nvSpPr>
        <p:spPr>
          <a:xfrm>
            <a:off x="2514600" y="3163824"/>
            <a:ext cx="9006840" cy="310896"/>
          </a:xfrm>
          <a:prstGeom prst="rect">
            <a:avLst/>
          </a:prstGeom>
          <a:noFill/>
        </p:spPr>
        <p:txBody>
          <a:bodyPr wrap="square">
            <a:normAutofit/>
          </a:bodyPr>
          <a:lstStyle/>
          <a:p>
            <a:r>
              <a:rPr sz="680" b="0">
                <a:solidFill>
                  <a:srgbClr val="232B37"/>
                </a:solidFill>
                <a:latin typeface="Aptos"/>
              </a:rPr>
              <a:t>Resilience is the ability to anticipate, prepare for or adapt to conditions; or withstand, respond to or recover rapidly from system disruptions.</a:t>
            </a:r>
          </a:p>
        </p:txBody>
      </p:sp>
      <p:sp>
        <p:nvSpPr>
          <p:cNvPr id="20" name="TextBox 19"/>
          <p:cNvSpPr txBox="1"/>
          <p:nvPr/>
        </p:nvSpPr>
        <p:spPr>
          <a:xfrm>
            <a:off x="502920" y="3675887"/>
            <a:ext cx="502920" cy="164592"/>
          </a:xfrm>
          <a:prstGeom prst="rect">
            <a:avLst/>
          </a:prstGeom>
          <a:noFill/>
        </p:spPr>
        <p:txBody>
          <a:bodyPr wrap="square">
            <a:normAutofit/>
          </a:bodyPr>
          <a:lstStyle/>
          <a:p>
            <a:r>
              <a:rPr sz="750" b="1">
                <a:solidFill>
                  <a:srgbClr val="1F6FEB"/>
                </a:solidFill>
                <a:latin typeface="Aptos"/>
              </a:rPr>
              <a:t>RI</a:t>
            </a:r>
          </a:p>
        </p:txBody>
      </p:sp>
      <p:sp>
        <p:nvSpPr>
          <p:cNvPr id="21" name="TextBox 20"/>
          <p:cNvSpPr txBox="1"/>
          <p:nvPr/>
        </p:nvSpPr>
        <p:spPr>
          <a:xfrm>
            <a:off x="1024128" y="3675887"/>
            <a:ext cx="1508760" cy="164592"/>
          </a:xfrm>
          <a:prstGeom prst="rect">
            <a:avLst/>
          </a:prstGeom>
          <a:noFill/>
        </p:spPr>
        <p:txBody>
          <a:bodyPr wrap="square">
            <a:normAutofit/>
          </a:bodyPr>
          <a:lstStyle/>
          <a:p>
            <a:r>
              <a:rPr sz="730" b="1">
                <a:solidFill>
                  <a:srgbClr val="12202F"/>
                </a:solidFill>
                <a:latin typeface="Aptos"/>
              </a:rPr>
              <a:t>Rhode Island</a:t>
            </a:r>
          </a:p>
        </p:txBody>
      </p:sp>
      <p:sp>
        <p:nvSpPr>
          <p:cNvPr id="22" name="TextBox 21"/>
          <p:cNvSpPr txBox="1"/>
          <p:nvPr/>
        </p:nvSpPr>
        <p:spPr>
          <a:xfrm>
            <a:off x="2514600" y="3675887"/>
            <a:ext cx="9006840" cy="310896"/>
          </a:xfrm>
          <a:prstGeom prst="rect">
            <a:avLst/>
          </a:prstGeom>
          <a:noFill/>
        </p:spPr>
        <p:txBody>
          <a:bodyPr wrap="square">
            <a:normAutofit/>
          </a:bodyPr>
          <a:lstStyle/>
          <a:p>
            <a:r>
              <a:rPr sz="680" b="0">
                <a:solidFill>
                  <a:srgbClr val="232B37"/>
                </a:solidFill>
                <a:latin typeface="Aptos"/>
              </a:rPr>
              <a:t>Resilience is defined by RIDOT as the ability of the Rhode Island transportation system to anticipate, prepare for, and adapt to changing conditions; and withstand, respond to, and recover rapidly from any disruptions.</a:t>
            </a:r>
          </a:p>
        </p:txBody>
      </p:sp>
      <p:sp>
        <p:nvSpPr>
          <p:cNvPr id="23" name="TextBox 22"/>
          <p:cNvSpPr txBox="1"/>
          <p:nvPr/>
        </p:nvSpPr>
        <p:spPr>
          <a:xfrm>
            <a:off x="502920" y="4187952"/>
            <a:ext cx="502920" cy="164592"/>
          </a:xfrm>
          <a:prstGeom prst="rect">
            <a:avLst/>
          </a:prstGeom>
          <a:noFill/>
        </p:spPr>
        <p:txBody>
          <a:bodyPr wrap="square">
            <a:normAutofit/>
          </a:bodyPr>
          <a:lstStyle/>
          <a:p>
            <a:r>
              <a:rPr sz="750" b="1">
                <a:solidFill>
                  <a:srgbClr val="1F6FEB"/>
                </a:solidFill>
                <a:latin typeface="Aptos"/>
              </a:rPr>
              <a:t>TX</a:t>
            </a:r>
          </a:p>
        </p:txBody>
      </p:sp>
      <p:sp>
        <p:nvSpPr>
          <p:cNvPr id="24" name="TextBox 23"/>
          <p:cNvSpPr txBox="1"/>
          <p:nvPr/>
        </p:nvSpPr>
        <p:spPr>
          <a:xfrm>
            <a:off x="1024128" y="4187952"/>
            <a:ext cx="1508760" cy="164592"/>
          </a:xfrm>
          <a:prstGeom prst="rect">
            <a:avLst/>
          </a:prstGeom>
          <a:noFill/>
        </p:spPr>
        <p:txBody>
          <a:bodyPr wrap="square">
            <a:normAutofit/>
          </a:bodyPr>
          <a:lstStyle/>
          <a:p>
            <a:r>
              <a:rPr sz="730" b="1">
                <a:solidFill>
                  <a:srgbClr val="12202F"/>
                </a:solidFill>
                <a:latin typeface="Aptos"/>
              </a:rPr>
              <a:t>Texas</a:t>
            </a:r>
          </a:p>
        </p:txBody>
      </p:sp>
      <p:sp>
        <p:nvSpPr>
          <p:cNvPr id="25" name="TextBox 24"/>
          <p:cNvSpPr txBox="1"/>
          <p:nvPr/>
        </p:nvSpPr>
        <p:spPr>
          <a:xfrm>
            <a:off x="2514600" y="4187952"/>
            <a:ext cx="9006840" cy="310896"/>
          </a:xfrm>
          <a:prstGeom prst="rect">
            <a:avLst/>
          </a:prstGeom>
          <a:noFill/>
        </p:spPr>
        <p:txBody>
          <a:bodyPr wrap="square">
            <a:normAutofit/>
          </a:bodyPr>
          <a:lstStyle/>
          <a:p>
            <a:r>
              <a:rPr sz="680" b="0">
                <a:solidFill>
                  <a:srgbClr val="232B37"/>
                </a:solidFill>
                <a:latin typeface="Aptos"/>
              </a:rPr>
              <a:t>Resilience is the ability to support and maintain a multimodal transportation system that can safely move people, goods, and services during adverse conditions, and to be able to anticipate, prepare for, adapt to, withstand, respond to, and recover efficiently from both human and natural disasters and disruptions.</a:t>
            </a:r>
          </a:p>
        </p:txBody>
      </p:sp>
      <p:sp>
        <p:nvSpPr>
          <p:cNvPr id="26" name="TextBox 25"/>
          <p:cNvSpPr txBox="1"/>
          <p:nvPr/>
        </p:nvSpPr>
        <p:spPr>
          <a:xfrm>
            <a:off x="502920" y="4700016"/>
            <a:ext cx="502920" cy="164592"/>
          </a:xfrm>
          <a:prstGeom prst="rect">
            <a:avLst/>
          </a:prstGeom>
          <a:noFill/>
        </p:spPr>
        <p:txBody>
          <a:bodyPr wrap="square">
            <a:normAutofit/>
          </a:bodyPr>
          <a:lstStyle/>
          <a:p>
            <a:r>
              <a:rPr sz="750" b="1">
                <a:solidFill>
                  <a:srgbClr val="1F6FEB"/>
                </a:solidFill>
                <a:latin typeface="Aptos"/>
              </a:rPr>
              <a:t>UT</a:t>
            </a:r>
          </a:p>
        </p:txBody>
      </p:sp>
      <p:sp>
        <p:nvSpPr>
          <p:cNvPr id="27" name="TextBox 26"/>
          <p:cNvSpPr txBox="1"/>
          <p:nvPr/>
        </p:nvSpPr>
        <p:spPr>
          <a:xfrm>
            <a:off x="1024128" y="4700016"/>
            <a:ext cx="1508760" cy="164592"/>
          </a:xfrm>
          <a:prstGeom prst="rect">
            <a:avLst/>
          </a:prstGeom>
          <a:noFill/>
        </p:spPr>
        <p:txBody>
          <a:bodyPr wrap="square">
            <a:normAutofit/>
          </a:bodyPr>
          <a:lstStyle/>
          <a:p>
            <a:r>
              <a:rPr sz="730" b="1">
                <a:solidFill>
                  <a:srgbClr val="12202F"/>
                </a:solidFill>
                <a:latin typeface="Aptos"/>
              </a:rPr>
              <a:t>Utah</a:t>
            </a:r>
          </a:p>
        </p:txBody>
      </p:sp>
      <p:sp>
        <p:nvSpPr>
          <p:cNvPr id="28" name="TextBox 27"/>
          <p:cNvSpPr txBox="1"/>
          <p:nvPr/>
        </p:nvSpPr>
        <p:spPr>
          <a:xfrm>
            <a:off x="2514600" y="4700016"/>
            <a:ext cx="9006840" cy="310896"/>
          </a:xfrm>
          <a:prstGeom prst="rect">
            <a:avLst/>
          </a:prstGeom>
          <a:noFill/>
        </p:spPr>
        <p:txBody>
          <a:bodyPr wrap="square">
            <a:normAutofit/>
          </a:bodyPr>
          <a:lstStyle/>
          <a:p>
            <a:r>
              <a:rPr sz="680" b="0">
                <a:solidFill>
                  <a:srgbClr val="232B37"/>
                </a:solidFill>
                <a:latin typeface="Aptos"/>
              </a:rPr>
              <a:t>Resilience is the ability to anticipate, prepare for, or adapt to conditions or withstand, respond to, or recover rapidly from disruptions.</a:t>
            </a:r>
          </a:p>
        </p:txBody>
      </p:sp>
      <p:sp>
        <p:nvSpPr>
          <p:cNvPr id="29" name="TextBox 28"/>
          <p:cNvSpPr txBox="1"/>
          <p:nvPr/>
        </p:nvSpPr>
        <p:spPr>
          <a:xfrm>
            <a:off x="502920" y="5212080"/>
            <a:ext cx="502920" cy="164592"/>
          </a:xfrm>
          <a:prstGeom prst="rect">
            <a:avLst/>
          </a:prstGeom>
          <a:noFill/>
        </p:spPr>
        <p:txBody>
          <a:bodyPr wrap="square">
            <a:normAutofit/>
          </a:bodyPr>
          <a:lstStyle/>
          <a:p>
            <a:r>
              <a:rPr sz="750" b="1">
                <a:solidFill>
                  <a:srgbClr val="1F6FEB"/>
                </a:solidFill>
                <a:latin typeface="Aptos"/>
              </a:rPr>
              <a:t>VA</a:t>
            </a:r>
          </a:p>
        </p:txBody>
      </p:sp>
      <p:sp>
        <p:nvSpPr>
          <p:cNvPr id="30" name="TextBox 29"/>
          <p:cNvSpPr txBox="1"/>
          <p:nvPr/>
        </p:nvSpPr>
        <p:spPr>
          <a:xfrm>
            <a:off x="1024128" y="5212080"/>
            <a:ext cx="1508760" cy="164592"/>
          </a:xfrm>
          <a:prstGeom prst="rect">
            <a:avLst/>
          </a:prstGeom>
          <a:noFill/>
        </p:spPr>
        <p:txBody>
          <a:bodyPr wrap="square">
            <a:normAutofit/>
          </a:bodyPr>
          <a:lstStyle/>
          <a:p>
            <a:r>
              <a:rPr sz="730" b="1">
                <a:solidFill>
                  <a:srgbClr val="12202F"/>
                </a:solidFill>
                <a:latin typeface="Aptos"/>
              </a:rPr>
              <a:t>Virginia</a:t>
            </a:r>
          </a:p>
        </p:txBody>
      </p:sp>
      <p:sp>
        <p:nvSpPr>
          <p:cNvPr id="31" name="TextBox 30"/>
          <p:cNvSpPr txBox="1"/>
          <p:nvPr/>
        </p:nvSpPr>
        <p:spPr>
          <a:xfrm>
            <a:off x="2514600" y="5212080"/>
            <a:ext cx="9006840" cy="310896"/>
          </a:xfrm>
          <a:prstGeom prst="rect">
            <a:avLst/>
          </a:prstGeom>
          <a:noFill/>
        </p:spPr>
        <p:txBody>
          <a:bodyPr wrap="square">
            <a:normAutofit/>
          </a:bodyPr>
          <a:lstStyle/>
          <a:p>
            <a:r>
              <a:rPr sz="680" b="0">
                <a:solidFill>
                  <a:srgbClr val="232B37"/>
                </a:solidFill>
                <a:latin typeface="Aptos"/>
              </a:rPr>
              <a:t>resilience is the capability of a transportation project or strategy to anticipate, prepare for, respond to, or recover from significant multi hazard threats with minimum damage and disruption to the transportation network, while preserving and incorporating natural and built infrastructure that helps to mitigate these threats.</a:t>
            </a:r>
          </a:p>
        </p:txBody>
      </p:sp>
      <p:sp>
        <p:nvSpPr>
          <p:cNvPr id="32" name="TextBox 31"/>
          <p:cNvSpPr txBox="1"/>
          <p:nvPr/>
        </p:nvSpPr>
        <p:spPr>
          <a:xfrm>
            <a:off x="502920" y="5724144"/>
            <a:ext cx="502920" cy="164592"/>
          </a:xfrm>
          <a:prstGeom prst="rect">
            <a:avLst/>
          </a:prstGeom>
          <a:noFill/>
        </p:spPr>
        <p:txBody>
          <a:bodyPr wrap="square">
            <a:normAutofit/>
          </a:bodyPr>
          <a:lstStyle/>
          <a:p>
            <a:r>
              <a:rPr sz="750" b="1">
                <a:solidFill>
                  <a:srgbClr val="1F6FEB"/>
                </a:solidFill>
                <a:latin typeface="Aptos"/>
              </a:rPr>
              <a:t>VT</a:t>
            </a:r>
          </a:p>
        </p:txBody>
      </p:sp>
      <p:sp>
        <p:nvSpPr>
          <p:cNvPr id="33" name="TextBox 32"/>
          <p:cNvSpPr txBox="1"/>
          <p:nvPr/>
        </p:nvSpPr>
        <p:spPr>
          <a:xfrm>
            <a:off x="1024128" y="5724144"/>
            <a:ext cx="1508760" cy="164592"/>
          </a:xfrm>
          <a:prstGeom prst="rect">
            <a:avLst/>
          </a:prstGeom>
          <a:noFill/>
        </p:spPr>
        <p:txBody>
          <a:bodyPr wrap="square">
            <a:normAutofit/>
          </a:bodyPr>
          <a:lstStyle/>
          <a:p>
            <a:r>
              <a:rPr sz="730" b="1">
                <a:solidFill>
                  <a:srgbClr val="12202F"/>
                </a:solidFill>
                <a:latin typeface="Aptos"/>
              </a:rPr>
              <a:t>Vermont</a:t>
            </a:r>
          </a:p>
        </p:txBody>
      </p:sp>
      <p:sp>
        <p:nvSpPr>
          <p:cNvPr id="34" name="TextBox 33"/>
          <p:cNvSpPr txBox="1"/>
          <p:nvPr/>
        </p:nvSpPr>
        <p:spPr>
          <a:xfrm>
            <a:off x="2514600" y="5724144"/>
            <a:ext cx="9006840" cy="310896"/>
          </a:xfrm>
          <a:prstGeom prst="rect">
            <a:avLst/>
          </a:prstGeom>
          <a:noFill/>
        </p:spPr>
        <p:txBody>
          <a:bodyPr wrap="square">
            <a:normAutofit/>
          </a:bodyPr>
          <a:lstStyle/>
          <a:p>
            <a:r>
              <a:rPr sz="680" b="0">
                <a:solidFill>
                  <a:srgbClr val="232B37"/>
                </a:solidFill>
                <a:latin typeface="Aptos"/>
              </a:rPr>
              <a:t>No formal resilience definition found in the downloaded PDF.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California / Caltrans: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1/20 | CA_Caltrans_SCRIPT_RIP_2023_Amendment1.pdf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No formal resilience definition found in the downloaded PDF.</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48</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consequence/severity, sensitivity, vulnerability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CA_Caltrans_SCRIPT_RIP_2023_Amendment1_definition.png"/>
          <p:cNvPicPr>
            <a:picLocks noChangeAspect="1"/>
          </p:cNvPicPr>
          <p:nvPr/>
        </p:nvPicPr>
        <p:blipFill>
          <a:blip r:embed="rId2"/>
          <a:stretch>
            <a:fillRect/>
          </a:stretch>
        </p:blipFill>
        <p:spPr>
          <a:xfrm>
            <a:off x="7075585" y="1325880"/>
            <a:ext cx="1448492"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CA_Caltrans_SCRIPT_RIP_2023_Amendment1_risk.png"/>
          <p:cNvPicPr>
            <a:picLocks noChangeAspect="1"/>
          </p:cNvPicPr>
          <p:nvPr/>
        </p:nvPicPr>
        <p:blipFill>
          <a:blip r:embed="rId3"/>
          <a:stretch>
            <a:fillRect/>
          </a:stretch>
        </p:blipFill>
        <p:spPr>
          <a:xfrm>
            <a:off x="7087069" y="3685032"/>
            <a:ext cx="1425524"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CA_Caltrans_SCRIPT_RIP_2023_Amendment1.pdf; definition p.48, risk p.29; URL: https://dot.ca.gov/-/media/dot-media/programs/transportation-planning/documents/office-of-smart-mobility-and-climate-change/2023-script-amendment-1-with-letters-a11y.pdf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Colorado / CDOT: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2/20 | CO_CDOT_Resilience_Improvement_Plan.pdf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What is Resilience? Developing CDOT’s Risk and Resilience Program The State of Colorado defines resilience as “the ability of communities to rebound, positively adapt to, or thrive amidst changing conditions or challenges—including human-caused and natural disasters—and to maintain quality of life, healthy growth, durable systems, economic vitality, and conservation of resources for present and future generations.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6</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criticality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CO_CDOT_Resilience_Improvement_Plan_definition.png"/>
          <p:cNvPicPr>
            <a:picLocks noChangeAspect="1"/>
          </p:cNvPicPr>
          <p:nvPr/>
        </p:nvPicPr>
        <p:blipFill>
          <a:blip r:embed="rId2"/>
          <a:stretch>
            <a:fillRect/>
          </a:stretch>
        </p:blipFill>
        <p:spPr>
          <a:xfrm>
            <a:off x="7137318" y="1325879"/>
            <a:ext cx="1325027" cy="1874520"/>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CO_CDOT_Resilience_Improvement_Plan_risk.png"/>
          <p:cNvPicPr>
            <a:picLocks noChangeAspect="1"/>
          </p:cNvPicPr>
          <p:nvPr/>
        </p:nvPicPr>
        <p:blipFill>
          <a:blip r:embed="rId3"/>
          <a:stretch>
            <a:fillRect/>
          </a:stretch>
        </p:blipFill>
        <p:spPr>
          <a:xfrm>
            <a:off x="6098640" y="3685032"/>
            <a:ext cx="3402382"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CO_CDOT_Resilience_Improvement_Plan.pdf; definition p.6, risk p.25; URL: https://www.tam-portal.com/wp-content/uploads/sites/12/2025/07/cdot-resilience-improvement-plan-final-02-10-2025.pdf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Connecticut / CTDOT: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3/20 | CT_CTDOT_Resilience_Improvement_Plan.pdf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The ability to anticipate, prepare for, and adapt to changing conditions and withstand, respond to, and recover rapidly from disruptions.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6</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exposure, sensitivity, adaptive capacity, vulnerability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CT_CTDOT_Resilience_Improvement_Plan_definition.png"/>
          <p:cNvPicPr>
            <a:picLocks noChangeAspect="1"/>
          </p:cNvPicPr>
          <p:nvPr/>
        </p:nvPicPr>
        <p:blipFill>
          <a:blip r:embed="rId2"/>
          <a:stretch>
            <a:fillRect/>
          </a:stretch>
        </p:blipFill>
        <p:spPr>
          <a:xfrm>
            <a:off x="5168116" y="1325880"/>
            <a:ext cx="5263430"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CT_CTDOT_Resilience_Improvement_Plan_risk.png"/>
          <p:cNvPicPr>
            <a:picLocks noChangeAspect="1"/>
          </p:cNvPicPr>
          <p:nvPr/>
        </p:nvPicPr>
        <p:blipFill>
          <a:blip r:embed="rId3"/>
          <a:stretch>
            <a:fillRect/>
          </a:stretch>
        </p:blipFill>
        <p:spPr>
          <a:xfrm>
            <a:off x="5403922" y="3685032"/>
            <a:ext cx="4791819"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CT_CTDOT_Resilience_Improvement_Plan.pdf; definition p.6, risk p.59; URL: https://portal.ct.gov/dot/-/media/dot/programs/rip/ctdot-resilience-improvement-plan.pdf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Delaware / DelDOT: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4/20 | DE_DelDOT_DRIP_FHWA_Approved_2023.pdf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resiliency is the ability to anticipate, prepare for, and adapt to changing conditions and withstand, respond to, and recover rapidly from disruptions.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40</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risk-based vulnerability assessment: likelihood, consequence/severity, vulnerability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DE_DelDOT_DRIP_FHWA_Approved_2023_definition.png"/>
          <p:cNvPicPr>
            <a:picLocks noChangeAspect="1"/>
          </p:cNvPicPr>
          <p:nvPr/>
        </p:nvPicPr>
        <p:blipFill>
          <a:blip r:embed="rId2"/>
          <a:stretch>
            <a:fillRect/>
          </a:stretch>
        </p:blipFill>
        <p:spPr>
          <a:xfrm>
            <a:off x="7193840" y="1325880"/>
            <a:ext cx="1211983"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DE_DelDOT_DRIP_FHWA_Approved_2023_risk.png"/>
          <p:cNvPicPr>
            <a:picLocks noChangeAspect="1"/>
          </p:cNvPicPr>
          <p:nvPr/>
        </p:nvPicPr>
        <p:blipFill>
          <a:blip r:embed="rId3"/>
          <a:stretch>
            <a:fillRect/>
          </a:stretch>
        </p:blipFill>
        <p:spPr>
          <a:xfrm>
            <a:off x="7193840" y="3685032"/>
            <a:ext cx="1211983"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DE_DelDOT_DRIP_FHWA_Approved_2023.pdf; definition p.40, risk p.41; URL: https://www.erm-portal.com/wp-content/uploads/sites/15/wpforms/7075-e1233af55e4247e91b2324b29a729bf8/DelDOT-DRIP-FHWA-Approved-09.07.23-a120b9904b5093d01726203eead2d3af.pdf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Florida / FDOT: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5/20 | FL_FDOT_RIP_CEP_Final.pdf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No formal resilience definition found in the downloaded PDF.</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2</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risk-based vulnerability assessment: no explicit scoring formula found in the located excerpt</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FL_FDOT_RIP_CEP_Final_definition.png"/>
          <p:cNvPicPr>
            <a:picLocks noChangeAspect="1"/>
          </p:cNvPicPr>
          <p:nvPr/>
        </p:nvPicPr>
        <p:blipFill>
          <a:blip r:embed="rId2"/>
          <a:stretch>
            <a:fillRect/>
          </a:stretch>
        </p:blipFill>
        <p:spPr>
          <a:xfrm>
            <a:off x="7075585" y="1325880"/>
            <a:ext cx="1448492"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FL_FDOT_RIP_CEP_Final_risk.png"/>
          <p:cNvPicPr>
            <a:picLocks noChangeAspect="1"/>
          </p:cNvPicPr>
          <p:nvPr/>
        </p:nvPicPr>
        <p:blipFill>
          <a:blip r:embed="rId3"/>
          <a:stretch>
            <a:fillRect/>
          </a:stretch>
        </p:blipFill>
        <p:spPr>
          <a:xfrm>
            <a:off x="4520837" y="3685032"/>
            <a:ext cx="6557988"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FL_FDOT_RIP_CEP_Final.pdf; definition p.2, risk p.3; URL: https://fdotwww.blob.core.windows.net/sitefinity/docs/default-source/planning/resilience-(opp)/resilience-improvement-plan/rip_cep_final.pdf?sfvrsn=b8098df8_1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Iowa / Iowa 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6/20 | IA_IowaDOT_2024_Resilience_Improvement_Plan.pdf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INTRODUCTION Defining Resiliency The Iowa DOT defines resiliency as the ability to anticipate, prepare for, and adapt to changing conditions and withstand, respond to, and quickly recover from disruptions.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8</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risk-based vulnerability assessment: likelihood, probability, consequence/severity, vulnerability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IA_IowaDOT_2024_Resilience_Improvement_Plan_definition.png"/>
          <p:cNvPicPr>
            <a:picLocks noChangeAspect="1"/>
          </p:cNvPicPr>
          <p:nvPr/>
        </p:nvPicPr>
        <p:blipFill>
          <a:blip r:embed="rId2"/>
          <a:stretch>
            <a:fillRect/>
          </a:stretch>
        </p:blipFill>
        <p:spPr>
          <a:xfrm>
            <a:off x="4914799" y="1325880"/>
            <a:ext cx="5770065"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IA_IowaDOT_2024_Resilience_Improvement_Plan_risk.png"/>
          <p:cNvPicPr>
            <a:picLocks noChangeAspect="1"/>
          </p:cNvPicPr>
          <p:nvPr/>
        </p:nvPicPr>
        <p:blipFill>
          <a:blip r:embed="rId3"/>
          <a:stretch>
            <a:fillRect/>
          </a:stretch>
        </p:blipFill>
        <p:spPr>
          <a:xfrm>
            <a:off x="6910956" y="3685032"/>
            <a:ext cx="1777750"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IA_IowaDOT_2024_Resilience_Improvement_Plan.pdf; definition p.8, risk p.38; URL: https://iowadot.gov/media/2596/download?inline=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Kentucky / KYTC: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7/20 | KY_KYTC_Resiliency_Improvement_Plan_2023.pdf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 defined by the Federal Highway Administration (FHWA) as the ability to anticipate, prepare for, and adapt to changing conditions and withstand, respond to, and recover rapidly from disruptions, is an important component of KYTC’s mission.</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3</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exposure, sensitivity, adaptive capacity, criticality, vulnerability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KY_KYTC_Resiliency_Improvement_Plan_2023_definition.png"/>
          <p:cNvPicPr>
            <a:picLocks noChangeAspect="1"/>
          </p:cNvPicPr>
          <p:nvPr/>
        </p:nvPicPr>
        <p:blipFill>
          <a:blip r:embed="rId2"/>
          <a:stretch>
            <a:fillRect/>
          </a:stretch>
        </p:blipFill>
        <p:spPr>
          <a:xfrm>
            <a:off x="5819705" y="1325880"/>
            <a:ext cx="3960253"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KY_KYTC_Resiliency_Improvement_Plan_2023_risk.png"/>
          <p:cNvPicPr>
            <a:picLocks noChangeAspect="1"/>
          </p:cNvPicPr>
          <p:nvPr/>
        </p:nvPicPr>
        <p:blipFill>
          <a:blip r:embed="rId3"/>
          <a:stretch>
            <a:fillRect/>
          </a:stretch>
        </p:blipFill>
        <p:spPr>
          <a:xfrm>
            <a:off x="6982812" y="3685032"/>
            <a:ext cx="1634038"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KY_KYTC_Resiliency_Improvement_Plan_2023.pdf; definition p.3, risk p.53; URL: https://www.erm-portal.com/wp-content/uploads/sites/15/2024/08/KYTC-Resiliency-Improvement-Plan-202306-bfe355f2a24c9e7591e4146a5b7226e1.pdf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Maryland / MDOT: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8/20 | MD_MDOT_Transportation_Resilience_Improvement_Plan_2024.pdf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resilience-focused activities across four main areas of focus: • Planning: Resilience planning activities to assess surface transportation infrastructure vulnerabilities from the impacts of natural hazards.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4</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risk-based vulnerability assessment: vulnerability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MD_MDOT_Transportation_Resilience_Improvement_Plan_2024_definition.png"/>
          <p:cNvPicPr>
            <a:picLocks noChangeAspect="1"/>
          </p:cNvPicPr>
          <p:nvPr/>
        </p:nvPicPr>
        <p:blipFill>
          <a:blip r:embed="rId2"/>
          <a:stretch>
            <a:fillRect/>
          </a:stretch>
        </p:blipFill>
        <p:spPr>
          <a:xfrm>
            <a:off x="6586907" y="1325880"/>
            <a:ext cx="2425849"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MD_MDOT_Transportation_Resilience_Improvement_Plan_2024_risk.png"/>
          <p:cNvPicPr>
            <a:picLocks noChangeAspect="1"/>
          </p:cNvPicPr>
          <p:nvPr/>
        </p:nvPicPr>
        <p:blipFill>
          <a:blip r:embed="rId3"/>
          <a:stretch>
            <a:fillRect/>
          </a:stretch>
        </p:blipFill>
        <p:spPr>
          <a:xfrm>
            <a:off x="4704739" y="3685032"/>
            <a:ext cx="6190185"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MD_MDOT_Transportation_Resilience_Improvement_Plan_2024.pdf; definition p.4, risk p.27; URL: https://www.mdot.maryland.gov/OPCP/MDOT_TRIP_Report_2024_Final.pdf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Michigan / MDOT: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9/20 | MI_MDOT_Resilience_Improvement_Plan_2024.pdf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 is critical to the ongoing resilience of statewide and community assets, such as housing, emergency management assets, energy, water, and communication infrastructure.</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45</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exposure, sensitivity, criticality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MI_MDOT_Resilience_Improvement_Plan_2024_definition.png"/>
          <p:cNvPicPr>
            <a:picLocks noChangeAspect="1"/>
          </p:cNvPicPr>
          <p:nvPr/>
        </p:nvPicPr>
        <p:blipFill>
          <a:blip r:embed="rId2"/>
          <a:stretch>
            <a:fillRect/>
          </a:stretch>
        </p:blipFill>
        <p:spPr>
          <a:xfrm>
            <a:off x="7075585" y="1325880"/>
            <a:ext cx="1448492"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MI_MDOT_Resilience_Improvement_Plan_2024_risk.png"/>
          <p:cNvPicPr>
            <a:picLocks noChangeAspect="1"/>
          </p:cNvPicPr>
          <p:nvPr/>
        </p:nvPicPr>
        <p:blipFill>
          <a:blip r:embed="rId3"/>
          <a:stretch>
            <a:fillRect/>
          </a:stretch>
        </p:blipFill>
        <p:spPr>
          <a:xfrm>
            <a:off x="7209229" y="3685032"/>
            <a:ext cx="1181204"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MI_MDOT_Resilience_Improvement_Plan_2024.pdf; definition p.45, risk p.5; URL: https://www.michigan.gov/mdot/-/media/Project/Websites/MDOT/Programs/Planning/Resilience-Improvement-Plan/Plan.pdf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Minnesota / MnDOT: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10/20 | MN_MnDOT_Resilience_Improvement_Plan_2024.pdf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 There are immediate opportunities for MnDOT and partners to invest in climate resilience projects.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35</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exposure</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MN_MnDOT_Resilience_Improvement_Plan_2024_definition.png"/>
          <p:cNvPicPr>
            <a:picLocks noChangeAspect="1"/>
          </p:cNvPicPr>
          <p:nvPr/>
        </p:nvPicPr>
        <p:blipFill>
          <a:blip r:embed="rId2"/>
          <a:stretch>
            <a:fillRect/>
          </a:stretch>
        </p:blipFill>
        <p:spPr>
          <a:xfrm>
            <a:off x="7075585" y="1325880"/>
            <a:ext cx="1448492"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MN_MnDOT_Resilience_Improvement_Plan_2024_risk.png"/>
          <p:cNvPicPr>
            <a:picLocks noChangeAspect="1"/>
          </p:cNvPicPr>
          <p:nvPr/>
        </p:nvPicPr>
        <p:blipFill>
          <a:blip r:embed="rId3"/>
          <a:stretch>
            <a:fillRect/>
          </a:stretch>
        </p:blipFill>
        <p:spPr>
          <a:xfrm>
            <a:off x="7103135" y="3685032"/>
            <a:ext cx="1393393"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MN_MnDOT_Resilience_Improvement_Plan_2024.pdf; definition p.35, risk p.29; URL: https://www.tam-portal.com/wp-content/uploads/sites/12/2025/07/2024-Resilience-Improvement-Plan-ADA-FINAL-38633998-v2.pdf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Mississippi / MDOT: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11/20 | MS_MDOT_Resilience_Improvement_Plan.pdf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resilience-enhancing projects, thereby reducing the financial burden on state government.</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9</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criticality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MS_MDOT_Resilience_Improvement_Plan_definition.png"/>
          <p:cNvPicPr>
            <a:picLocks noChangeAspect="1"/>
          </p:cNvPicPr>
          <p:nvPr/>
        </p:nvPicPr>
        <p:blipFill>
          <a:blip r:embed="rId2"/>
          <a:stretch>
            <a:fillRect/>
          </a:stretch>
        </p:blipFill>
        <p:spPr>
          <a:xfrm>
            <a:off x="7075585" y="1325880"/>
            <a:ext cx="1448492"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MS_MDOT_Resilience_Improvement_Plan_risk.png"/>
          <p:cNvPicPr>
            <a:picLocks noChangeAspect="1"/>
          </p:cNvPicPr>
          <p:nvPr/>
        </p:nvPicPr>
        <p:blipFill>
          <a:blip r:embed="rId3"/>
          <a:stretch>
            <a:fillRect/>
          </a:stretch>
        </p:blipFill>
        <p:spPr>
          <a:xfrm>
            <a:off x="5644743" y="3685032"/>
            <a:ext cx="4310176"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MS_MDOT_Resilience_Improvement_Plan.pdf; definition p.9, risk p.12; URL: https://mdot.ms.gov/documents/Planning/Resilience%20Planning/MDOT%20Resilience%20Improvement%20Plan.pdf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North Carolina / NCDOT: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12/20 | NC_NCDOT_Resilience_Strategy_Report.pdf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resiliency is “the ability to anticipate, prepare for, and adapt to changing conditions and withstand, respond to, and recover rapidly from disruptions”.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13</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exposure, sensitivity, criticality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NC_NCDOT_Resilience_Strategy_Report_definition.png"/>
          <p:cNvPicPr>
            <a:picLocks noChangeAspect="1"/>
          </p:cNvPicPr>
          <p:nvPr/>
        </p:nvPicPr>
        <p:blipFill>
          <a:blip r:embed="rId2"/>
          <a:stretch>
            <a:fillRect/>
          </a:stretch>
        </p:blipFill>
        <p:spPr>
          <a:xfrm>
            <a:off x="6234072" y="1325879"/>
            <a:ext cx="3131518" cy="1874520"/>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NC_NCDOT_Resilience_Strategy_Report_risk.png"/>
          <p:cNvPicPr>
            <a:picLocks noChangeAspect="1"/>
          </p:cNvPicPr>
          <p:nvPr/>
        </p:nvPicPr>
        <p:blipFill>
          <a:blip r:embed="rId3"/>
          <a:stretch>
            <a:fillRect/>
          </a:stretch>
        </p:blipFill>
        <p:spPr>
          <a:xfrm>
            <a:off x="5178720" y="3685032"/>
            <a:ext cx="5242223"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NC_NCDOT_Resilience_Strategy_Report.pdf; definition p.13, risk p.53; URL: https://www.ncdot.gov/initiatives-policies/Transportation/transportation-resilience/Documents/resilience-plan.pdf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New Mexico / NMDOT: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13/20 | NM_NMDOT_Resilience_Improvement_Plan_2024.pdf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 is the ability to avoid, anticipate, absorb, adapt to, and/or rapidly recover from current and future hazards.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7</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exposure, sensitivity, criticality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NM_NMDOT_Resilience_Improvement_Plan_2024_definition.png"/>
          <p:cNvPicPr>
            <a:picLocks noChangeAspect="1"/>
          </p:cNvPicPr>
          <p:nvPr/>
        </p:nvPicPr>
        <p:blipFill>
          <a:blip r:embed="rId2"/>
          <a:stretch>
            <a:fillRect/>
          </a:stretch>
        </p:blipFill>
        <p:spPr>
          <a:xfrm>
            <a:off x="5241426" y="1325880"/>
            <a:ext cx="5116811"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NM_NMDOT_Resilience_Improvement_Plan_2024_risk.png"/>
          <p:cNvPicPr>
            <a:picLocks noChangeAspect="1"/>
          </p:cNvPicPr>
          <p:nvPr/>
        </p:nvPicPr>
        <p:blipFill>
          <a:blip r:embed="rId3"/>
          <a:stretch>
            <a:fillRect/>
          </a:stretch>
        </p:blipFill>
        <p:spPr>
          <a:xfrm>
            <a:off x="7101481" y="3685032"/>
            <a:ext cx="1396701"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NM_NMDOT_Resilience_Improvement_Plan_2024.pdf; definition p.7, risk p.4; URL: https://www.erm-portal.com/wp-content/uploads/sites/15/2024/08/2024_0324_NMDOT-RIP_Final-3e0d72b101139cc6da2af69c7c26a4d5.pdf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Ohio / ODOT: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14/20 | OH_ODOT_Resilience_Improvement_Plan.pdf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 is central to ODOT’s mission of providing a transportation system that is safe, accessible, well maintained, and positioned for the future.</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5</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risk-based vulnerability assessment: likelihood, consequence/severity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OH_ODOT_Resilience_Improvement_Plan_definition.png"/>
          <p:cNvPicPr>
            <a:picLocks noChangeAspect="1"/>
          </p:cNvPicPr>
          <p:nvPr/>
        </p:nvPicPr>
        <p:blipFill>
          <a:blip r:embed="rId2"/>
          <a:stretch>
            <a:fillRect/>
          </a:stretch>
        </p:blipFill>
        <p:spPr>
          <a:xfrm>
            <a:off x="5291745" y="1325880"/>
            <a:ext cx="5016173"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OH_ODOT_Resilience_Improvement_Plan_risk.png"/>
          <p:cNvPicPr>
            <a:picLocks noChangeAspect="1"/>
          </p:cNvPicPr>
          <p:nvPr/>
        </p:nvPicPr>
        <p:blipFill>
          <a:blip r:embed="rId3"/>
          <a:stretch>
            <a:fillRect/>
          </a:stretch>
        </p:blipFill>
        <p:spPr>
          <a:xfrm>
            <a:off x="5431658" y="3685032"/>
            <a:ext cx="4736347"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OH_ODOT_Resilience_Improvement_Plan.pdf; definition p.5, risk p.15; URL: https://dam.assets.ohio.gov/image/upload/transportation.ohio.gov/statewide-planning/resilience/Resilience-Improvement-Plan.pdf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Oregon / ODOT: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15/20 | OR_ODOT_Climate_Adaptation_Resilience_Roadmap.pdf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 is the ability to anticipate, prepare for or adapt to conditions; or withstand, respond to or recover rapidly from system disruptions.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46</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consequence/severity, exposure</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OR_ODOT_Climate_Adaptation_Resilience_Roadmap_definition.png"/>
          <p:cNvPicPr>
            <a:picLocks noChangeAspect="1"/>
          </p:cNvPicPr>
          <p:nvPr/>
        </p:nvPicPr>
        <p:blipFill>
          <a:blip r:embed="rId2"/>
          <a:stretch>
            <a:fillRect/>
          </a:stretch>
        </p:blipFill>
        <p:spPr>
          <a:xfrm>
            <a:off x="5067322" y="1325880"/>
            <a:ext cx="5465018"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OR_ODOT_Climate_Adaptation_Resilience_Roadmap_risk.png"/>
          <p:cNvPicPr>
            <a:picLocks noChangeAspect="1"/>
          </p:cNvPicPr>
          <p:nvPr/>
        </p:nvPicPr>
        <p:blipFill>
          <a:blip r:embed="rId3"/>
          <a:stretch>
            <a:fillRect/>
          </a:stretch>
        </p:blipFill>
        <p:spPr>
          <a:xfrm>
            <a:off x="5993850" y="3685032"/>
            <a:ext cx="3611963"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OR_ODOT_Climate_Adaptation_Resilience_Roadmap.pdf; definition p.46, risk p.78; URL: https://www.tam-portal.com/wp-content/uploads/sites/12/2025/01/ClimateAdaptation_andResilienceRoadmap.pdf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Rhode Island / RIDOT: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16/20 | RI_RIDOT_Approved_RIP.pdf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 is defined by RIDOT as the ability of the Rhode Island transportation system to anticipate, prepare for, and adapt to changing conditions; and withstand, respond to, and recover rapidly from any disruptions.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27</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risk-based vulnerability assessment: exposure, sensitivity, adaptive capacity, vulnerability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RI_RIDOT_Approved_RIP_definition.png"/>
          <p:cNvPicPr>
            <a:picLocks noChangeAspect="1"/>
          </p:cNvPicPr>
          <p:nvPr/>
        </p:nvPicPr>
        <p:blipFill>
          <a:blip r:embed="rId2"/>
          <a:stretch>
            <a:fillRect/>
          </a:stretch>
        </p:blipFill>
        <p:spPr>
          <a:xfrm>
            <a:off x="4654929" y="1325880"/>
            <a:ext cx="6289805"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RI_RIDOT_Approved_RIP_risk.png"/>
          <p:cNvPicPr>
            <a:picLocks noChangeAspect="1"/>
          </p:cNvPicPr>
          <p:nvPr/>
        </p:nvPicPr>
        <p:blipFill>
          <a:blip r:embed="rId3"/>
          <a:stretch>
            <a:fillRect/>
          </a:stretch>
        </p:blipFill>
        <p:spPr>
          <a:xfrm>
            <a:off x="5165808" y="3685032"/>
            <a:ext cx="5268047"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RI_RIDOT_Approved_RIP.pdf; definition p.27, risk p.22; URL: https://www.dot.ri.gov/rhodeworks/docs/RIDOT_Approved_RIP.pdf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Texas / TxDOT: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17/20 | TX_TxDOT_Statewide_Transportation_Resilience_Plan_2025.pdf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 is the ability to support and maintain a multimodal transportation system that can safely move people, goods, and services during adverse conditions, and to be able to anticipate, prepare for, adapt to, withstand, respond to, and recover efficiently from both human and natural disasters and disruptions.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6</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risk-based vulnerability assessment: exposure, sensitivity, vulnerability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TX_TxDOT_Statewide_Transportation_Resilience_Plan_2025_definition.png"/>
          <p:cNvPicPr>
            <a:picLocks noChangeAspect="1"/>
          </p:cNvPicPr>
          <p:nvPr/>
        </p:nvPicPr>
        <p:blipFill>
          <a:blip r:embed="rId2"/>
          <a:stretch>
            <a:fillRect/>
          </a:stretch>
        </p:blipFill>
        <p:spPr>
          <a:xfrm>
            <a:off x="4897195" y="1325880"/>
            <a:ext cx="5805273"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TX_TxDOT_Statewide_Transportation_Resilience_Plan_2025_risk.png"/>
          <p:cNvPicPr>
            <a:picLocks noChangeAspect="1"/>
          </p:cNvPicPr>
          <p:nvPr/>
        </p:nvPicPr>
        <p:blipFill>
          <a:blip r:embed="rId3"/>
          <a:stretch>
            <a:fillRect/>
          </a:stretch>
        </p:blipFill>
        <p:spPr>
          <a:xfrm>
            <a:off x="4096512" y="3772928"/>
            <a:ext cx="7406640" cy="1698727"/>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TX_TxDOT_Statewide_Transportation_Resilience_Plan_2025.pdf; definition p.6, risk p.57; URL: https://www.txdot.gov/content/dam/docs/division/tpp/2025-statewide-resiliency-plan.pdf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Utah / UDOT: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18/20 | UT_UDOT_Resilience_Improvement_Plan_2024.pdf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 is the ability to anticipate, prepare for, or adapt to conditions or withstand, respond to, or recover rapidly from disruptions.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6</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score/rating method: exposure, criticality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UT_UDOT_Resilience_Improvement_Plan_2024_definition.png"/>
          <p:cNvPicPr>
            <a:picLocks noChangeAspect="1"/>
          </p:cNvPicPr>
          <p:nvPr/>
        </p:nvPicPr>
        <p:blipFill>
          <a:blip r:embed="rId2"/>
          <a:stretch>
            <a:fillRect/>
          </a:stretch>
        </p:blipFill>
        <p:spPr>
          <a:xfrm>
            <a:off x="5592884" y="1325880"/>
            <a:ext cx="4413894"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UT_UDOT_Resilience_Improvement_Plan_2024_risk.png"/>
          <p:cNvPicPr>
            <a:picLocks noChangeAspect="1"/>
          </p:cNvPicPr>
          <p:nvPr/>
        </p:nvPicPr>
        <p:blipFill>
          <a:blip r:embed="rId3"/>
          <a:stretch>
            <a:fillRect/>
          </a:stretch>
        </p:blipFill>
        <p:spPr>
          <a:xfrm>
            <a:off x="7200822" y="3685032"/>
            <a:ext cx="1198018"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UT_UDOT_Resilience_Improvement_Plan_2024.pdf; definition p.6, risk p.4; URL: https://www.erm-portal.com/wp-content/uploads/sites/15/2024/09/2024-05-07-FINAL-UDOT-RIP-eee071ab388ba424f01311f4404fd110.pdf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Virginia / VDOT: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19/20 | VA_VDOT_Resilience_Plan_2022.pdf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resilience is the capability of a transportation project or strategy to anticipate, prepare for, respond to, or recover from significant multi hazard threats with minimum damage and disruption to the transportation network, while preserving and incorporating natural and built infrastructure that helps to mitigate these threats.</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6</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risk-based vulnerability assessment: exposure, sensitivity, criticality, vulnerability</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VA_VDOT_Resilience_Plan_2022_definition.png"/>
          <p:cNvPicPr>
            <a:picLocks noChangeAspect="1"/>
          </p:cNvPicPr>
          <p:nvPr/>
        </p:nvPicPr>
        <p:blipFill>
          <a:blip r:embed="rId2"/>
          <a:stretch>
            <a:fillRect/>
          </a:stretch>
        </p:blipFill>
        <p:spPr>
          <a:xfrm>
            <a:off x="7075585" y="1325880"/>
            <a:ext cx="1448492"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VA_VDOT_Resilience_Plan_2022_risk.png"/>
          <p:cNvPicPr>
            <a:picLocks noChangeAspect="1"/>
          </p:cNvPicPr>
          <p:nvPr/>
        </p:nvPicPr>
        <p:blipFill>
          <a:blip r:embed="rId3"/>
          <a:stretch>
            <a:fillRect/>
          </a:stretch>
        </p:blipFill>
        <p:spPr>
          <a:xfrm>
            <a:off x="5694040" y="3685032"/>
            <a:ext cx="4211583"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VA_VDOT_Resilience_Plan_2022.pdf; definition p.6, risk p.26; URL: https://www.erm-portal.com/wp-content/uploads/sites/15/2023/03/VDOT-Resilience-Plan_Nov_2022_FINAL-92cd22fca3674bdb5af0a3eb49a7e62d.pdf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Vermont / VTrans: original definition and risk scoring</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20/20 | VT_VTrans_RIP_Process_2023.pdf</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520440" cy="214884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298448"/>
            <a:ext cx="3063240" cy="228600"/>
          </a:xfrm>
          <a:prstGeom prst="rect">
            <a:avLst/>
          </a:prstGeom>
          <a:noFill/>
        </p:spPr>
        <p:txBody>
          <a:bodyPr wrap="square">
            <a:normAutofit/>
          </a:bodyPr>
          <a:lstStyle/>
          <a:p>
            <a:r>
              <a:rPr sz="1050" b="1">
                <a:solidFill>
                  <a:srgbClr val="1F6FEB"/>
                </a:solidFill>
                <a:latin typeface="Aptos"/>
              </a:rPr>
              <a:t>Verbatim resilience definition</a:t>
            </a:r>
          </a:p>
        </p:txBody>
      </p:sp>
      <p:sp>
        <p:nvSpPr>
          <p:cNvPr id="7" name="TextBox 6"/>
          <p:cNvSpPr txBox="1"/>
          <p:nvPr/>
        </p:nvSpPr>
        <p:spPr>
          <a:xfrm>
            <a:off x="612648" y="1609344"/>
            <a:ext cx="3063240" cy="1216152"/>
          </a:xfrm>
          <a:prstGeom prst="rect">
            <a:avLst/>
          </a:prstGeom>
          <a:noFill/>
        </p:spPr>
        <p:txBody>
          <a:bodyPr wrap="square">
            <a:normAutofit/>
          </a:bodyPr>
          <a:lstStyle/>
          <a:p>
            <a:r>
              <a:rPr sz="960" b="0">
                <a:solidFill>
                  <a:srgbClr val="232B37"/>
                </a:solidFill>
                <a:latin typeface="Aptos"/>
              </a:rPr>
              <a:t>No formal resilience definition found in the downloaded PDF.</a:t>
            </a:r>
          </a:p>
        </p:txBody>
      </p:sp>
      <p:sp>
        <p:nvSpPr>
          <p:cNvPr id="8" name="TextBox 7"/>
          <p:cNvSpPr txBox="1"/>
          <p:nvPr/>
        </p:nvSpPr>
        <p:spPr>
          <a:xfrm>
            <a:off x="612648" y="2962656"/>
            <a:ext cx="3063240" cy="182880"/>
          </a:xfrm>
          <a:prstGeom prst="rect">
            <a:avLst/>
          </a:prstGeom>
          <a:noFill/>
        </p:spPr>
        <p:txBody>
          <a:bodyPr wrap="square">
            <a:normAutofit/>
          </a:bodyPr>
          <a:lstStyle/>
          <a:p>
            <a:r>
              <a:rPr sz="700" b="0">
                <a:solidFill>
                  <a:srgbClr val="55606E"/>
                </a:solidFill>
                <a:latin typeface="Aptos"/>
              </a:rPr>
              <a:t>Definition source page: 1</a:t>
            </a:r>
          </a:p>
        </p:txBody>
      </p:sp>
      <p:sp>
        <p:nvSpPr>
          <p:cNvPr id="9" name="Rounded Rectangle 8"/>
          <p:cNvSpPr/>
          <p:nvPr/>
        </p:nvSpPr>
        <p:spPr>
          <a:xfrm>
            <a:off x="411480" y="3502152"/>
            <a:ext cx="3520440" cy="2084831"/>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57600"/>
            <a:ext cx="3063240" cy="228600"/>
          </a:xfrm>
          <a:prstGeom prst="rect">
            <a:avLst/>
          </a:prstGeom>
          <a:noFill/>
        </p:spPr>
        <p:txBody>
          <a:bodyPr wrap="square">
            <a:normAutofit/>
          </a:bodyPr>
          <a:lstStyle/>
          <a:p>
            <a:r>
              <a:rPr sz="1050" b="1">
                <a:solidFill>
                  <a:srgbClr val="1F6FEB"/>
                </a:solidFill>
                <a:latin typeface="Aptos"/>
              </a:rPr>
              <a:t>Risk scoring / assessment</a:t>
            </a:r>
          </a:p>
        </p:txBody>
      </p:sp>
      <p:sp>
        <p:nvSpPr>
          <p:cNvPr id="11" name="TextBox 10"/>
          <p:cNvSpPr txBox="1"/>
          <p:nvPr/>
        </p:nvSpPr>
        <p:spPr>
          <a:xfrm>
            <a:off x="612648" y="3968496"/>
            <a:ext cx="3063240" cy="841248"/>
          </a:xfrm>
          <a:prstGeom prst="rect">
            <a:avLst/>
          </a:prstGeom>
          <a:noFill/>
        </p:spPr>
        <p:txBody>
          <a:bodyPr wrap="square">
            <a:normAutofit/>
          </a:bodyPr>
          <a:lstStyle/>
          <a:p>
            <a:r>
              <a:rPr sz="960" b="0">
                <a:solidFill>
                  <a:srgbClr val="232B37"/>
                </a:solidFill>
                <a:latin typeface="Aptos"/>
              </a:rPr>
              <a:t>risk-based vulnerability assessment: no explicit scoring formula found in the located excerpt</a:t>
            </a:r>
          </a:p>
        </p:txBody>
      </p:sp>
      <p:sp>
        <p:nvSpPr>
          <p:cNvPr id="12" name="TextBox 11"/>
          <p:cNvSpPr txBox="1"/>
          <p:nvPr/>
        </p:nvSpPr>
        <p:spPr>
          <a:xfrm>
            <a:off x="612648" y="4983480"/>
            <a:ext cx="3063240" cy="347472"/>
          </a:xfrm>
          <a:prstGeom prst="rect">
            <a:avLst/>
          </a:prstGeom>
          <a:noFill/>
        </p:spPr>
        <p:txBody>
          <a:bodyPr wrap="square">
            <a:normAutofit/>
          </a:bodyPr>
          <a:lstStyle/>
          <a:p>
            <a:r>
              <a:rPr sz="750" b="0">
                <a:solidFill>
                  <a:srgbClr val="55606E"/>
                </a:solidFill>
                <a:latin typeface="Aptos"/>
              </a:rPr>
              <a:t>See original excerpt on the right for scoring table, matrix, or assessment language.</a:t>
            </a:r>
          </a:p>
        </p:txBody>
      </p:sp>
      <p:sp>
        <p:nvSpPr>
          <p:cNvPr id="13" name="TextBox 12"/>
          <p:cNvSpPr txBox="1"/>
          <p:nvPr/>
        </p:nvSpPr>
        <p:spPr>
          <a:xfrm>
            <a:off x="4096512" y="1078992"/>
            <a:ext cx="3840480" cy="201168"/>
          </a:xfrm>
          <a:prstGeom prst="rect">
            <a:avLst/>
          </a:prstGeom>
          <a:noFill/>
        </p:spPr>
        <p:txBody>
          <a:bodyPr wrap="square">
            <a:normAutofit/>
          </a:bodyPr>
          <a:lstStyle/>
          <a:p>
            <a:r>
              <a:rPr sz="900" b="1">
                <a:solidFill>
                  <a:srgbClr val="12202F"/>
                </a:solidFill>
                <a:latin typeface="Aptos"/>
              </a:rPr>
              <a:t>Original PDF excerpt: definition</a:t>
            </a:r>
          </a:p>
        </p:txBody>
      </p:sp>
      <p:pic>
        <p:nvPicPr>
          <p:cNvPr id="14" name="Picture 13" descr="VT_VTrans_RIP_Process_2023_definition.png"/>
          <p:cNvPicPr>
            <a:picLocks noChangeAspect="1"/>
          </p:cNvPicPr>
          <p:nvPr/>
        </p:nvPicPr>
        <p:blipFill>
          <a:blip r:embed="rId2"/>
          <a:stretch>
            <a:fillRect/>
          </a:stretch>
        </p:blipFill>
        <p:spPr>
          <a:xfrm>
            <a:off x="6133592" y="1325880"/>
            <a:ext cx="3332479" cy="1874519"/>
          </a:xfrm>
          <a:prstGeom prst="rect">
            <a:avLst/>
          </a:prstGeom>
        </p:spPr>
      </p:pic>
      <p:sp>
        <p:nvSpPr>
          <p:cNvPr id="15" name="TextBox 14"/>
          <p:cNvSpPr txBox="1"/>
          <p:nvPr/>
        </p:nvSpPr>
        <p:spPr>
          <a:xfrm>
            <a:off x="4096512" y="3438144"/>
            <a:ext cx="3840480" cy="201168"/>
          </a:xfrm>
          <a:prstGeom prst="rect">
            <a:avLst/>
          </a:prstGeom>
          <a:noFill/>
        </p:spPr>
        <p:txBody>
          <a:bodyPr wrap="square">
            <a:normAutofit/>
          </a:bodyPr>
          <a:lstStyle/>
          <a:p>
            <a:r>
              <a:rPr sz="900" b="1">
                <a:solidFill>
                  <a:srgbClr val="12202F"/>
                </a:solidFill>
                <a:latin typeface="Aptos"/>
              </a:rPr>
              <a:t>Original PDF excerpt: risk scoring / assessment</a:t>
            </a:r>
          </a:p>
        </p:txBody>
      </p:sp>
      <p:pic>
        <p:nvPicPr>
          <p:cNvPr id="16" name="Picture 15" descr="VT_VTrans_RIP_Process_2023_definition.png"/>
          <p:cNvPicPr>
            <a:picLocks noChangeAspect="1"/>
          </p:cNvPicPr>
          <p:nvPr/>
        </p:nvPicPr>
        <p:blipFill>
          <a:blip r:embed="rId2"/>
          <a:stretch>
            <a:fillRect/>
          </a:stretch>
        </p:blipFill>
        <p:spPr>
          <a:xfrm>
            <a:off x="6133592" y="3685032"/>
            <a:ext cx="3332479" cy="1874519"/>
          </a:xfrm>
          <a:prstGeom prst="rect">
            <a:avLst/>
          </a:prstGeom>
        </p:spPr>
      </p:pic>
      <p:sp>
        <p:nvSpPr>
          <p:cNvPr id="17" name="TextBox 16"/>
          <p:cNvSpPr txBox="1"/>
          <p:nvPr/>
        </p:nvSpPr>
        <p:spPr>
          <a:xfrm>
            <a:off x="411480" y="6327648"/>
            <a:ext cx="11201400" cy="219456"/>
          </a:xfrm>
          <a:prstGeom prst="rect">
            <a:avLst/>
          </a:prstGeom>
          <a:noFill/>
        </p:spPr>
        <p:txBody>
          <a:bodyPr wrap="square">
            <a:normAutofit/>
          </a:bodyPr>
          <a:lstStyle/>
          <a:p>
            <a:r>
              <a:rPr sz="580" b="0">
                <a:solidFill>
                  <a:srgbClr val="55606E"/>
                </a:solidFill>
                <a:latin typeface="Aptos"/>
              </a:rPr>
              <a:t>Source: VT_VTrans_RIP_Process_2023.pdf; definition p.1, risk p.1; URL: https://www.erm-portal.com/wp-content/uploads/sites/15/2023/03/2023-03-06-Vermont-RIP-Process-to-FHWA-VT-d6f8550d06fc4be24e33ab32ad4da7bd-1.pdf</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Source Appendix</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Downloaded PDFs used in the deck.</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78992"/>
            <a:ext cx="502920" cy="146304"/>
          </a:xfrm>
          <a:prstGeom prst="rect">
            <a:avLst/>
          </a:prstGeom>
          <a:noFill/>
        </p:spPr>
        <p:txBody>
          <a:bodyPr wrap="square">
            <a:normAutofit/>
          </a:bodyPr>
          <a:lstStyle/>
          <a:p>
            <a:r>
              <a:rPr sz="680" b="1">
                <a:solidFill>
                  <a:srgbClr val="1F6FEB"/>
                </a:solidFill>
                <a:latin typeface="Aptos"/>
              </a:rPr>
              <a:t>CA</a:t>
            </a:r>
          </a:p>
        </p:txBody>
      </p:sp>
      <p:sp>
        <p:nvSpPr>
          <p:cNvPr id="6" name="TextBox 5"/>
          <p:cNvSpPr txBox="1"/>
          <p:nvPr/>
        </p:nvSpPr>
        <p:spPr>
          <a:xfrm>
            <a:off x="1005840" y="1078992"/>
            <a:ext cx="3886200" cy="146304"/>
          </a:xfrm>
          <a:prstGeom prst="rect">
            <a:avLst/>
          </a:prstGeom>
          <a:noFill/>
        </p:spPr>
        <p:txBody>
          <a:bodyPr wrap="square">
            <a:normAutofit/>
          </a:bodyPr>
          <a:lstStyle/>
          <a:p>
            <a:r>
              <a:rPr sz="580" b="0">
                <a:solidFill>
                  <a:srgbClr val="232B37"/>
                </a:solidFill>
                <a:latin typeface="Aptos"/>
              </a:rPr>
              <a:t>CA_Caltrans_SCRIPT_RIP_2023_Amendment1.pdf</a:t>
            </a:r>
          </a:p>
        </p:txBody>
      </p:sp>
      <p:sp>
        <p:nvSpPr>
          <p:cNvPr id="7" name="TextBox 6"/>
          <p:cNvSpPr txBox="1"/>
          <p:nvPr/>
        </p:nvSpPr>
        <p:spPr>
          <a:xfrm>
            <a:off x="4983480" y="1078992"/>
            <a:ext cx="6583680" cy="146304"/>
          </a:xfrm>
          <a:prstGeom prst="rect">
            <a:avLst/>
          </a:prstGeom>
          <a:noFill/>
        </p:spPr>
        <p:txBody>
          <a:bodyPr wrap="square">
            <a:normAutofit/>
          </a:bodyPr>
          <a:lstStyle/>
          <a:p>
            <a:r>
              <a:rPr sz="520" b="0">
                <a:solidFill>
                  <a:srgbClr val="55606E"/>
                </a:solidFill>
                <a:latin typeface="Aptos"/>
              </a:rPr>
              <a:t>https://dot.ca.gov/-/media/dot-media/programs/transportation-planning/documents/office-of-smart-mobility-and-climate-change/2023-script-amendment</a:t>
            </a:r>
          </a:p>
        </p:txBody>
      </p:sp>
      <p:sp>
        <p:nvSpPr>
          <p:cNvPr id="8" name="TextBox 7"/>
          <p:cNvSpPr txBox="1"/>
          <p:nvPr/>
        </p:nvSpPr>
        <p:spPr>
          <a:xfrm>
            <a:off x="502920" y="1344168"/>
            <a:ext cx="502920" cy="146304"/>
          </a:xfrm>
          <a:prstGeom prst="rect">
            <a:avLst/>
          </a:prstGeom>
          <a:noFill/>
        </p:spPr>
        <p:txBody>
          <a:bodyPr wrap="square">
            <a:normAutofit/>
          </a:bodyPr>
          <a:lstStyle/>
          <a:p>
            <a:r>
              <a:rPr sz="680" b="1">
                <a:solidFill>
                  <a:srgbClr val="1F6FEB"/>
                </a:solidFill>
                <a:latin typeface="Aptos"/>
              </a:rPr>
              <a:t>CO</a:t>
            </a:r>
          </a:p>
        </p:txBody>
      </p:sp>
      <p:sp>
        <p:nvSpPr>
          <p:cNvPr id="9" name="TextBox 8"/>
          <p:cNvSpPr txBox="1"/>
          <p:nvPr/>
        </p:nvSpPr>
        <p:spPr>
          <a:xfrm>
            <a:off x="1005840" y="1344168"/>
            <a:ext cx="3886200" cy="146304"/>
          </a:xfrm>
          <a:prstGeom prst="rect">
            <a:avLst/>
          </a:prstGeom>
          <a:noFill/>
        </p:spPr>
        <p:txBody>
          <a:bodyPr wrap="square">
            <a:normAutofit/>
          </a:bodyPr>
          <a:lstStyle/>
          <a:p>
            <a:r>
              <a:rPr sz="580" b="0">
                <a:solidFill>
                  <a:srgbClr val="232B37"/>
                </a:solidFill>
                <a:latin typeface="Aptos"/>
              </a:rPr>
              <a:t>CO_CDOT_Resilience_Improvement_Plan.pdf</a:t>
            </a:r>
          </a:p>
        </p:txBody>
      </p:sp>
      <p:sp>
        <p:nvSpPr>
          <p:cNvPr id="10" name="TextBox 9"/>
          <p:cNvSpPr txBox="1"/>
          <p:nvPr/>
        </p:nvSpPr>
        <p:spPr>
          <a:xfrm>
            <a:off x="4983480" y="1344168"/>
            <a:ext cx="6583680" cy="146304"/>
          </a:xfrm>
          <a:prstGeom prst="rect">
            <a:avLst/>
          </a:prstGeom>
          <a:noFill/>
        </p:spPr>
        <p:txBody>
          <a:bodyPr wrap="square">
            <a:normAutofit/>
          </a:bodyPr>
          <a:lstStyle/>
          <a:p>
            <a:r>
              <a:rPr sz="520" b="0">
                <a:solidFill>
                  <a:srgbClr val="55606E"/>
                </a:solidFill>
                <a:latin typeface="Aptos"/>
              </a:rPr>
              <a:t>https://www.tam-portal.com/wp-content/uploads/sites/12/2025/07/cdot-resilience-improvement-plan-final-02-10-2025.pdf</a:t>
            </a:r>
          </a:p>
        </p:txBody>
      </p:sp>
      <p:sp>
        <p:nvSpPr>
          <p:cNvPr id="11" name="TextBox 10"/>
          <p:cNvSpPr txBox="1"/>
          <p:nvPr/>
        </p:nvSpPr>
        <p:spPr>
          <a:xfrm>
            <a:off x="502920" y="1609344"/>
            <a:ext cx="502920" cy="146304"/>
          </a:xfrm>
          <a:prstGeom prst="rect">
            <a:avLst/>
          </a:prstGeom>
          <a:noFill/>
        </p:spPr>
        <p:txBody>
          <a:bodyPr wrap="square">
            <a:normAutofit/>
          </a:bodyPr>
          <a:lstStyle/>
          <a:p>
            <a:r>
              <a:rPr sz="680" b="1">
                <a:solidFill>
                  <a:srgbClr val="1F6FEB"/>
                </a:solidFill>
                <a:latin typeface="Aptos"/>
              </a:rPr>
              <a:t>CT</a:t>
            </a:r>
          </a:p>
        </p:txBody>
      </p:sp>
      <p:sp>
        <p:nvSpPr>
          <p:cNvPr id="12" name="TextBox 11"/>
          <p:cNvSpPr txBox="1"/>
          <p:nvPr/>
        </p:nvSpPr>
        <p:spPr>
          <a:xfrm>
            <a:off x="1005840" y="1609344"/>
            <a:ext cx="3886200" cy="146304"/>
          </a:xfrm>
          <a:prstGeom prst="rect">
            <a:avLst/>
          </a:prstGeom>
          <a:noFill/>
        </p:spPr>
        <p:txBody>
          <a:bodyPr wrap="square">
            <a:normAutofit/>
          </a:bodyPr>
          <a:lstStyle/>
          <a:p>
            <a:r>
              <a:rPr sz="580" b="0">
                <a:solidFill>
                  <a:srgbClr val="232B37"/>
                </a:solidFill>
                <a:latin typeface="Aptos"/>
              </a:rPr>
              <a:t>CT_CTDOT_Resilience_Improvement_Plan.pdf</a:t>
            </a:r>
          </a:p>
        </p:txBody>
      </p:sp>
      <p:sp>
        <p:nvSpPr>
          <p:cNvPr id="13" name="TextBox 12"/>
          <p:cNvSpPr txBox="1"/>
          <p:nvPr/>
        </p:nvSpPr>
        <p:spPr>
          <a:xfrm>
            <a:off x="4983480" y="1609344"/>
            <a:ext cx="6583680" cy="146304"/>
          </a:xfrm>
          <a:prstGeom prst="rect">
            <a:avLst/>
          </a:prstGeom>
          <a:noFill/>
        </p:spPr>
        <p:txBody>
          <a:bodyPr wrap="square">
            <a:normAutofit/>
          </a:bodyPr>
          <a:lstStyle/>
          <a:p>
            <a:r>
              <a:rPr sz="520" b="0">
                <a:solidFill>
                  <a:srgbClr val="55606E"/>
                </a:solidFill>
                <a:latin typeface="Aptos"/>
              </a:rPr>
              <a:t>https://portal.ct.gov/dot/-/media/dot/programs/rip/ctdot-resilience-improvement-plan.pdf</a:t>
            </a:r>
          </a:p>
        </p:txBody>
      </p:sp>
      <p:sp>
        <p:nvSpPr>
          <p:cNvPr id="14" name="TextBox 13"/>
          <p:cNvSpPr txBox="1"/>
          <p:nvPr/>
        </p:nvSpPr>
        <p:spPr>
          <a:xfrm>
            <a:off x="502920" y="1874519"/>
            <a:ext cx="502920" cy="146304"/>
          </a:xfrm>
          <a:prstGeom prst="rect">
            <a:avLst/>
          </a:prstGeom>
          <a:noFill/>
        </p:spPr>
        <p:txBody>
          <a:bodyPr wrap="square">
            <a:normAutofit/>
          </a:bodyPr>
          <a:lstStyle/>
          <a:p>
            <a:r>
              <a:rPr sz="680" b="1">
                <a:solidFill>
                  <a:srgbClr val="1F6FEB"/>
                </a:solidFill>
                <a:latin typeface="Aptos"/>
              </a:rPr>
              <a:t>DE</a:t>
            </a:r>
          </a:p>
        </p:txBody>
      </p:sp>
      <p:sp>
        <p:nvSpPr>
          <p:cNvPr id="15" name="TextBox 14"/>
          <p:cNvSpPr txBox="1"/>
          <p:nvPr/>
        </p:nvSpPr>
        <p:spPr>
          <a:xfrm>
            <a:off x="1005840" y="1874519"/>
            <a:ext cx="3886200" cy="146304"/>
          </a:xfrm>
          <a:prstGeom prst="rect">
            <a:avLst/>
          </a:prstGeom>
          <a:noFill/>
        </p:spPr>
        <p:txBody>
          <a:bodyPr wrap="square">
            <a:normAutofit/>
          </a:bodyPr>
          <a:lstStyle/>
          <a:p>
            <a:r>
              <a:rPr sz="580" b="0">
                <a:solidFill>
                  <a:srgbClr val="232B37"/>
                </a:solidFill>
                <a:latin typeface="Aptos"/>
              </a:rPr>
              <a:t>DE_DelDOT_DRIP_FHWA_Approved_2023.pdf</a:t>
            </a:r>
          </a:p>
        </p:txBody>
      </p:sp>
      <p:sp>
        <p:nvSpPr>
          <p:cNvPr id="16" name="TextBox 15"/>
          <p:cNvSpPr txBox="1"/>
          <p:nvPr/>
        </p:nvSpPr>
        <p:spPr>
          <a:xfrm>
            <a:off x="4983480" y="1874519"/>
            <a:ext cx="6583680" cy="146304"/>
          </a:xfrm>
          <a:prstGeom prst="rect">
            <a:avLst/>
          </a:prstGeom>
          <a:noFill/>
        </p:spPr>
        <p:txBody>
          <a:bodyPr wrap="square">
            <a:normAutofit/>
          </a:bodyPr>
          <a:lstStyle/>
          <a:p>
            <a:r>
              <a:rPr sz="520" b="0">
                <a:solidFill>
                  <a:srgbClr val="55606E"/>
                </a:solidFill>
                <a:latin typeface="Aptos"/>
              </a:rPr>
              <a:t>https://www.erm-portal.com/wp-content/uploads/sites/15/wpforms/7075-e1233af55e4247e91b2324b29a729bf8/DelDOT-DRIP-FHWA-Approved-09.07.23-a120b9904</a:t>
            </a:r>
          </a:p>
        </p:txBody>
      </p:sp>
      <p:sp>
        <p:nvSpPr>
          <p:cNvPr id="17" name="TextBox 16"/>
          <p:cNvSpPr txBox="1"/>
          <p:nvPr/>
        </p:nvSpPr>
        <p:spPr>
          <a:xfrm>
            <a:off x="502920" y="2139696"/>
            <a:ext cx="502920" cy="146304"/>
          </a:xfrm>
          <a:prstGeom prst="rect">
            <a:avLst/>
          </a:prstGeom>
          <a:noFill/>
        </p:spPr>
        <p:txBody>
          <a:bodyPr wrap="square">
            <a:normAutofit/>
          </a:bodyPr>
          <a:lstStyle/>
          <a:p>
            <a:r>
              <a:rPr sz="680" b="1">
                <a:solidFill>
                  <a:srgbClr val="1F6FEB"/>
                </a:solidFill>
                <a:latin typeface="Aptos"/>
              </a:rPr>
              <a:t>FL</a:t>
            </a:r>
          </a:p>
        </p:txBody>
      </p:sp>
      <p:sp>
        <p:nvSpPr>
          <p:cNvPr id="18" name="TextBox 17"/>
          <p:cNvSpPr txBox="1"/>
          <p:nvPr/>
        </p:nvSpPr>
        <p:spPr>
          <a:xfrm>
            <a:off x="1005840" y="2139696"/>
            <a:ext cx="3886200" cy="146304"/>
          </a:xfrm>
          <a:prstGeom prst="rect">
            <a:avLst/>
          </a:prstGeom>
          <a:noFill/>
        </p:spPr>
        <p:txBody>
          <a:bodyPr wrap="square">
            <a:normAutofit/>
          </a:bodyPr>
          <a:lstStyle/>
          <a:p>
            <a:r>
              <a:rPr sz="580" b="0">
                <a:solidFill>
                  <a:srgbClr val="232B37"/>
                </a:solidFill>
                <a:latin typeface="Aptos"/>
              </a:rPr>
              <a:t>FL_FDOT_RIP_CEP_Final.pdf</a:t>
            </a:r>
          </a:p>
        </p:txBody>
      </p:sp>
      <p:sp>
        <p:nvSpPr>
          <p:cNvPr id="19" name="TextBox 18"/>
          <p:cNvSpPr txBox="1"/>
          <p:nvPr/>
        </p:nvSpPr>
        <p:spPr>
          <a:xfrm>
            <a:off x="4983480" y="2139696"/>
            <a:ext cx="6583680" cy="146304"/>
          </a:xfrm>
          <a:prstGeom prst="rect">
            <a:avLst/>
          </a:prstGeom>
          <a:noFill/>
        </p:spPr>
        <p:txBody>
          <a:bodyPr wrap="square">
            <a:normAutofit/>
          </a:bodyPr>
          <a:lstStyle/>
          <a:p>
            <a:r>
              <a:rPr sz="520" b="0">
                <a:solidFill>
                  <a:srgbClr val="55606E"/>
                </a:solidFill>
                <a:latin typeface="Aptos"/>
              </a:rPr>
              <a:t>https://fdotwww.blob.core.windows.net/sitefinity/docs/default-source/planning/resilience-(opp)/resilience-improvement-plan/rip_cep_final.pdf?sfvr</a:t>
            </a:r>
          </a:p>
        </p:txBody>
      </p:sp>
      <p:sp>
        <p:nvSpPr>
          <p:cNvPr id="20" name="TextBox 19"/>
          <p:cNvSpPr txBox="1"/>
          <p:nvPr/>
        </p:nvSpPr>
        <p:spPr>
          <a:xfrm>
            <a:off x="502920" y="2404872"/>
            <a:ext cx="502920" cy="146304"/>
          </a:xfrm>
          <a:prstGeom prst="rect">
            <a:avLst/>
          </a:prstGeom>
          <a:noFill/>
        </p:spPr>
        <p:txBody>
          <a:bodyPr wrap="square">
            <a:normAutofit/>
          </a:bodyPr>
          <a:lstStyle/>
          <a:p>
            <a:r>
              <a:rPr sz="680" b="1">
                <a:solidFill>
                  <a:srgbClr val="1F6FEB"/>
                </a:solidFill>
                <a:latin typeface="Aptos"/>
              </a:rPr>
              <a:t>IA</a:t>
            </a:r>
          </a:p>
        </p:txBody>
      </p:sp>
      <p:sp>
        <p:nvSpPr>
          <p:cNvPr id="21" name="TextBox 20"/>
          <p:cNvSpPr txBox="1"/>
          <p:nvPr/>
        </p:nvSpPr>
        <p:spPr>
          <a:xfrm>
            <a:off x="1005840" y="2404872"/>
            <a:ext cx="3886200" cy="146304"/>
          </a:xfrm>
          <a:prstGeom prst="rect">
            <a:avLst/>
          </a:prstGeom>
          <a:noFill/>
        </p:spPr>
        <p:txBody>
          <a:bodyPr wrap="square">
            <a:normAutofit/>
          </a:bodyPr>
          <a:lstStyle/>
          <a:p>
            <a:r>
              <a:rPr sz="580" b="0">
                <a:solidFill>
                  <a:srgbClr val="232B37"/>
                </a:solidFill>
                <a:latin typeface="Aptos"/>
              </a:rPr>
              <a:t>IA_IowaDOT_2024_Resilience_Improvement_Plan.pdf</a:t>
            </a:r>
          </a:p>
        </p:txBody>
      </p:sp>
      <p:sp>
        <p:nvSpPr>
          <p:cNvPr id="22" name="TextBox 21"/>
          <p:cNvSpPr txBox="1"/>
          <p:nvPr/>
        </p:nvSpPr>
        <p:spPr>
          <a:xfrm>
            <a:off x="4983480" y="2404872"/>
            <a:ext cx="6583680" cy="146304"/>
          </a:xfrm>
          <a:prstGeom prst="rect">
            <a:avLst/>
          </a:prstGeom>
          <a:noFill/>
        </p:spPr>
        <p:txBody>
          <a:bodyPr wrap="square">
            <a:normAutofit/>
          </a:bodyPr>
          <a:lstStyle/>
          <a:p>
            <a:r>
              <a:rPr sz="520" b="0">
                <a:solidFill>
                  <a:srgbClr val="55606E"/>
                </a:solidFill>
                <a:latin typeface="Aptos"/>
              </a:rPr>
              <a:t>https://iowadot.gov/media/2596/download?inline=</a:t>
            </a:r>
          </a:p>
        </p:txBody>
      </p:sp>
      <p:sp>
        <p:nvSpPr>
          <p:cNvPr id="23" name="TextBox 22"/>
          <p:cNvSpPr txBox="1"/>
          <p:nvPr/>
        </p:nvSpPr>
        <p:spPr>
          <a:xfrm>
            <a:off x="502920" y="2670048"/>
            <a:ext cx="502920" cy="146304"/>
          </a:xfrm>
          <a:prstGeom prst="rect">
            <a:avLst/>
          </a:prstGeom>
          <a:noFill/>
        </p:spPr>
        <p:txBody>
          <a:bodyPr wrap="square">
            <a:normAutofit/>
          </a:bodyPr>
          <a:lstStyle/>
          <a:p>
            <a:r>
              <a:rPr sz="680" b="1">
                <a:solidFill>
                  <a:srgbClr val="1F6FEB"/>
                </a:solidFill>
                <a:latin typeface="Aptos"/>
              </a:rPr>
              <a:t>KY</a:t>
            </a:r>
          </a:p>
        </p:txBody>
      </p:sp>
      <p:sp>
        <p:nvSpPr>
          <p:cNvPr id="24" name="TextBox 23"/>
          <p:cNvSpPr txBox="1"/>
          <p:nvPr/>
        </p:nvSpPr>
        <p:spPr>
          <a:xfrm>
            <a:off x="1005840" y="2670048"/>
            <a:ext cx="3886200" cy="146304"/>
          </a:xfrm>
          <a:prstGeom prst="rect">
            <a:avLst/>
          </a:prstGeom>
          <a:noFill/>
        </p:spPr>
        <p:txBody>
          <a:bodyPr wrap="square">
            <a:normAutofit/>
          </a:bodyPr>
          <a:lstStyle/>
          <a:p>
            <a:r>
              <a:rPr sz="580" b="0">
                <a:solidFill>
                  <a:srgbClr val="232B37"/>
                </a:solidFill>
                <a:latin typeface="Aptos"/>
              </a:rPr>
              <a:t>KY_KYTC_Resiliency_Improvement_Plan_2023.pdf</a:t>
            </a:r>
          </a:p>
        </p:txBody>
      </p:sp>
      <p:sp>
        <p:nvSpPr>
          <p:cNvPr id="25" name="TextBox 24"/>
          <p:cNvSpPr txBox="1"/>
          <p:nvPr/>
        </p:nvSpPr>
        <p:spPr>
          <a:xfrm>
            <a:off x="4983480" y="2670048"/>
            <a:ext cx="6583680" cy="146304"/>
          </a:xfrm>
          <a:prstGeom prst="rect">
            <a:avLst/>
          </a:prstGeom>
          <a:noFill/>
        </p:spPr>
        <p:txBody>
          <a:bodyPr wrap="square">
            <a:normAutofit/>
          </a:bodyPr>
          <a:lstStyle/>
          <a:p>
            <a:r>
              <a:rPr sz="520" b="0">
                <a:solidFill>
                  <a:srgbClr val="55606E"/>
                </a:solidFill>
                <a:latin typeface="Aptos"/>
              </a:rPr>
              <a:t>https://www.erm-portal.com/wp-content/uploads/sites/15/2024/08/KYTC-Resiliency-Improvement-Plan-202306-bfe355f2a24c9e7591e4146a5b7226e1.pdf</a:t>
            </a:r>
          </a:p>
        </p:txBody>
      </p:sp>
      <p:sp>
        <p:nvSpPr>
          <p:cNvPr id="26" name="TextBox 25"/>
          <p:cNvSpPr txBox="1"/>
          <p:nvPr/>
        </p:nvSpPr>
        <p:spPr>
          <a:xfrm>
            <a:off x="502920" y="2935224"/>
            <a:ext cx="502920" cy="146304"/>
          </a:xfrm>
          <a:prstGeom prst="rect">
            <a:avLst/>
          </a:prstGeom>
          <a:noFill/>
        </p:spPr>
        <p:txBody>
          <a:bodyPr wrap="square">
            <a:normAutofit/>
          </a:bodyPr>
          <a:lstStyle/>
          <a:p>
            <a:r>
              <a:rPr sz="680" b="1">
                <a:solidFill>
                  <a:srgbClr val="1F6FEB"/>
                </a:solidFill>
                <a:latin typeface="Aptos"/>
              </a:rPr>
              <a:t>MD</a:t>
            </a:r>
          </a:p>
        </p:txBody>
      </p:sp>
      <p:sp>
        <p:nvSpPr>
          <p:cNvPr id="27" name="TextBox 26"/>
          <p:cNvSpPr txBox="1"/>
          <p:nvPr/>
        </p:nvSpPr>
        <p:spPr>
          <a:xfrm>
            <a:off x="1005840" y="2935224"/>
            <a:ext cx="3886200" cy="146304"/>
          </a:xfrm>
          <a:prstGeom prst="rect">
            <a:avLst/>
          </a:prstGeom>
          <a:noFill/>
        </p:spPr>
        <p:txBody>
          <a:bodyPr wrap="square">
            <a:normAutofit/>
          </a:bodyPr>
          <a:lstStyle/>
          <a:p>
            <a:r>
              <a:rPr sz="580" b="0">
                <a:solidFill>
                  <a:srgbClr val="232B37"/>
                </a:solidFill>
                <a:latin typeface="Aptos"/>
              </a:rPr>
              <a:t>MD_MDOT_Transportation_Resilience_Improvement_Plan_2024.pdf</a:t>
            </a:r>
          </a:p>
        </p:txBody>
      </p:sp>
      <p:sp>
        <p:nvSpPr>
          <p:cNvPr id="28" name="TextBox 27"/>
          <p:cNvSpPr txBox="1"/>
          <p:nvPr/>
        </p:nvSpPr>
        <p:spPr>
          <a:xfrm>
            <a:off x="4983480" y="2935224"/>
            <a:ext cx="6583680" cy="146304"/>
          </a:xfrm>
          <a:prstGeom prst="rect">
            <a:avLst/>
          </a:prstGeom>
          <a:noFill/>
        </p:spPr>
        <p:txBody>
          <a:bodyPr wrap="square">
            <a:normAutofit/>
          </a:bodyPr>
          <a:lstStyle/>
          <a:p>
            <a:r>
              <a:rPr sz="520" b="0">
                <a:solidFill>
                  <a:srgbClr val="55606E"/>
                </a:solidFill>
                <a:latin typeface="Aptos"/>
              </a:rPr>
              <a:t>https://www.mdot.maryland.gov/OPCP/MDOT_TRIP_Report_2024_Final.pdf</a:t>
            </a:r>
          </a:p>
        </p:txBody>
      </p:sp>
      <p:sp>
        <p:nvSpPr>
          <p:cNvPr id="29" name="TextBox 28"/>
          <p:cNvSpPr txBox="1"/>
          <p:nvPr/>
        </p:nvSpPr>
        <p:spPr>
          <a:xfrm>
            <a:off x="502920" y="3200400"/>
            <a:ext cx="502920" cy="146304"/>
          </a:xfrm>
          <a:prstGeom prst="rect">
            <a:avLst/>
          </a:prstGeom>
          <a:noFill/>
        </p:spPr>
        <p:txBody>
          <a:bodyPr wrap="square">
            <a:normAutofit/>
          </a:bodyPr>
          <a:lstStyle/>
          <a:p>
            <a:r>
              <a:rPr sz="680" b="1">
                <a:solidFill>
                  <a:srgbClr val="1F6FEB"/>
                </a:solidFill>
                <a:latin typeface="Aptos"/>
              </a:rPr>
              <a:t>MI</a:t>
            </a:r>
          </a:p>
        </p:txBody>
      </p:sp>
      <p:sp>
        <p:nvSpPr>
          <p:cNvPr id="30" name="TextBox 29"/>
          <p:cNvSpPr txBox="1"/>
          <p:nvPr/>
        </p:nvSpPr>
        <p:spPr>
          <a:xfrm>
            <a:off x="1005840" y="3200400"/>
            <a:ext cx="3886200" cy="146304"/>
          </a:xfrm>
          <a:prstGeom prst="rect">
            <a:avLst/>
          </a:prstGeom>
          <a:noFill/>
        </p:spPr>
        <p:txBody>
          <a:bodyPr wrap="square">
            <a:normAutofit/>
          </a:bodyPr>
          <a:lstStyle/>
          <a:p>
            <a:r>
              <a:rPr sz="580" b="0">
                <a:solidFill>
                  <a:srgbClr val="232B37"/>
                </a:solidFill>
                <a:latin typeface="Aptos"/>
              </a:rPr>
              <a:t>MI_MDOT_Resilience_Improvement_Plan_2024.pdf</a:t>
            </a:r>
          </a:p>
        </p:txBody>
      </p:sp>
      <p:sp>
        <p:nvSpPr>
          <p:cNvPr id="31" name="TextBox 30"/>
          <p:cNvSpPr txBox="1"/>
          <p:nvPr/>
        </p:nvSpPr>
        <p:spPr>
          <a:xfrm>
            <a:off x="4983480" y="3200400"/>
            <a:ext cx="6583680" cy="146304"/>
          </a:xfrm>
          <a:prstGeom prst="rect">
            <a:avLst/>
          </a:prstGeom>
          <a:noFill/>
        </p:spPr>
        <p:txBody>
          <a:bodyPr wrap="square">
            <a:normAutofit/>
          </a:bodyPr>
          <a:lstStyle/>
          <a:p>
            <a:r>
              <a:rPr sz="520" b="0">
                <a:solidFill>
                  <a:srgbClr val="55606E"/>
                </a:solidFill>
                <a:latin typeface="Aptos"/>
              </a:rPr>
              <a:t>https://www.michigan.gov/mdot/-/media/Project/Websites/MDOT/Programs/Planning/Resilience-Improvement-Plan/Plan.pdf</a:t>
            </a:r>
          </a:p>
        </p:txBody>
      </p:sp>
      <p:sp>
        <p:nvSpPr>
          <p:cNvPr id="32" name="TextBox 31"/>
          <p:cNvSpPr txBox="1"/>
          <p:nvPr/>
        </p:nvSpPr>
        <p:spPr>
          <a:xfrm>
            <a:off x="502920" y="3465576"/>
            <a:ext cx="502920" cy="146304"/>
          </a:xfrm>
          <a:prstGeom prst="rect">
            <a:avLst/>
          </a:prstGeom>
          <a:noFill/>
        </p:spPr>
        <p:txBody>
          <a:bodyPr wrap="square">
            <a:normAutofit/>
          </a:bodyPr>
          <a:lstStyle/>
          <a:p>
            <a:r>
              <a:rPr sz="680" b="1">
                <a:solidFill>
                  <a:srgbClr val="1F6FEB"/>
                </a:solidFill>
                <a:latin typeface="Aptos"/>
              </a:rPr>
              <a:t>MN</a:t>
            </a:r>
          </a:p>
        </p:txBody>
      </p:sp>
      <p:sp>
        <p:nvSpPr>
          <p:cNvPr id="33" name="TextBox 32"/>
          <p:cNvSpPr txBox="1"/>
          <p:nvPr/>
        </p:nvSpPr>
        <p:spPr>
          <a:xfrm>
            <a:off x="1005840" y="3465576"/>
            <a:ext cx="3886200" cy="146304"/>
          </a:xfrm>
          <a:prstGeom prst="rect">
            <a:avLst/>
          </a:prstGeom>
          <a:noFill/>
        </p:spPr>
        <p:txBody>
          <a:bodyPr wrap="square">
            <a:normAutofit/>
          </a:bodyPr>
          <a:lstStyle/>
          <a:p>
            <a:r>
              <a:rPr sz="580" b="0">
                <a:solidFill>
                  <a:srgbClr val="232B37"/>
                </a:solidFill>
                <a:latin typeface="Aptos"/>
              </a:rPr>
              <a:t>MN_MnDOT_Resilience_Improvement_Plan_2024.pdf</a:t>
            </a:r>
          </a:p>
        </p:txBody>
      </p:sp>
      <p:sp>
        <p:nvSpPr>
          <p:cNvPr id="34" name="TextBox 33"/>
          <p:cNvSpPr txBox="1"/>
          <p:nvPr/>
        </p:nvSpPr>
        <p:spPr>
          <a:xfrm>
            <a:off x="4983480" y="3465576"/>
            <a:ext cx="6583680" cy="146304"/>
          </a:xfrm>
          <a:prstGeom prst="rect">
            <a:avLst/>
          </a:prstGeom>
          <a:noFill/>
        </p:spPr>
        <p:txBody>
          <a:bodyPr wrap="square">
            <a:normAutofit/>
          </a:bodyPr>
          <a:lstStyle/>
          <a:p>
            <a:r>
              <a:rPr sz="520" b="0">
                <a:solidFill>
                  <a:srgbClr val="55606E"/>
                </a:solidFill>
                <a:latin typeface="Aptos"/>
              </a:rPr>
              <a:t>https://www.tam-portal.com/wp-content/uploads/sites/12/2025/07/2024-Resilience-Improvement-Plan-ADA-FINAL-38633998-v2.pdf</a:t>
            </a:r>
          </a:p>
        </p:txBody>
      </p:sp>
      <p:sp>
        <p:nvSpPr>
          <p:cNvPr id="35" name="TextBox 34"/>
          <p:cNvSpPr txBox="1"/>
          <p:nvPr/>
        </p:nvSpPr>
        <p:spPr>
          <a:xfrm>
            <a:off x="502920" y="3730752"/>
            <a:ext cx="502920" cy="146304"/>
          </a:xfrm>
          <a:prstGeom prst="rect">
            <a:avLst/>
          </a:prstGeom>
          <a:noFill/>
        </p:spPr>
        <p:txBody>
          <a:bodyPr wrap="square">
            <a:normAutofit/>
          </a:bodyPr>
          <a:lstStyle/>
          <a:p>
            <a:r>
              <a:rPr sz="680" b="1">
                <a:solidFill>
                  <a:srgbClr val="1F6FEB"/>
                </a:solidFill>
                <a:latin typeface="Aptos"/>
              </a:rPr>
              <a:t>MS</a:t>
            </a:r>
          </a:p>
        </p:txBody>
      </p:sp>
      <p:sp>
        <p:nvSpPr>
          <p:cNvPr id="36" name="TextBox 35"/>
          <p:cNvSpPr txBox="1"/>
          <p:nvPr/>
        </p:nvSpPr>
        <p:spPr>
          <a:xfrm>
            <a:off x="1005840" y="3730752"/>
            <a:ext cx="3886200" cy="146304"/>
          </a:xfrm>
          <a:prstGeom prst="rect">
            <a:avLst/>
          </a:prstGeom>
          <a:noFill/>
        </p:spPr>
        <p:txBody>
          <a:bodyPr wrap="square">
            <a:normAutofit/>
          </a:bodyPr>
          <a:lstStyle/>
          <a:p>
            <a:r>
              <a:rPr sz="580" b="0">
                <a:solidFill>
                  <a:srgbClr val="232B37"/>
                </a:solidFill>
                <a:latin typeface="Aptos"/>
              </a:rPr>
              <a:t>MS_MDOT_Resilience_Improvement_Plan.pdf</a:t>
            </a:r>
          </a:p>
        </p:txBody>
      </p:sp>
      <p:sp>
        <p:nvSpPr>
          <p:cNvPr id="37" name="TextBox 36"/>
          <p:cNvSpPr txBox="1"/>
          <p:nvPr/>
        </p:nvSpPr>
        <p:spPr>
          <a:xfrm>
            <a:off x="4983480" y="3730752"/>
            <a:ext cx="6583680" cy="146304"/>
          </a:xfrm>
          <a:prstGeom prst="rect">
            <a:avLst/>
          </a:prstGeom>
          <a:noFill/>
        </p:spPr>
        <p:txBody>
          <a:bodyPr wrap="square">
            <a:normAutofit/>
          </a:bodyPr>
          <a:lstStyle/>
          <a:p>
            <a:r>
              <a:rPr sz="520" b="0">
                <a:solidFill>
                  <a:srgbClr val="55606E"/>
                </a:solidFill>
                <a:latin typeface="Aptos"/>
              </a:rPr>
              <a:t>https://mdot.ms.gov/documents/Planning/Resilience%20Planning/MDOT%20Resilience%20Improvement%20Plan.pdf</a:t>
            </a:r>
          </a:p>
        </p:txBody>
      </p:sp>
      <p:sp>
        <p:nvSpPr>
          <p:cNvPr id="38" name="TextBox 37"/>
          <p:cNvSpPr txBox="1"/>
          <p:nvPr/>
        </p:nvSpPr>
        <p:spPr>
          <a:xfrm>
            <a:off x="502920" y="3995928"/>
            <a:ext cx="502920" cy="146304"/>
          </a:xfrm>
          <a:prstGeom prst="rect">
            <a:avLst/>
          </a:prstGeom>
          <a:noFill/>
        </p:spPr>
        <p:txBody>
          <a:bodyPr wrap="square">
            <a:normAutofit/>
          </a:bodyPr>
          <a:lstStyle/>
          <a:p>
            <a:r>
              <a:rPr sz="680" b="1">
                <a:solidFill>
                  <a:srgbClr val="1F6FEB"/>
                </a:solidFill>
                <a:latin typeface="Aptos"/>
              </a:rPr>
              <a:t>NC</a:t>
            </a:r>
          </a:p>
        </p:txBody>
      </p:sp>
      <p:sp>
        <p:nvSpPr>
          <p:cNvPr id="39" name="TextBox 38"/>
          <p:cNvSpPr txBox="1"/>
          <p:nvPr/>
        </p:nvSpPr>
        <p:spPr>
          <a:xfrm>
            <a:off x="1005840" y="3995928"/>
            <a:ext cx="3886200" cy="146304"/>
          </a:xfrm>
          <a:prstGeom prst="rect">
            <a:avLst/>
          </a:prstGeom>
          <a:noFill/>
        </p:spPr>
        <p:txBody>
          <a:bodyPr wrap="square">
            <a:normAutofit/>
          </a:bodyPr>
          <a:lstStyle/>
          <a:p>
            <a:r>
              <a:rPr sz="580" b="0">
                <a:solidFill>
                  <a:srgbClr val="232B37"/>
                </a:solidFill>
                <a:latin typeface="Aptos"/>
              </a:rPr>
              <a:t>NC_NCDOT_Resilience_Strategy_Report.pdf</a:t>
            </a:r>
          </a:p>
        </p:txBody>
      </p:sp>
      <p:sp>
        <p:nvSpPr>
          <p:cNvPr id="40" name="TextBox 39"/>
          <p:cNvSpPr txBox="1"/>
          <p:nvPr/>
        </p:nvSpPr>
        <p:spPr>
          <a:xfrm>
            <a:off x="4983480" y="3995928"/>
            <a:ext cx="6583680" cy="146304"/>
          </a:xfrm>
          <a:prstGeom prst="rect">
            <a:avLst/>
          </a:prstGeom>
          <a:noFill/>
        </p:spPr>
        <p:txBody>
          <a:bodyPr wrap="square">
            <a:normAutofit/>
          </a:bodyPr>
          <a:lstStyle/>
          <a:p>
            <a:r>
              <a:rPr sz="520" b="0">
                <a:solidFill>
                  <a:srgbClr val="55606E"/>
                </a:solidFill>
                <a:latin typeface="Aptos"/>
              </a:rPr>
              <a:t>https://www.ncdot.gov/initiatives-policies/Transportation/transportation-resilience/Documents/resilience-plan.pdf</a:t>
            </a:r>
          </a:p>
        </p:txBody>
      </p:sp>
      <p:sp>
        <p:nvSpPr>
          <p:cNvPr id="41" name="TextBox 40"/>
          <p:cNvSpPr txBox="1"/>
          <p:nvPr/>
        </p:nvSpPr>
        <p:spPr>
          <a:xfrm>
            <a:off x="502920" y="4261104"/>
            <a:ext cx="502920" cy="146304"/>
          </a:xfrm>
          <a:prstGeom prst="rect">
            <a:avLst/>
          </a:prstGeom>
          <a:noFill/>
        </p:spPr>
        <p:txBody>
          <a:bodyPr wrap="square">
            <a:normAutofit/>
          </a:bodyPr>
          <a:lstStyle/>
          <a:p>
            <a:r>
              <a:rPr sz="680" b="1">
                <a:solidFill>
                  <a:srgbClr val="1F6FEB"/>
                </a:solidFill>
                <a:latin typeface="Aptos"/>
              </a:rPr>
              <a:t>NM</a:t>
            </a:r>
          </a:p>
        </p:txBody>
      </p:sp>
      <p:sp>
        <p:nvSpPr>
          <p:cNvPr id="42" name="TextBox 41"/>
          <p:cNvSpPr txBox="1"/>
          <p:nvPr/>
        </p:nvSpPr>
        <p:spPr>
          <a:xfrm>
            <a:off x="1005840" y="4261104"/>
            <a:ext cx="3886200" cy="146304"/>
          </a:xfrm>
          <a:prstGeom prst="rect">
            <a:avLst/>
          </a:prstGeom>
          <a:noFill/>
        </p:spPr>
        <p:txBody>
          <a:bodyPr wrap="square">
            <a:normAutofit/>
          </a:bodyPr>
          <a:lstStyle/>
          <a:p>
            <a:r>
              <a:rPr sz="580" b="0">
                <a:solidFill>
                  <a:srgbClr val="232B37"/>
                </a:solidFill>
                <a:latin typeface="Aptos"/>
              </a:rPr>
              <a:t>NM_NMDOT_Resilience_Improvement_Plan_2024.pdf</a:t>
            </a:r>
          </a:p>
        </p:txBody>
      </p:sp>
      <p:sp>
        <p:nvSpPr>
          <p:cNvPr id="43" name="TextBox 42"/>
          <p:cNvSpPr txBox="1"/>
          <p:nvPr/>
        </p:nvSpPr>
        <p:spPr>
          <a:xfrm>
            <a:off x="4983480" y="4261104"/>
            <a:ext cx="6583680" cy="146304"/>
          </a:xfrm>
          <a:prstGeom prst="rect">
            <a:avLst/>
          </a:prstGeom>
          <a:noFill/>
        </p:spPr>
        <p:txBody>
          <a:bodyPr wrap="square">
            <a:normAutofit/>
          </a:bodyPr>
          <a:lstStyle/>
          <a:p>
            <a:r>
              <a:rPr sz="520" b="0">
                <a:solidFill>
                  <a:srgbClr val="55606E"/>
                </a:solidFill>
                <a:latin typeface="Aptos"/>
              </a:rPr>
              <a:t>https://www.erm-portal.com/wp-content/uploads/sites/15/2024/08/2024_0324_NMDOT-RIP_Final-3e0d72b101139cc6da2af69c7c26a4d5.pdf</a:t>
            </a:r>
          </a:p>
        </p:txBody>
      </p:sp>
      <p:sp>
        <p:nvSpPr>
          <p:cNvPr id="44" name="TextBox 43"/>
          <p:cNvSpPr txBox="1"/>
          <p:nvPr/>
        </p:nvSpPr>
        <p:spPr>
          <a:xfrm>
            <a:off x="502920" y="4526280"/>
            <a:ext cx="502920" cy="146304"/>
          </a:xfrm>
          <a:prstGeom prst="rect">
            <a:avLst/>
          </a:prstGeom>
          <a:noFill/>
        </p:spPr>
        <p:txBody>
          <a:bodyPr wrap="square">
            <a:normAutofit/>
          </a:bodyPr>
          <a:lstStyle/>
          <a:p>
            <a:r>
              <a:rPr sz="680" b="1">
                <a:solidFill>
                  <a:srgbClr val="1F6FEB"/>
                </a:solidFill>
                <a:latin typeface="Aptos"/>
              </a:rPr>
              <a:t>OH</a:t>
            </a:r>
          </a:p>
        </p:txBody>
      </p:sp>
      <p:sp>
        <p:nvSpPr>
          <p:cNvPr id="45" name="TextBox 44"/>
          <p:cNvSpPr txBox="1"/>
          <p:nvPr/>
        </p:nvSpPr>
        <p:spPr>
          <a:xfrm>
            <a:off x="1005840" y="4526280"/>
            <a:ext cx="3886200" cy="146304"/>
          </a:xfrm>
          <a:prstGeom prst="rect">
            <a:avLst/>
          </a:prstGeom>
          <a:noFill/>
        </p:spPr>
        <p:txBody>
          <a:bodyPr wrap="square">
            <a:normAutofit/>
          </a:bodyPr>
          <a:lstStyle/>
          <a:p>
            <a:r>
              <a:rPr sz="580" b="0">
                <a:solidFill>
                  <a:srgbClr val="232B37"/>
                </a:solidFill>
                <a:latin typeface="Aptos"/>
              </a:rPr>
              <a:t>OH_ODOT_Resilience_Improvement_Plan.pdf</a:t>
            </a:r>
          </a:p>
        </p:txBody>
      </p:sp>
      <p:sp>
        <p:nvSpPr>
          <p:cNvPr id="46" name="TextBox 45"/>
          <p:cNvSpPr txBox="1"/>
          <p:nvPr/>
        </p:nvSpPr>
        <p:spPr>
          <a:xfrm>
            <a:off x="4983480" y="4526280"/>
            <a:ext cx="6583680" cy="146304"/>
          </a:xfrm>
          <a:prstGeom prst="rect">
            <a:avLst/>
          </a:prstGeom>
          <a:noFill/>
        </p:spPr>
        <p:txBody>
          <a:bodyPr wrap="square">
            <a:normAutofit/>
          </a:bodyPr>
          <a:lstStyle/>
          <a:p>
            <a:r>
              <a:rPr sz="520" b="0">
                <a:solidFill>
                  <a:srgbClr val="55606E"/>
                </a:solidFill>
                <a:latin typeface="Aptos"/>
              </a:rPr>
              <a:t>https://dam.assets.ohio.gov/image/upload/transportation.ohio.gov/statewide-planning/resilience/Resilience-Improvement-Plan.pdf</a:t>
            </a:r>
          </a:p>
        </p:txBody>
      </p:sp>
      <p:sp>
        <p:nvSpPr>
          <p:cNvPr id="47" name="TextBox 46"/>
          <p:cNvSpPr txBox="1"/>
          <p:nvPr/>
        </p:nvSpPr>
        <p:spPr>
          <a:xfrm>
            <a:off x="502920" y="4791456"/>
            <a:ext cx="502920" cy="146304"/>
          </a:xfrm>
          <a:prstGeom prst="rect">
            <a:avLst/>
          </a:prstGeom>
          <a:noFill/>
        </p:spPr>
        <p:txBody>
          <a:bodyPr wrap="square">
            <a:normAutofit/>
          </a:bodyPr>
          <a:lstStyle/>
          <a:p>
            <a:r>
              <a:rPr sz="680" b="1">
                <a:solidFill>
                  <a:srgbClr val="1F6FEB"/>
                </a:solidFill>
                <a:latin typeface="Aptos"/>
              </a:rPr>
              <a:t>OR</a:t>
            </a:r>
          </a:p>
        </p:txBody>
      </p:sp>
      <p:sp>
        <p:nvSpPr>
          <p:cNvPr id="48" name="TextBox 47"/>
          <p:cNvSpPr txBox="1"/>
          <p:nvPr/>
        </p:nvSpPr>
        <p:spPr>
          <a:xfrm>
            <a:off x="1005840" y="4791456"/>
            <a:ext cx="3886200" cy="146304"/>
          </a:xfrm>
          <a:prstGeom prst="rect">
            <a:avLst/>
          </a:prstGeom>
          <a:noFill/>
        </p:spPr>
        <p:txBody>
          <a:bodyPr wrap="square">
            <a:normAutofit/>
          </a:bodyPr>
          <a:lstStyle/>
          <a:p>
            <a:r>
              <a:rPr sz="580" b="0">
                <a:solidFill>
                  <a:srgbClr val="232B37"/>
                </a:solidFill>
                <a:latin typeface="Aptos"/>
              </a:rPr>
              <a:t>OR_ODOT_Climate_Adaptation_Resilience_Roadmap.pdf</a:t>
            </a:r>
          </a:p>
        </p:txBody>
      </p:sp>
      <p:sp>
        <p:nvSpPr>
          <p:cNvPr id="49" name="TextBox 48"/>
          <p:cNvSpPr txBox="1"/>
          <p:nvPr/>
        </p:nvSpPr>
        <p:spPr>
          <a:xfrm>
            <a:off x="4983480" y="4791456"/>
            <a:ext cx="6583680" cy="146304"/>
          </a:xfrm>
          <a:prstGeom prst="rect">
            <a:avLst/>
          </a:prstGeom>
          <a:noFill/>
        </p:spPr>
        <p:txBody>
          <a:bodyPr wrap="square">
            <a:normAutofit/>
          </a:bodyPr>
          <a:lstStyle/>
          <a:p>
            <a:r>
              <a:rPr sz="520" b="0">
                <a:solidFill>
                  <a:srgbClr val="55606E"/>
                </a:solidFill>
                <a:latin typeface="Aptos"/>
              </a:rPr>
              <a:t>https://www.tam-portal.com/wp-content/uploads/sites/12/2025/01/ClimateAdaptation_andResilienceRoadmap.pdf</a:t>
            </a:r>
          </a:p>
        </p:txBody>
      </p:sp>
      <p:sp>
        <p:nvSpPr>
          <p:cNvPr id="50" name="TextBox 49"/>
          <p:cNvSpPr txBox="1"/>
          <p:nvPr/>
        </p:nvSpPr>
        <p:spPr>
          <a:xfrm>
            <a:off x="502920" y="5056632"/>
            <a:ext cx="502920" cy="146304"/>
          </a:xfrm>
          <a:prstGeom prst="rect">
            <a:avLst/>
          </a:prstGeom>
          <a:noFill/>
        </p:spPr>
        <p:txBody>
          <a:bodyPr wrap="square">
            <a:normAutofit/>
          </a:bodyPr>
          <a:lstStyle/>
          <a:p>
            <a:r>
              <a:rPr sz="680" b="1">
                <a:solidFill>
                  <a:srgbClr val="1F6FEB"/>
                </a:solidFill>
                <a:latin typeface="Aptos"/>
              </a:rPr>
              <a:t>RI</a:t>
            </a:r>
          </a:p>
        </p:txBody>
      </p:sp>
      <p:sp>
        <p:nvSpPr>
          <p:cNvPr id="51" name="TextBox 50"/>
          <p:cNvSpPr txBox="1"/>
          <p:nvPr/>
        </p:nvSpPr>
        <p:spPr>
          <a:xfrm>
            <a:off x="1005840" y="5056632"/>
            <a:ext cx="3886200" cy="146304"/>
          </a:xfrm>
          <a:prstGeom prst="rect">
            <a:avLst/>
          </a:prstGeom>
          <a:noFill/>
        </p:spPr>
        <p:txBody>
          <a:bodyPr wrap="square">
            <a:normAutofit/>
          </a:bodyPr>
          <a:lstStyle/>
          <a:p>
            <a:r>
              <a:rPr sz="580" b="0">
                <a:solidFill>
                  <a:srgbClr val="232B37"/>
                </a:solidFill>
                <a:latin typeface="Aptos"/>
              </a:rPr>
              <a:t>RI_RIDOT_Approved_RIP.pdf</a:t>
            </a:r>
          </a:p>
        </p:txBody>
      </p:sp>
      <p:sp>
        <p:nvSpPr>
          <p:cNvPr id="52" name="TextBox 51"/>
          <p:cNvSpPr txBox="1"/>
          <p:nvPr/>
        </p:nvSpPr>
        <p:spPr>
          <a:xfrm>
            <a:off x="4983480" y="5056632"/>
            <a:ext cx="6583680" cy="146304"/>
          </a:xfrm>
          <a:prstGeom prst="rect">
            <a:avLst/>
          </a:prstGeom>
          <a:noFill/>
        </p:spPr>
        <p:txBody>
          <a:bodyPr wrap="square">
            <a:normAutofit/>
          </a:bodyPr>
          <a:lstStyle/>
          <a:p>
            <a:r>
              <a:rPr sz="520" b="0">
                <a:solidFill>
                  <a:srgbClr val="55606E"/>
                </a:solidFill>
                <a:latin typeface="Aptos"/>
              </a:rPr>
              <a:t>https://www.dot.ri.gov/rhodeworks/docs/RIDOT_Approved_RIP.pdf</a:t>
            </a:r>
          </a:p>
        </p:txBody>
      </p:sp>
      <p:sp>
        <p:nvSpPr>
          <p:cNvPr id="53" name="TextBox 52"/>
          <p:cNvSpPr txBox="1"/>
          <p:nvPr/>
        </p:nvSpPr>
        <p:spPr>
          <a:xfrm>
            <a:off x="502920" y="5321808"/>
            <a:ext cx="502920" cy="146304"/>
          </a:xfrm>
          <a:prstGeom prst="rect">
            <a:avLst/>
          </a:prstGeom>
          <a:noFill/>
        </p:spPr>
        <p:txBody>
          <a:bodyPr wrap="square">
            <a:normAutofit/>
          </a:bodyPr>
          <a:lstStyle/>
          <a:p>
            <a:r>
              <a:rPr sz="680" b="1">
                <a:solidFill>
                  <a:srgbClr val="1F6FEB"/>
                </a:solidFill>
                <a:latin typeface="Aptos"/>
              </a:rPr>
              <a:t>TX</a:t>
            </a:r>
          </a:p>
        </p:txBody>
      </p:sp>
      <p:sp>
        <p:nvSpPr>
          <p:cNvPr id="54" name="TextBox 53"/>
          <p:cNvSpPr txBox="1"/>
          <p:nvPr/>
        </p:nvSpPr>
        <p:spPr>
          <a:xfrm>
            <a:off x="1005840" y="5321808"/>
            <a:ext cx="3886200" cy="146304"/>
          </a:xfrm>
          <a:prstGeom prst="rect">
            <a:avLst/>
          </a:prstGeom>
          <a:noFill/>
        </p:spPr>
        <p:txBody>
          <a:bodyPr wrap="square">
            <a:normAutofit/>
          </a:bodyPr>
          <a:lstStyle/>
          <a:p>
            <a:r>
              <a:rPr sz="580" b="0">
                <a:solidFill>
                  <a:srgbClr val="232B37"/>
                </a:solidFill>
                <a:latin typeface="Aptos"/>
              </a:rPr>
              <a:t>TX_TxDOT_Statewide_Transportation_Resilience_Plan_2025.pdf</a:t>
            </a:r>
          </a:p>
        </p:txBody>
      </p:sp>
      <p:sp>
        <p:nvSpPr>
          <p:cNvPr id="55" name="TextBox 54"/>
          <p:cNvSpPr txBox="1"/>
          <p:nvPr/>
        </p:nvSpPr>
        <p:spPr>
          <a:xfrm>
            <a:off x="4983480" y="5321808"/>
            <a:ext cx="6583680" cy="146304"/>
          </a:xfrm>
          <a:prstGeom prst="rect">
            <a:avLst/>
          </a:prstGeom>
          <a:noFill/>
        </p:spPr>
        <p:txBody>
          <a:bodyPr wrap="square">
            <a:normAutofit/>
          </a:bodyPr>
          <a:lstStyle/>
          <a:p>
            <a:r>
              <a:rPr sz="520" b="0">
                <a:solidFill>
                  <a:srgbClr val="55606E"/>
                </a:solidFill>
                <a:latin typeface="Aptos"/>
              </a:rPr>
              <a:t>https://www.txdot.gov/content/dam/docs/division/tpp/2025-statewide-resiliency-plan.pdf</a:t>
            </a:r>
          </a:p>
        </p:txBody>
      </p:sp>
      <p:sp>
        <p:nvSpPr>
          <p:cNvPr id="56" name="TextBox 55"/>
          <p:cNvSpPr txBox="1"/>
          <p:nvPr/>
        </p:nvSpPr>
        <p:spPr>
          <a:xfrm>
            <a:off x="502920" y="5586984"/>
            <a:ext cx="502920" cy="146304"/>
          </a:xfrm>
          <a:prstGeom prst="rect">
            <a:avLst/>
          </a:prstGeom>
          <a:noFill/>
        </p:spPr>
        <p:txBody>
          <a:bodyPr wrap="square">
            <a:normAutofit/>
          </a:bodyPr>
          <a:lstStyle/>
          <a:p>
            <a:r>
              <a:rPr sz="680" b="1">
                <a:solidFill>
                  <a:srgbClr val="1F6FEB"/>
                </a:solidFill>
                <a:latin typeface="Aptos"/>
              </a:rPr>
              <a:t>UT</a:t>
            </a:r>
          </a:p>
        </p:txBody>
      </p:sp>
      <p:sp>
        <p:nvSpPr>
          <p:cNvPr id="57" name="TextBox 56"/>
          <p:cNvSpPr txBox="1"/>
          <p:nvPr/>
        </p:nvSpPr>
        <p:spPr>
          <a:xfrm>
            <a:off x="1005840" y="5586984"/>
            <a:ext cx="3886200" cy="146304"/>
          </a:xfrm>
          <a:prstGeom prst="rect">
            <a:avLst/>
          </a:prstGeom>
          <a:noFill/>
        </p:spPr>
        <p:txBody>
          <a:bodyPr wrap="square">
            <a:normAutofit/>
          </a:bodyPr>
          <a:lstStyle/>
          <a:p>
            <a:r>
              <a:rPr sz="580" b="0">
                <a:solidFill>
                  <a:srgbClr val="232B37"/>
                </a:solidFill>
                <a:latin typeface="Aptos"/>
              </a:rPr>
              <a:t>UT_UDOT_Resilience_Improvement_Plan_2024.pdf</a:t>
            </a:r>
          </a:p>
        </p:txBody>
      </p:sp>
      <p:sp>
        <p:nvSpPr>
          <p:cNvPr id="58" name="TextBox 57"/>
          <p:cNvSpPr txBox="1"/>
          <p:nvPr/>
        </p:nvSpPr>
        <p:spPr>
          <a:xfrm>
            <a:off x="4983480" y="5586984"/>
            <a:ext cx="6583680" cy="146304"/>
          </a:xfrm>
          <a:prstGeom prst="rect">
            <a:avLst/>
          </a:prstGeom>
          <a:noFill/>
        </p:spPr>
        <p:txBody>
          <a:bodyPr wrap="square">
            <a:normAutofit/>
          </a:bodyPr>
          <a:lstStyle/>
          <a:p>
            <a:r>
              <a:rPr sz="520" b="0">
                <a:solidFill>
                  <a:srgbClr val="55606E"/>
                </a:solidFill>
                <a:latin typeface="Aptos"/>
              </a:rPr>
              <a:t>https://www.erm-portal.com/wp-content/uploads/sites/15/2024/09/2024-05-07-FINAL-UDOT-RIP-eee071ab388ba424f01311f4404fd110.pdf</a:t>
            </a:r>
          </a:p>
        </p:txBody>
      </p:sp>
      <p:sp>
        <p:nvSpPr>
          <p:cNvPr id="59" name="TextBox 58"/>
          <p:cNvSpPr txBox="1"/>
          <p:nvPr/>
        </p:nvSpPr>
        <p:spPr>
          <a:xfrm>
            <a:off x="502920" y="5852160"/>
            <a:ext cx="502920" cy="146304"/>
          </a:xfrm>
          <a:prstGeom prst="rect">
            <a:avLst/>
          </a:prstGeom>
          <a:noFill/>
        </p:spPr>
        <p:txBody>
          <a:bodyPr wrap="square">
            <a:normAutofit/>
          </a:bodyPr>
          <a:lstStyle/>
          <a:p>
            <a:r>
              <a:rPr sz="680" b="1">
                <a:solidFill>
                  <a:srgbClr val="1F6FEB"/>
                </a:solidFill>
                <a:latin typeface="Aptos"/>
              </a:rPr>
              <a:t>VA</a:t>
            </a:r>
          </a:p>
        </p:txBody>
      </p:sp>
      <p:sp>
        <p:nvSpPr>
          <p:cNvPr id="60" name="TextBox 59"/>
          <p:cNvSpPr txBox="1"/>
          <p:nvPr/>
        </p:nvSpPr>
        <p:spPr>
          <a:xfrm>
            <a:off x="1005840" y="5852160"/>
            <a:ext cx="3886200" cy="146304"/>
          </a:xfrm>
          <a:prstGeom prst="rect">
            <a:avLst/>
          </a:prstGeom>
          <a:noFill/>
        </p:spPr>
        <p:txBody>
          <a:bodyPr wrap="square">
            <a:normAutofit/>
          </a:bodyPr>
          <a:lstStyle/>
          <a:p>
            <a:r>
              <a:rPr sz="580" b="0">
                <a:solidFill>
                  <a:srgbClr val="232B37"/>
                </a:solidFill>
                <a:latin typeface="Aptos"/>
              </a:rPr>
              <a:t>VA_VDOT_Resilience_Plan_2022.pdf</a:t>
            </a:r>
          </a:p>
        </p:txBody>
      </p:sp>
      <p:sp>
        <p:nvSpPr>
          <p:cNvPr id="61" name="TextBox 60"/>
          <p:cNvSpPr txBox="1"/>
          <p:nvPr/>
        </p:nvSpPr>
        <p:spPr>
          <a:xfrm>
            <a:off x="4983480" y="5852160"/>
            <a:ext cx="6583680" cy="146304"/>
          </a:xfrm>
          <a:prstGeom prst="rect">
            <a:avLst/>
          </a:prstGeom>
          <a:noFill/>
        </p:spPr>
        <p:txBody>
          <a:bodyPr wrap="square">
            <a:normAutofit/>
          </a:bodyPr>
          <a:lstStyle/>
          <a:p>
            <a:r>
              <a:rPr sz="520" b="0">
                <a:solidFill>
                  <a:srgbClr val="55606E"/>
                </a:solidFill>
                <a:latin typeface="Aptos"/>
              </a:rPr>
              <a:t>https://www.erm-portal.com/wp-content/uploads/sites/15/2023/03/VDOT-Resilience-Plan_Nov_2022_FINAL-92cd22fca3674bdb5af0a3eb49a7e62d.pdf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10312"/>
            <a:ext cx="10789920" cy="384048"/>
          </a:xfrm>
          <a:prstGeom prst="rect">
            <a:avLst/>
          </a:prstGeom>
          <a:noFill/>
        </p:spPr>
        <p:txBody>
          <a:bodyPr wrap="square">
            <a:normAutofit/>
          </a:bodyPr>
          <a:lstStyle/>
          <a:p>
            <a:r>
              <a:rPr sz="2100" b="1">
                <a:solidFill>
                  <a:srgbClr val="12202F"/>
                </a:solidFill>
                <a:latin typeface="Aptos"/>
              </a:rPr>
              <a:t>Source Appendix</a:t>
            </a:r>
          </a:p>
        </p:txBody>
      </p:sp>
      <p:sp>
        <p:nvSpPr>
          <p:cNvPr id="3" name="TextBox 2"/>
          <p:cNvSpPr txBox="1"/>
          <p:nvPr/>
        </p:nvSpPr>
        <p:spPr>
          <a:xfrm>
            <a:off x="429768" y="658368"/>
            <a:ext cx="11064240" cy="210312"/>
          </a:xfrm>
          <a:prstGeom prst="rect">
            <a:avLst/>
          </a:prstGeom>
          <a:noFill/>
        </p:spPr>
        <p:txBody>
          <a:bodyPr wrap="square">
            <a:normAutofit/>
          </a:bodyPr>
          <a:lstStyle/>
          <a:p>
            <a:r>
              <a:rPr sz="750" b="0">
                <a:solidFill>
                  <a:srgbClr val="55606E"/>
                </a:solidFill>
                <a:latin typeface="Aptos"/>
              </a:rPr>
              <a:t>Continued</a:t>
            </a:r>
          </a:p>
        </p:txBody>
      </p:sp>
      <p:sp>
        <p:nvSpPr>
          <p:cNvPr id="4" name="Rectangle 3"/>
          <p:cNvSpPr/>
          <p:nvPr/>
        </p:nvSpPr>
        <p:spPr>
          <a:xfrm>
            <a:off x="411480" y="950976"/>
            <a:ext cx="11384280" cy="16459"/>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78992"/>
            <a:ext cx="502920" cy="146304"/>
          </a:xfrm>
          <a:prstGeom prst="rect">
            <a:avLst/>
          </a:prstGeom>
          <a:noFill/>
        </p:spPr>
        <p:txBody>
          <a:bodyPr wrap="square">
            <a:normAutofit/>
          </a:bodyPr>
          <a:lstStyle/>
          <a:p>
            <a:r>
              <a:rPr sz="680" b="1">
                <a:solidFill>
                  <a:srgbClr val="1F6FEB"/>
                </a:solidFill>
                <a:latin typeface="Aptos"/>
              </a:rPr>
              <a:t>VT</a:t>
            </a:r>
          </a:p>
        </p:txBody>
      </p:sp>
      <p:sp>
        <p:nvSpPr>
          <p:cNvPr id="6" name="TextBox 5"/>
          <p:cNvSpPr txBox="1"/>
          <p:nvPr/>
        </p:nvSpPr>
        <p:spPr>
          <a:xfrm>
            <a:off x="1005840" y="1078992"/>
            <a:ext cx="3886200" cy="146304"/>
          </a:xfrm>
          <a:prstGeom prst="rect">
            <a:avLst/>
          </a:prstGeom>
          <a:noFill/>
        </p:spPr>
        <p:txBody>
          <a:bodyPr wrap="square">
            <a:normAutofit/>
          </a:bodyPr>
          <a:lstStyle/>
          <a:p>
            <a:r>
              <a:rPr sz="580" b="0">
                <a:solidFill>
                  <a:srgbClr val="232B37"/>
                </a:solidFill>
                <a:latin typeface="Aptos"/>
              </a:rPr>
              <a:t>VT_VTrans_RIP_Process_2023.pdf</a:t>
            </a:r>
          </a:p>
        </p:txBody>
      </p:sp>
      <p:sp>
        <p:nvSpPr>
          <p:cNvPr id="7" name="TextBox 6"/>
          <p:cNvSpPr txBox="1"/>
          <p:nvPr/>
        </p:nvSpPr>
        <p:spPr>
          <a:xfrm>
            <a:off x="4983480" y="1078992"/>
            <a:ext cx="6583680" cy="146304"/>
          </a:xfrm>
          <a:prstGeom prst="rect">
            <a:avLst/>
          </a:prstGeom>
          <a:noFill/>
        </p:spPr>
        <p:txBody>
          <a:bodyPr wrap="square">
            <a:normAutofit/>
          </a:bodyPr>
          <a:lstStyle/>
          <a:p>
            <a:r>
              <a:rPr sz="520" b="0">
                <a:solidFill>
                  <a:srgbClr val="55606E"/>
                </a:solidFill>
                <a:latin typeface="Aptos"/>
              </a:rPr>
              <a:t>https://www.erm-portal.com/wp-content/uploads/sites/15/2023/03/2023-03-06-Vermont-RIP-Process-to-FHWA-VT-d6f8550d06fc4be24e33ab32ad4da7bd-1.pdf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